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evolution: V2 proved deterministic gates. V3 turns that reasoning into a clickable, persistent local fulfillment product. Say 'simulation' early. Do not call it a live autonomous warehouse.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point is not 'V3 is production.' The key point is 'V3 is materially more complete as a local product simulation.'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is the operational cockpit. Bazaar owns order entry. Fleet Simulator owns resource lifecycle demonstrations. They share one local gateway but preserve product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consistency boundaries. Intake is durable before handoff. Acceptance and inventory accounting are atomic. Resource acquisition is deliberately separate so a missing robot does not erase accepted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most important honesty slides. V2 retained the triple as uncertain. V3 adds a modeled correction policy. Never describe that correction as a site count unless real evidence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of this is simulator policy. Synthetic SKU weights, task times and battery behavior are useful for product flows, not evidence of real physical feasibility.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an authority model from an access-control model. The product has rich role workflows, but the current persona mechanism is not trusted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deliberately simple and portable. Do not position single-process SQLite as a production scaling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protects the AI claim. The forecast is useful and transparent, but it is not ML. Replay supports explanation; it does not prove production resilience or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blend all test counts into one claim. Be explicit: these are historical reports plus a fresh compile/hash inspection. The missing files are backup/replay companions, with zero mismatches among present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plainly: OM17–21 are still partial or not proven. Product completeness in a local simulator is not the same as customer lifecycle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release decision. Avoid soft language: local demo can proceed conditionally; shared network and physical integration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turning the 7,009-order snapshot or the archive on-time percentage into benefits proof. The product now emits useful measurement data; the business targets and live treatment comparison do not yet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decision: DockSight V3 is a credible, durable local simulator and stakeholder demo. The next responsible step is clean-host verification and explicit pilot architecture—not turning on a live write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Stakeholder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WAREHOUSE FULFILLMENT CONTROL TOWER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07592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1F5F7"/>
                </a:solidFill>
                <a:latin typeface="Aptos"/>
              </a:rPr>
              <a:t>DockSight</a:t>
            </a:r>
          </a:p>
          <a:p>
            <a:r>
              <a:rPr sz="2900" b="1">
                <a:solidFill>
                  <a:srgbClr val="42A6C6"/>
                </a:solidFill>
                <a:latin typeface="Aptos"/>
              </a:rPr>
              <a:t>Improvised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88920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1F5F7"/>
                </a:solidFill>
                <a:latin typeface="Aptos"/>
              </a:rPr>
              <a:t>Repo3 / V3 — from evidence gate to durable local product simulation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9EAFB9"/>
                </a:solidFill>
                <a:latin typeface="Aptos"/>
              </a:rPr>
              <a:t>Three applications · deterministic fulfillment · simulated resources · no physical actuation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45152"/>
            <a:ext cx="10991088" cy="1371600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645152"/>
            <a:ext cx="64008" cy="1371600"/>
          </a:xfrm>
          <a:prstGeom prst="rect">
            <a:avLst/>
          </a:prstGeom>
          <a:solidFill>
            <a:srgbClr val="D4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773168"/>
            <a:ext cx="10625328" cy="11338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49A32"/>
                </a:solidFill>
                <a:latin typeface="Aptos"/>
              </a:rPr>
              <a:t>Presentation boundary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A working local simulation, not a production robot controller.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No AI model, no agent execution, no live WMS/FMS/PLC/robot connection.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Executive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WHY V3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From “should we proceed?” to “show the complete simulated journey”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V2 established the evidence and refusal logic. V3 productizes intake, accounting, work, recovery and operator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417320"/>
            <a:ext cx="3529584" cy="4526280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417320"/>
            <a:ext cx="64008" cy="4526280"/>
          </a:xfrm>
          <a:prstGeom prst="rect">
            <a:avLst/>
          </a:prstGeom>
          <a:solidFill>
            <a:srgbClr val="9EA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45336"/>
            <a:ext cx="3163824" cy="42885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9EAFB9"/>
                </a:solidFill>
                <a:latin typeface="Aptos"/>
              </a:rPr>
              <a:t>V2 — evidence gate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Observe brownfield contradictions.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Apply deterministic eligibility.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Refuse unsafe or uncertain work.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ActionExecutor remains a stub.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Physical control disabled.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417320"/>
            <a:ext cx="3529584" cy="4526280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417320"/>
            <a:ext cx="64008" cy="452628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45336"/>
            <a:ext cx="3163824" cy="42885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2A6C6"/>
                </a:solidFill>
                <a:latin typeface="Aptos"/>
              </a:rPr>
              <a:t>V3 — product simulation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Bazaar customer order intake.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Transactional reservations and ledger.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Persisted Pick → Move → Pack_feed → Stage.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Supervisor, Fleet and Admin workspaces.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Failure, recovery, charging and replay.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2168" y="1417320"/>
            <a:ext cx="3547872" cy="4526280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02168" y="1417320"/>
            <a:ext cx="64008" cy="4526280"/>
          </a:xfrm>
          <a:prstGeom prst="rect">
            <a:avLst/>
          </a:prstGeom>
          <a:solidFill>
            <a:srgbClr val="D1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545336"/>
            <a:ext cx="3182112" cy="42885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1625A"/>
                </a:solidFill>
                <a:latin typeface="Aptos"/>
              </a:rPr>
              <a:t>Still outside scope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Secure production identity and RBAC.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Customer deployment and SLOs.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Real inventory or sensor truth.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External command/write integration.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OM17–21 completion and ROI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WHAT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One local origin, three purpose-built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A shared FastAPI control plane serves Core Warehouse, FDE Bazaar and the Robot Fleet Simulator.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417320"/>
            <a:ext cx="3520440" cy="3310128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417320"/>
            <a:ext cx="64008" cy="3310128"/>
          </a:xfrm>
          <a:prstGeom prst="rect">
            <a:avLst/>
          </a:prstGeom>
          <a:solidFill>
            <a:srgbClr val="D4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45336"/>
            <a:ext cx="3154680" cy="3072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49A32"/>
                </a:solidFill>
                <a:latin typeface="Aptos"/>
              </a:rPr>
              <a:t>FDE Bazaar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Customer order entry.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Multi-SKU requests and service selection.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Durable HTTP outbox and retry.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Separate delivery vs fulfillment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17320"/>
            <a:ext cx="3520440" cy="3310128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417320"/>
            <a:ext cx="64008" cy="3310128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545336"/>
            <a:ext cx="3154680" cy="3072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2A6C6"/>
                </a:solidFill>
                <a:latin typeface="Aptos"/>
              </a:rPr>
              <a:t>Core Warehouse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Order queue and progress.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Inventory and resource inspection.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Supervisor, Fleet and Admin workspaces.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Forecast, audit and replay 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1417320"/>
            <a:ext cx="3529584" cy="3310128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417320"/>
            <a:ext cx="64008" cy="3310128"/>
          </a:xfrm>
          <a:prstGeom prst="rect">
            <a:avLst/>
          </a:prstGeom>
          <a:solidFill>
            <a:srgbClr val="4EA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45336"/>
            <a:ext cx="3163824" cy="3072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EA778"/>
                </a:solidFill>
                <a:latin typeface="Aptos"/>
              </a:rPr>
              <a:t>Robot Fleet Simulator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Current claims and task lifecycle.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Failure, kill, replacement and recovery.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Battery and charging simulation.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No physical robot connection.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4965192"/>
            <a:ext cx="2578608" cy="1124712"/>
          </a:xfrm>
          <a:prstGeom prst="roundRect">
            <a:avLst/>
          </a:prstGeom>
          <a:solidFill>
            <a:srgbClr val="192E3B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5074920"/>
            <a:ext cx="2304288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42A6C6"/>
                </a:solidFill>
                <a:latin typeface="Aptos"/>
              </a:rPr>
              <a:t>3</a:t>
            </a:r>
          </a:p>
          <a:p>
            <a:pPr algn="ctr"/>
            <a:r>
              <a:rPr sz="1000" b="0">
                <a:solidFill>
                  <a:srgbClr val="9EAFB9"/>
                </a:solidFill>
                <a:latin typeface="Aptos"/>
              </a:rPr>
              <a:t>React applications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46704" y="4965192"/>
            <a:ext cx="2578608" cy="1124712"/>
          </a:xfrm>
          <a:prstGeom prst="roundRect">
            <a:avLst/>
          </a:prstGeom>
          <a:solidFill>
            <a:srgbClr val="192E3B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3864" y="5074920"/>
            <a:ext cx="2304288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42A6C6"/>
                </a:solidFill>
                <a:latin typeface="Aptos"/>
              </a:rPr>
              <a:t>1</a:t>
            </a:r>
          </a:p>
          <a:p>
            <a:pPr algn="ctr"/>
            <a:r>
              <a:rPr sz="1000" b="0">
                <a:solidFill>
                  <a:srgbClr val="9EAFB9"/>
                </a:solidFill>
                <a:latin typeface="Aptos"/>
              </a:rPr>
              <a:t>FastAPI gateway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965192"/>
            <a:ext cx="2578608" cy="1124712"/>
          </a:xfrm>
          <a:prstGeom prst="roundRect">
            <a:avLst/>
          </a:prstGeom>
          <a:solidFill>
            <a:srgbClr val="192E3B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074920"/>
            <a:ext cx="2304288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D49A32"/>
                </a:solidFill>
                <a:latin typeface="Aptos"/>
              </a:rPr>
              <a:t>2</a:t>
            </a:r>
          </a:p>
          <a:p>
            <a:pPr algn="ctr"/>
            <a:r>
              <a:rPr sz="1000" b="0">
                <a:solidFill>
                  <a:srgbClr val="9EAFB9"/>
                </a:solidFill>
                <a:latin typeface="Aptos"/>
              </a:rPr>
              <a:t>Active SQLite stores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71432" y="4965192"/>
            <a:ext cx="2578608" cy="1124712"/>
          </a:xfrm>
          <a:prstGeom prst="roundRect">
            <a:avLst/>
          </a:prstGeom>
          <a:solidFill>
            <a:srgbClr val="192E3B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5074920"/>
            <a:ext cx="2304288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4EA778"/>
                </a:solidFill>
                <a:latin typeface="Aptos"/>
              </a:rPr>
              <a:t>19</a:t>
            </a:r>
          </a:p>
          <a:p>
            <a:pPr algn="ctr"/>
            <a:r>
              <a:rPr sz="1000" b="0">
                <a:solidFill>
                  <a:srgbClr val="9EAFB9"/>
                </a:solidFill>
                <a:latin typeface="Aptos"/>
              </a:rPr>
              <a:t>Inherited source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CUSTOMER REQUEST TO SIMULATED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A durable, deterministic fulfillment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Every transition is persisted; retries and process restarts must not repeat reservations or stock movements.</a:t>
            </a:r>
          </a:p>
        </p:txBody>
      </p:sp>
      <p:sp>
        <p:nvSpPr>
          <p:cNvPr id="10" name="Chevron 9"/>
          <p:cNvSpPr/>
          <p:nvPr/>
        </p:nvSpPr>
        <p:spPr>
          <a:xfrm>
            <a:off x="438912" y="1600200"/>
            <a:ext cx="1810512" cy="713232"/>
          </a:xfrm>
          <a:prstGeom prst="chevron">
            <a:avLst/>
          </a:prstGeom>
          <a:solidFill>
            <a:srgbClr val="192E3B"/>
          </a:solidFill>
          <a:ln>
            <a:solidFill>
              <a:srgbClr val="D4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3" y="1773936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1F5F7"/>
                </a:solidFill>
                <a:latin typeface="Aptos"/>
              </a:rPr>
              <a:t>1  Create</a:t>
            </a:r>
          </a:p>
        </p:txBody>
      </p:sp>
      <p:sp>
        <p:nvSpPr>
          <p:cNvPr id="12" name="Chevron 11"/>
          <p:cNvSpPr/>
          <p:nvPr/>
        </p:nvSpPr>
        <p:spPr>
          <a:xfrm>
            <a:off x="2340864" y="1600200"/>
            <a:ext cx="1810512" cy="713232"/>
          </a:xfrm>
          <a:prstGeom prst="chevron">
            <a:avLst/>
          </a:prstGeom>
          <a:solidFill>
            <a:srgbClr val="192E3B"/>
          </a:solidFill>
          <a:ln>
            <a:solidFill>
              <a:srgbClr val="42A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4016" y="1773936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1F5F7"/>
                </a:solidFill>
                <a:latin typeface="Aptos"/>
              </a:rPr>
              <a:t>2  Accept</a:t>
            </a:r>
          </a:p>
        </p:txBody>
      </p:sp>
      <p:sp>
        <p:nvSpPr>
          <p:cNvPr id="14" name="Chevron 13"/>
          <p:cNvSpPr/>
          <p:nvPr/>
        </p:nvSpPr>
        <p:spPr>
          <a:xfrm>
            <a:off x="4242816" y="1600200"/>
            <a:ext cx="1810512" cy="713232"/>
          </a:xfrm>
          <a:prstGeom prst="chevron">
            <a:avLst/>
          </a:prstGeom>
          <a:solidFill>
            <a:srgbClr val="192E3B"/>
          </a:solidFill>
          <a:ln>
            <a:solidFill>
              <a:srgbClr val="42A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773936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1F5F7"/>
                </a:solidFill>
                <a:latin typeface="Aptos"/>
              </a:rPr>
              <a:t>3  Reserve</a:t>
            </a:r>
          </a:p>
        </p:txBody>
      </p:sp>
      <p:sp>
        <p:nvSpPr>
          <p:cNvPr id="16" name="Chevron 15"/>
          <p:cNvSpPr/>
          <p:nvPr/>
        </p:nvSpPr>
        <p:spPr>
          <a:xfrm>
            <a:off x="6144768" y="1600200"/>
            <a:ext cx="1810512" cy="713232"/>
          </a:xfrm>
          <a:prstGeom prst="chevron">
            <a:avLst/>
          </a:prstGeom>
          <a:solidFill>
            <a:srgbClr val="192E3B"/>
          </a:solidFill>
          <a:ln>
            <a:solidFill>
              <a:srgbClr val="4EA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73936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1F5F7"/>
                </a:solidFill>
                <a:latin typeface="Aptos"/>
              </a:rPr>
              <a:t>4  Assign</a:t>
            </a:r>
          </a:p>
        </p:txBody>
      </p:sp>
      <p:sp>
        <p:nvSpPr>
          <p:cNvPr id="18" name="Chevron 17"/>
          <p:cNvSpPr/>
          <p:nvPr/>
        </p:nvSpPr>
        <p:spPr>
          <a:xfrm>
            <a:off x="8046720" y="1600200"/>
            <a:ext cx="1810512" cy="713232"/>
          </a:xfrm>
          <a:prstGeom prst="chevron">
            <a:avLst/>
          </a:prstGeom>
          <a:solidFill>
            <a:srgbClr val="192E3B"/>
          </a:solidFill>
          <a:ln>
            <a:solidFill>
              <a:srgbClr val="4EA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1773936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1F5F7"/>
                </a:solidFill>
                <a:latin typeface="Aptos"/>
              </a:rPr>
              <a:t>5  Execute</a:t>
            </a:r>
          </a:p>
        </p:txBody>
      </p:sp>
      <p:sp>
        <p:nvSpPr>
          <p:cNvPr id="20" name="Chevron 19"/>
          <p:cNvSpPr/>
          <p:nvPr/>
        </p:nvSpPr>
        <p:spPr>
          <a:xfrm>
            <a:off x="9948672" y="1600200"/>
            <a:ext cx="1810512" cy="713232"/>
          </a:xfrm>
          <a:prstGeom prst="chevron">
            <a:avLst/>
          </a:prstGeom>
          <a:solidFill>
            <a:srgbClr val="192E3B"/>
          </a:solidFill>
          <a:ln>
            <a:solidFill>
              <a:srgbClr val="D4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1824" y="1773936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1F5F7"/>
                </a:solidFill>
                <a:latin typeface="Aptos"/>
              </a:rPr>
              <a:t>6  Observe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2587752"/>
            <a:ext cx="3657600" cy="3346704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2587752"/>
            <a:ext cx="64008" cy="3346704"/>
          </a:xfrm>
          <a:prstGeom prst="rect">
            <a:avLst/>
          </a:prstGeom>
          <a:solidFill>
            <a:srgbClr val="D4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15768"/>
            <a:ext cx="329184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49A32"/>
                </a:solidFill>
                <a:latin typeface="Aptos"/>
              </a:rPr>
              <a:t>Intake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Bazaar saves order + delivery state first.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Stable request identity protects retries.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Selected warehouse is required for new Bazaar orders.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8" y="2587752"/>
            <a:ext cx="3657600" cy="3346704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2587752"/>
            <a:ext cx="64008" cy="3346704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416" y="2715768"/>
            <a:ext cx="329184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2A6C6"/>
                </a:solidFill>
                <a:latin typeface="Aptos"/>
              </a:rPr>
              <a:t>Fulfillment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Validate every requested SKU.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Debit free source quantities once.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Credit reservation and create staged work atomically.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2587752"/>
            <a:ext cx="3657600" cy="3346704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2587752"/>
            <a:ext cx="64008" cy="3346704"/>
          </a:xfrm>
          <a:prstGeom prst="rect">
            <a:avLst/>
          </a:prstGeom>
          <a:solidFill>
            <a:srgbClr val="4EA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2715768"/>
            <a:ext cx="329184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EA778"/>
                </a:solidFill>
                <a:latin typeface="Aptos"/>
              </a:rPr>
              <a:t>Execution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Acquire eligible, unclaimed simulated resources.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Persist start, due, completion and claims.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Release Pick reservation without a second debit.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ACCOUNTING AND POLICY FORK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Conservative allocation without claiming physical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V3 uses source disagreement operationally, but corrections remain app-owned simulation state.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389888"/>
          <a:ext cx="11301984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792"/>
                <a:gridCol w="3456432"/>
                <a:gridCol w="2331720"/>
                <a:gridCol w="2606040"/>
              </a:tblGrid>
              <a:tr h="5212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AFB9"/>
                          </a:solidFill>
                          <a:latin typeface="Aptos"/>
                        </a:rPr>
                        <a:t>Event</a:t>
                      </a:r>
                    </a:p>
                  </a:txBody>
                  <a:tcPr marL="91440" marR="91440" marT="45720" marB="36576">
                    <a:solidFill>
                      <a:srgbClr val="192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AFB9"/>
                          </a:solidFill>
                          <a:latin typeface="Aptos"/>
                        </a:rPr>
                        <a:t>Free WMS / ERP / vision</a:t>
                      </a:r>
                    </a:p>
                  </a:txBody>
                  <a:tcPr marL="91440" marR="91440" marT="45720" marB="36576">
                    <a:solidFill>
                      <a:srgbClr val="192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AFB9"/>
                          </a:solidFill>
                          <a:latin typeface="Aptos"/>
                        </a:rPr>
                        <a:t>Reserved</a:t>
                      </a:r>
                    </a:p>
                  </a:txBody>
                  <a:tcPr marL="91440" marR="91440" marT="45720" marB="36576">
                    <a:solidFill>
                      <a:srgbClr val="192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AFB9"/>
                          </a:solidFill>
                          <a:latin typeface="Aptos"/>
                        </a:rPr>
                        <a:t>Picked / in process</a:t>
                      </a:r>
                    </a:p>
                  </a:txBody>
                  <a:tcPr marL="91440" marR="91440" marT="45720" marB="36576">
                    <a:solidFill>
                      <a:srgbClr val="192E3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Order accepted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− quantity from all three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+ quantity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No change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Pick starts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No change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No change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No change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Pick completes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No second debit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− quantity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+ quantity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Cancel before Pick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+ unpicked quantity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− unpicked quantity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No change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Cancel after Pick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No automatic restock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No picked reservation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Recovery required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38912" y="4864608"/>
            <a:ext cx="5468112" cy="1243584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4864608"/>
            <a:ext cx="64008" cy="1243584"/>
          </a:xfrm>
          <a:prstGeom prst="rect">
            <a:avLst/>
          </a:prstGeom>
          <a:solidFill>
            <a:srgbClr val="4EA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92624"/>
            <a:ext cx="5102352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EA778"/>
                </a:solidFill>
                <a:latin typeface="Aptos"/>
              </a:rPr>
              <a:t>Allocation truth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F1F5F7"/>
                </a:solidFill>
                <a:latin typeface="Aptos"/>
              </a:rPr>
              <a:t>Available at a location = nonnegative min(WMS, ERP, vision), subject to blockers.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4864608"/>
            <a:ext cx="5632704" cy="1243584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8192" y="4864608"/>
            <a:ext cx="64008" cy="1243584"/>
          </a:xfrm>
          <a:prstGeom prst="rect">
            <a:avLst/>
          </a:prstGeom>
          <a:solidFill>
            <a:srgbClr val="D4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4992624"/>
            <a:ext cx="5266944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49A32"/>
                </a:solidFill>
                <a:latin typeface="Aptos"/>
              </a:rPr>
              <a:t>Important V2 → V3 fork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F1F5F7"/>
                </a:solidFill>
                <a:latin typeface="Aptos"/>
              </a:rPr>
              <a:t>Supervisor closure may sync modeled free quantities to their current maximum. This is not physical truth or an external WMS write.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Resource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ROBOT AND CONTROL-ASSET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Available is not the same as eligible, compatible or unclaimed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The scheduler uses explicit rules; failure and recovery preserve completed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89888"/>
            <a:ext cx="3566160" cy="4507992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389888"/>
            <a:ext cx="64008" cy="4507992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17904"/>
            <a:ext cx="3200400" cy="42702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2A6C6"/>
                </a:solidFill>
                <a:latin typeface="Aptos"/>
              </a:rPr>
              <a:t>Eligibility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HEALTHY resource state.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Certificate present and not EXPIRED.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ONLINE or INTERMITTENT connectivity.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No OPEN / IN_PROGRESS maintenance.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Warehouse, type and payload compatible.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389888"/>
            <a:ext cx="3566160" cy="4507992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389888"/>
            <a:ext cx="64008" cy="4507992"/>
          </a:xfrm>
          <a:prstGeom prst="rect">
            <a:avLst/>
          </a:prstGeom>
          <a:solidFill>
            <a:srgbClr val="4EA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517904"/>
            <a:ext cx="3200400" cy="42702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EA778"/>
                </a:solidFill>
                <a:latin typeface="Aptos"/>
              </a:rPr>
              <a:t>Exclusive lifecycle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One active resource claim.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Persisted assignment token.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Configurable simulated duration.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Restart keeps saved due time.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Completed effects are not replayed.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389888"/>
            <a:ext cx="3566160" cy="4507992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389888"/>
            <a:ext cx="64008" cy="4507992"/>
          </a:xfrm>
          <a:prstGeom prst="rect">
            <a:avLst/>
          </a:prstGeom>
          <a:solidFill>
            <a:srgbClr val="D4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1517904"/>
            <a:ext cx="3200400" cy="42702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49A32"/>
                </a:solidFill>
                <a:latin typeface="Aptos"/>
              </a:rPr>
              <a:t>Failure and energy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Fail or kill the active assignment.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Replace only the unfinished stage.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Explicit recovery clears simulator failure block.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Idle known-battery robot auto-docks below 10%.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Charging stops at 100%.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People and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PERSONA WORKSPACES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The workflow is role-shaped; the identity mechanism is not production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Repo3 demonstrates who should do what, while `X-Demo-Persona` remains a caller-controlled demo header.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389888"/>
          <a:ext cx="1130198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926080"/>
                <a:gridCol w="3438144"/>
                <a:gridCol w="3429000"/>
              </a:tblGrid>
              <a:tr h="64007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AFB9"/>
                          </a:solidFill>
                          <a:latin typeface="Aptos"/>
                        </a:rPr>
                        <a:t>Persona</a:t>
                      </a:r>
                    </a:p>
                  </a:txBody>
                  <a:tcPr marL="91440" marR="91440" marT="45720" marB="36576">
                    <a:solidFill>
                      <a:srgbClr val="192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AFB9"/>
                          </a:solidFill>
                          <a:latin typeface="Aptos"/>
                        </a:rPr>
                        <a:t>Primary responsibility</a:t>
                      </a:r>
                    </a:p>
                  </a:txBody>
                  <a:tcPr marL="91440" marR="91440" marT="45720" marB="36576">
                    <a:solidFill>
                      <a:srgbClr val="192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AFB9"/>
                          </a:solidFill>
                          <a:latin typeface="Aptos"/>
                        </a:rPr>
                        <a:t>Can</a:t>
                      </a:r>
                    </a:p>
                  </a:txBody>
                  <a:tcPr marL="91440" marR="91440" marT="45720" marB="36576">
                    <a:solidFill>
                      <a:srgbClr val="192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AFB9"/>
                          </a:solidFill>
                          <a:latin typeface="Aptos"/>
                        </a:rPr>
                        <a:t>Must not imply</a:t>
                      </a:r>
                    </a:p>
                  </a:txBody>
                  <a:tcPr marL="91440" marR="91440" marT="45720" marB="36576">
                    <a:solidFill>
                      <a:srgbClr val="192E3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Bazaar user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Create and inspect customer requests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Submit and retry delivery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Warehouse task authority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Supervisor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Order flow and inventory exceptions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Correct scoped evidence; recover work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Physical ground truth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Fleet manager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Resource readiness and lifecycle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Repair, fail, kill, recover, charge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Operational approval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Admin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Policy, audit, config and registration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Inspect and configure supported demo state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Secure superuser identity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System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Deterministic acceptance and scheduling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Apply encoded policies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AI judgement or physical command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38912" y="5138928"/>
            <a:ext cx="11301984" cy="941832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5138928"/>
            <a:ext cx="64008" cy="941832"/>
          </a:xfrm>
          <a:prstGeom prst="rect">
            <a:avLst/>
          </a:prstGeom>
          <a:solidFill>
            <a:srgbClr val="D1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66944"/>
            <a:ext cx="10936224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1625A"/>
                </a:solidFill>
                <a:latin typeface="Aptos"/>
              </a:rPr>
              <a:t>Production blocker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F1F5F7"/>
                </a:solidFill>
                <a:latin typeface="Aptos"/>
              </a:rPr>
              <a:t>Authentication, deny-by-default authorization and coverage for every mutating route are required before any shared-network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AS-BUILT LOCAL MODULAR MONOLITH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Three interfaces, one gateway, two mutable stores, immutable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The design optimizes for a portable local demonstration—not multi-instance production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53312"/>
            <a:ext cx="2359152" cy="2011680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353312"/>
            <a:ext cx="64008" cy="201168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81328"/>
            <a:ext cx="1993392" cy="17739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2A6C6"/>
                </a:solidFill>
                <a:latin typeface="Aptos"/>
              </a:rPr>
              <a:t>Interfaces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Core Warehouse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FDE Bazaar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Fleet Simulator</a:t>
            </a:r>
          </a:p>
        </p:txBody>
      </p:sp>
      <p:sp>
        <p:nvSpPr>
          <p:cNvPr id="13" name="Chevron 12"/>
          <p:cNvSpPr/>
          <p:nvPr/>
        </p:nvSpPr>
        <p:spPr>
          <a:xfrm>
            <a:off x="3063240" y="1984248"/>
            <a:ext cx="1188720" cy="713232"/>
          </a:xfrm>
          <a:prstGeom prst="chevron">
            <a:avLst/>
          </a:prstGeom>
          <a:solidFill>
            <a:srgbClr val="192E3B"/>
          </a:solidFill>
          <a:ln>
            <a:solidFill>
              <a:srgbClr val="42A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2157984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1F5F7"/>
                </a:solidFill>
                <a:latin typeface="Aptos"/>
              </a:rPr>
              <a:t>HTTP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1353312"/>
            <a:ext cx="2999232" cy="2011680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7136" y="1353312"/>
            <a:ext cx="64008" cy="2011680"/>
          </a:xfrm>
          <a:prstGeom prst="rect">
            <a:avLst/>
          </a:prstGeom>
          <a:solidFill>
            <a:srgbClr val="4EA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1481328"/>
            <a:ext cx="2633472" cy="17739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EA778"/>
                </a:solidFill>
                <a:latin typeface="Aptos"/>
              </a:rPr>
              <a:t>FastAPI gateway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F1F5F7"/>
                </a:solidFill>
                <a:latin typeface="Aptos"/>
              </a:rPr>
              <a:t>Fulfillment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F1F5F7"/>
                </a:solidFill>
                <a:latin typeface="Aptos"/>
              </a:rPr>
              <a:t>Personas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F1F5F7"/>
                </a:solidFill>
                <a:latin typeface="Aptos"/>
              </a:rPr>
              <a:t>Bazaar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F1F5F7"/>
                </a:solidFill>
                <a:latin typeface="Aptos"/>
              </a:rPr>
              <a:t>Lifecycle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F1F5F7"/>
                </a:solidFill>
                <a:latin typeface="Aptos"/>
              </a:rPr>
              <a:t>Replay / Review</a:t>
            </a:r>
          </a:p>
        </p:txBody>
      </p:sp>
      <p:sp>
        <p:nvSpPr>
          <p:cNvPr id="18" name="Chevron 17"/>
          <p:cNvSpPr/>
          <p:nvPr/>
        </p:nvSpPr>
        <p:spPr>
          <a:xfrm>
            <a:off x="7754112" y="1984248"/>
            <a:ext cx="1188720" cy="713232"/>
          </a:xfrm>
          <a:prstGeom prst="chevron">
            <a:avLst/>
          </a:prstGeom>
          <a:solidFill>
            <a:srgbClr val="192E3B"/>
          </a:solidFill>
          <a:ln>
            <a:solidFill>
              <a:srgbClr val="4EA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4" y="2157984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1F5F7"/>
                </a:solidFill>
                <a:latin typeface="Aptos"/>
              </a:rPr>
              <a:t>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353312"/>
            <a:ext cx="2551176" cy="2011680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353312"/>
            <a:ext cx="64008" cy="2011680"/>
          </a:xfrm>
          <a:prstGeom prst="rect">
            <a:avLst/>
          </a:prstGeom>
          <a:solidFill>
            <a:srgbClr val="D4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1481328"/>
            <a:ext cx="2185416" cy="17739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49A32"/>
                </a:solidFill>
                <a:latin typeface="Aptos"/>
              </a:rPr>
              <a:t>Mutable state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fulfillment.sqlite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bazaar.sqlite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3675887"/>
            <a:ext cx="3657600" cy="2139696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" y="3675887"/>
            <a:ext cx="64008" cy="2139696"/>
          </a:xfrm>
          <a:prstGeom prst="rect">
            <a:avLst/>
          </a:prstGeom>
          <a:solidFill>
            <a:srgbClr val="9EA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03903"/>
            <a:ext cx="3291840" cy="1901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9EAFB9"/>
                </a:solidFill>
                <a:latin typeface="Aptos"/>
              </a:rPr>
              <a:t>Immutable evidence plane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CSV / JSONL / legacy SQLite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Original contradictions remain reviewable.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0248" y="3675887"/>
            <a:ext cx="3657600" cy="2139696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0248" y="3675887"/>
            <a:ext cx="64008" cy="2139696"/>
          </a:xfrm>
          <a:prstGeom prst="rect">
            <a:avLst/>
          </a:prstGeom>
          <a:solidFill>
            <a:srgbClr val="4EA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3803903"/>
            <a:ext cx="3291840" cy="1901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EA778"/>
                </a:solidFill>
                <a:latin typeface="Aptos"/>
              </a:rPr>
              <a:t>Runtime controls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Transactions · revisions · tokens · claims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Background executor, outbox and forecast workers.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675887"/>
            <a:ext cx="3657600" cy="2139696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675887"/>
            <a:ext cx="64008" cy="2139696"/>
          </a:xfrm>
          <a:prstGeom prst="rect">
            <a:avLst/>
          </a:prstGeom>
          <a:solidFill>
            <a:srgbClr val="D1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3803903"/>
            <a:ext cx="3291840" cy="1901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1625A"/>
                </a:solidFill>
                <a:latin typeface="Aptos"/>
              </a:rPr>
              <a:t>Deployment boundary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Python launcher binds to 127.0.0.1.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No TLS, HA, tenant isolation or production IAM.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FORECASTING AND REPLAY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Evidence-backed decision support—without pretending it is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Repo3 adds transparent demand baselines and copied-state replay for explanation and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408176"/>
            <a:ext cx="5468112" cy="4315968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408176"/>
            <a:ext cx="64008" cy="4315968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5102352" cy="40782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2A6C6"/>
                </a:solidFill>
                <a:latin typeface="Aptos"/>
              </a:rPr>
              <a:t>Demand forecast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Mean ordered units over completed IST calendar days.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Includes zero-demand days.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Ceiling-rounded 7-day and 30-day totals.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Explicit no-history and short-history coverage.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Saved evidence stays attached to its run.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Statistical baseline—not a trained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08176"/>
            <a:ext cx="5614416" cy="4315968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08176"/>
            <a:ext cx="64008" cy="4315968"/>
          </a:xfrm>
          <a:prstGeom prst="rect">
            <a:avLst/>
          </a:prstGeom>
          <a:solidFill>
            <a:srgbClr val="D4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536192"/>
            <a:ext cx="5248655" cy="40782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49A32"/>
                </a:solidFill>
                <a:latin typeface="Aptos"/>
              </a:rPr>
              <a:t>Historical replay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Copy live snapshot into an isolated simulation DB.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Run policy without mutating the operational demo store.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Compare simulation outputs with archive benchmarks.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Retain manifests and CSV reports.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Descriptive comparison—not causal value proof.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Some replay payloads are absent from the supplied ZIP.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WHAT IS PROVEN AND AT WHAT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Separate as-built evidence from packaged test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The V3 pack records direct inspection, fresh checks and prior package verification as different evidence levels.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99032"/>
            <a:ext cx="2523744" cy="1124712"/>
          </a:xfrm>
          <a:prstGeom prst="roundRect">
            <a:avLst/>
          </a:prstGeom>
          <a:solidFill>
            <a:srgbClr val="192E3B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08760"/>
            <a:ext cx="2249424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4EA778"/>
                </a:solidFill>
                <a:latin typeface="Aptos"/>
              </a:rPr>
              <a:t>73</a:t>
            </a:r>
          </a:p>
          <a:p>
            <a:pPr algn="ctr"/>
            <a:r>
              <a:rPr sz="1000" b="0">
                <a:solidFill>
                  <a:srgbClr val="9EAFB9"/>
                </a:solidFill>
                <a:latin typeface="Aptos"/>
              </a:rPr>
              <a:t>isolated regressions reported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399032"/>
            <a:ext cx="2523744" cy="1124712"/>
          </a:xfrm>
          <a:prstGeom prst="roundRect">
            <a:avLst/>
          </a:prstGeom>
          <a:solidFill>
            <a:srgbClr val="192E3B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508760"/>
            <a:ext cx="2249424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4EA778"/>
                </a:solidFill>
                <a:latin typeface="Aptos"/>
              </a:rPr>
              <a:t>25</a:t>
            </a:r>
          </a:p>
          <a:p>
            <a:pPr algn="ctr"/>
            <a:r>
              <a:rPr sz="1000" b="0">
                <a:solidFill>
                  <a:srgbClr val="9EAFB9"/>
                </a:solidFill>
                <a:latin typeface="Aptos"/>
              </a:rPr>
              <a:t>focused package tests reported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99032"/>
            <a:ext cx="2523744" cy="1124712"/>
          </a:xfrm>
          <a:prstGeom prst="roundRect">
            <a:avLst/>
          </a:prstGeom>
          <a:solidFill>
            <a:srgbClr val="192E3B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508760"/>
            <a:ext cx="2249424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42A6C6"/>
                </a:solidFill>
                <a:latin typeface="Aptos"/>
              </a:rPr>
              <a:t>516</a:t>
            </a:r>
          </a:p>
          <a:p>
            <a:pPr algn="ctr"/>
            <a:r>
              <a:rPr sz="1000" b="0">
                <a:solidFill>
                  <a:srgbClr val="9EAFB9"/>
                </a:solidFill>
                <a:latin typeface="Aptos"/>
              </a:rPr>
              <a:t>present files matching SHA-256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1399032"/>
            <a:ext cx="2651760" cy="1124712"/>
          </a:xfrm>
          <a:prstGeom prst="roundRect">
            <a:avLst/>
          </a:prstGeom>
          <a:solidFill>
            <a:srgbClr val="192E3B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1508760"/>
            <a:ext cx="2377440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D49A32"/>
                </a:solidFill>
                <a:latin typeface="Aptos"/>
              </a:rPr>
              <a:t>45</a:t>
            </a:r>
          </a:p>
          <a:p>
            <a:pPr algn="ctr"/>
            <a:r>
              <a:rPr sz="1000" b="0">
                <a:solidFill>
                  <a:srgbClr val="9EAFB9"/>
                </a:solidFill>
                <a:latin typeface="Aptos"/>
              </a:rPr>
              <a:t>manifest files absent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2852928"/>
            <a:ext cx="3547872" cy="2871216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2852928"/>
            <a:ext cx="64008" cy="2871216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80944"/>
            <a:ext cx="3182112" cy="2633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2A6C6"/>
                </a:solidFill>
                <a:latin typeface="Aptos"/>
              </a:rPr>
              <a:t>Direct inspection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Runtime, APIs, databases and boundaries reviewed.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Python compile check passed.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852928"/>
            <a:ext cx="3547872" cy="2871216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2852928"/>
            <a:ext cx="64008" cy="2871216"/>
          </a:xfrm>
          <a:prstGeom prst="rect">
            <a:avLst/>
          </a:prstGeom>
          <a:solidFill>
            <a:srgbClr val="4EA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2980944"/>
            <a:ext cx="3182112" cy="2633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EA778"/>
                </a:solidFill>
                <a:latin typeface="Aptos"/>
              </a:rPr>
              <a:t>Packaged report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Linux builds, browser checks and DB integrity reported.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Treat as prior evidence, not a fresh Windows rerun.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2852928"/>
            <a:ext cx="3547872" cy="2871216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4" y="2852928"/>
            <a:ext cx="64008" cy="2871216"/>
          </a:xfrm>
          <a:prstGeom prst="rect">
            <a:avLst/>
          </a:prstGeom>
          <a:solidFill>
            <a:srgbClr val="D4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2980944"/>
            <a:ext cx="3182112" cy="2633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49A32"/>
                </a:solidFill>
                <a:latin typeface="Aptos"/>
              </a:rPr>
              <a:t>Still required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Install pytest and pnpm on a clean Windows target.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Rerun backend, typecheck/build, Playwright and DB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FDE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OM1–21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Repo3 strengthens product engineering—not customer lifecycle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V2 remains the source of truth for discovery, invariants, hard gates and original evals.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99032"/>
            <a:ext cx="3547872" cy="4553712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399032"/>
            <a:ext cx="64008" cy="4553712"/>
          </a:xfrm>
          <a:prstGeom prst="rect">
            <a:avLst/>
          </a:prstGeom>
          <a:solidFill>
            <a:srgbClr val="9EA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27048"/>
            <a:ext cx="3182112" cy="4315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9EAFB9"/>
                </a:solidFill>
                <a:latin typeface="Aptos"/>
              </a:rPr>
              <a:t>OM1–8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Inherited from the separate V2 evidence spine.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Repo3 does not redo field immersion, RCA or option selection.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Embedded brownfield folder is a trimmed baseline—not full V2.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399032"/>
            <a:ext cx="3547872" cy="4553712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399032"/>
            <a:ext cx="64008" cy="4553712"/>
          </a:xfrm>
          <a:prstGeom prst="rect">
            <a:avLst/>
          </a:prstGeom>
          <a:solidFill>
            <a:srgbClr val="4EA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527048"/>
            <a:ext cx="3182112" cy="4315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EA778"/>
                </a:solidFill>
                <a:latin typeface="Aptos"/>
              </a:rPr>
              <a:t>OM9–16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Strong local product engineering.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Information architecture, application, tests, packaging and recovery.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Security and independent assurance remain demo-limited.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399032"/>
            <a:ext cx="3547872" cy="4553712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399032"/>
            <a:ext cx="64008" cy="4553712"/>
          </a:xfrm>
          <a:prstGeom prst="rect">
            <a:avLst/>
          </a:prstGeom>
          <a:solidFill>
            <a:srgbClr val="D1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527048"/>
            <a:ext cx="3182112" cy="4315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1625A"/>
                </a:solidFill>
                <a:latin typeface="Aptos"/>
              </a:rPr>
              <a:t>OM17–21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Local ZIP is not progressive customer deployment.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Replay is not production monitoring.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7,000+ simulated orders are not ROI.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No AIMS or governed retirement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READINESS AND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Conditional local-demo GO; shared or physical deployment NO-GO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The current trust boundary is loopback plus synthetic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89888"/>
            <a:ext cx="3547872" cy="4553712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389888"/>
            <a:ext cx="64008" cy="4553712"/>
          </a:xfrm>
          <a:prstGeom prst="rect">
            <a:avLst/>
          </a:prstGeom>
          <a:solidFill>
            <a:srgbClr val="4EA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17904"/>
            <a:ext cx="3182112" cy="4315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EA778"/>
                </a:solidFill>
                <a:latin typeface="Aptos"/>
              </a:rPr>
              <a:t>Local demonstration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MAY release after target-machine test rerun.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Bind to loopback.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Use synthetic data only.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Verify active databases and package scope.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389888"/>
            <a:ext cx="3547872" cy="4553712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389888"/>
            <a:ext cx="64008" cy="4553712"/>
          </a:xfrm>
          <a:prstGeom prst="rect">
            <a:avLst/>
          </a:prstGeom>
          <a:solidFill>
            <a:srgbClr val="D4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517904"/>
            <a:ext cx="3182112" cy="4315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49A32"/>
                </a:solidFill>
                <a:latin typeface="Aptos"/>
              </a:rPr>
              <a:t>Shared network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NO-GO today.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Needs IAM, RBAC, CSRF/TLS, secrets and route-level authorization.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Needs migrations, observability, SLOs, load and security 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389888"/>
            <a:ext cx="3547872" cy="4553712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389888"/>
            <a:ext cx="64008" cy="4553712"/>
          </a:xfrm>
          <a:prstGeom prst="rect">
            <a:avLst/>
          </a:prstGeom>
          <a:solidFill>
            <a:srgbClr val="D1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517904"/>
            <a:ext cx="3182112" cy="4315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1625A"/>
                </a:solidFill>
                <a:latin typeface="Aptos"/>
              </a:rPr>
              <a:t>Physical / external write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PROHIBITED in this mandate.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Needs verified interfaces, command IDs and outcome protocol.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Needs hazard analysis, safety case, shadow mode and independent TEVV.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WHAT TO MEASURE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V3 creates measurable operational data—but not proven business value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Targets and a live comparison plan are still required before benefits or ROI claims.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389888"/>
          <a:ext cx="11301984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4160520"/>
                <a:gridCol w="4718304"/>
              </a:tblGrid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AFB9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 marL="91440" marR="91440" marT="45720" marB="36576">
                    <a:solidFill>
                      <a:srgbClr val="192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AFB9"/>
                          </a:solidFill>
                          <a:latin typeface="Aptos"/>
                        </a:rPr>
                        <a:t>Available from V3</a:t>
                      </a:r>
                    </a:p>
                  </a:txBody>
                  <a:tcPr marL="91440" marR="91440" marT="45720" marB="36576">
                    <a:solidFill>
                      <a:srgbClr val="192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AFB9"/>
                          </a:solidFill>
                          <a:latin typeface="Aptos"/>
                        </a:rPr>
                        <a:t>What is still missing</a:t>
                      </a:r>
                    </a:p>
                  </a:txBody>
                  <a:tcPr marL="91440" marR="91440" marT="45720" marB="36576">
                    <a:solidFill>
                      <a:srgbClr val="192E3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Intake integrity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Duplicate/retry identities and delivery state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Target error rate and live volume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Stock accounting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Reservations and movement ledger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Independent reconciliation to real inventory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Flow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Order, stage, hold and completion timestamps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Approved lead-time and aging targets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Recovery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Failure, replacement and intervention history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Real incident baseline and MTTR definition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Saved 7/30-day statistical baseline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Backtest error target and source completeness</a:t>
                      </a:r>
                    </a:p>
                  </a:txBody>
                  <a:tcPr marL="91440" marR="91440" marT="45720" marB="36576">
                    <a:solidFill>
                      <a:srgbClr val="15243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Descriptive simulated outcomes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7"/>
                          </a:solidFill>
                          <a:latin typeface="Aptos"/>
                        </a:rPr>
                        <a:t>Controlled before/after and financial inputs</a:t>
                      </a:r>
                    </a:p>
                  </a:txBody>
                  <a:tcPr marL="91440" marR="91440" marT="45720" marB="36576">
                    <a:solidFill>
                      <a:srgbClr val="0D17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583680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EAFB9"/>
                </a:solidFill>
                <a:latin typeface="Aptos"/>
              </a:rPr>
              <a:t>DockSight Improvised Version  ·  Repo3 / V3  · 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6539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42A6C6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2A6C6"/>
                </a:solidFill>
                <a:latin typeface="Aptos"/>
              </a:rPr>
              <a:t>RECOMMENDED DEMONSTRATION AND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1F5F7"/>
                </a:solidFill>
                <a:latin typeface="Aptos"/>
              </a:rPr>
              <a:t>Show one order, one hold, one recovery—and keep the boundary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EAFB9"/>
                </a:solidFill>
                <a:latin typeface="Aptos"/>
              </a:rPr>
              <a:t>The ask is approval of the local product simulation and its next verification step, not approval for live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89888"/>
            <a:ext cx="3547872" cy="4498848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389888"/>
            <a:ext cx="64008" cy="4498848"/>
          </a:xfrm>
          <a:prstGeom prst="rect">
            <a:avLst/>
          </a:prstGeom>
          <a:solidFill>
            <a:srgbClr val="42A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17904"/>
            <a:ext cx="3182112" cy="42611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2A6C6"/>
                </a:solidFill>
                <a:latin typeface="Aptos"/>
              </a:rPr>
              <a:t>Demo sequence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1. Create a Bazaar order.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2. Show atomic acceptance or shortage rejection.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3. Watch staged simulated execution.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4. Fail/replace one assigned resource.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5. Inspect audit, forecast and progress.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389888"/>
            <a:ext cx="3547872" cy="4498848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389888"/>
            <a:ext cx="64008" cy="4498848"/>
          </a:xfrm>
          <a:prstGeom prst="rect">
            <a:avLst/>
          </a:prstGeom>
          <a:solidFill>
            <a:srgbClr val="4EA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517904"/>
            <a:ext cx="3182112" cy="42611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4EA778"/>
                </a:solidFill>
                <a:latin typeface="Aptos"/>
              </a:rPr>
              <a:t>Decision requested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Accept V3 as the updated local Repo3 product baseline.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Approve clean-host Windows verification.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Retain deterministic/no-AI/no-OT architecture.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Keep V2 as the original FDE evidence spine.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389888"/>
            <a:ext cx="3547872" cy="4498848"/>
          </a:xfrm>
          <a:prstGeom prst="roundRect">
            <a:avLst/>
          </a:prstGeom>
          <a:solidFill>
            <a:srgbClr val="152430"/>
          </a:solidFill>
          <a:ln>
            <a:solidFill>
              <a:srgbClr val="2E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389888"/>
            <a:ext cx="64008" cy="4498848"/>
          </a:xfrm>
          <a:prstGeom prst="rect">
            <a:avLst/>
          </a:prstGeom>
          <a:solidFill>
            <a:srgbClr val="D1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517904"/>
            <a:ext cx="3182112" cy="42611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D1625A"/>
                </a:solidFill>
                <a:latin typeface="Aptos"/>
              </a:rPr>
              <a:t>Do not approve yet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Shared network exposure.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Production multi-user rollout.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External WMS/FMS/PLC integration.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Physical robot command path.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F1F5F7"/>
                </a:solidFill>
                <a:latin typeface="Aptos"/>
              </a:rPr>
              <a:t>Modernization-complete or ROI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