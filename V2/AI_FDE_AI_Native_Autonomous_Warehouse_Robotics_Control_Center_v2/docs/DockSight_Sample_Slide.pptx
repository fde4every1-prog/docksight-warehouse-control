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selection. Say: we did not pick the easiest AI story. We picked the inherited mess. Selection is Option A deterministic tower. Kill list is as important as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we already paid for robots. The screens lie. People still press Go. We want one stop or go before a robot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/ mimicking-client slide. Sell the failure, then the process. Do not say G1 G2 UNCERTAIN. Say: wrong robot, fake stock, fake shipped, late truck, shadow emails. Process: see, name, stop. Demo ORD-000004 vs ORD-009999 if they ask to see it. Ask: accept the control idea. Robots stay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means current traversal, not the target architecture. Walk left to right. Pause on 5: we observe, we do not drive. If they ask files: orders, inventory/skus, tasks, robots/maintenance/zones, telemetry, shipments.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Better version: nested like the sample picture. Outer dashed = estate. Inner steel = DockSight. Amber bar = decision. Dashed red floor = machines not driven. Keep v1 if this feels too sparse. Present only one of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put 84% as-of cutoff on this slide. That is PARTIAL, not a board KPI. Do not use teammate 62% on-time. After is treatment: 203 still in the file, 0 treated as eligible. Unsafe assign 0 is the CTQ on UC-1, not a claim the estate is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three columns: failure, named fixture, FDE refusal. Demo: open dashboard or /workflow — ORD-009999 then ORD-000004. Overcome does not mean fix the CSV. It means stop, keep both sides, evals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FDE layers: mandate, evidence, process, RCA, domain, contracts, hard gates, evals, then a thin tower. Copilot is layer 6 and optional. It cannot assign. Architect path: drawing, trust names, clean data, chatbot. Say: we did not start with AI suggestions. We started with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21-step FDE PDF. We completed 1–16 for a virtual warehouse tower. 17–21 (live deploy, value in dollars, ISO audit, retire) are not claimed. 45 = discovery files + specs + two ADRs + traceability + component register. 42 = named refuse cases in the negative test pack. 76 = pytest functions. 22 evals all PASS. 4 screens: dashboard, workflow, browse, contention. Zero live robots: physical_control stays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Autonomy: observe and recommend only. No autonomous assign. Trust: gates, evals, no silent merge. Production: deferred 17–21. Do not claim ISO or live 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Moonshot scoring: show we thought beyond the demo without claiming we built it. Innovation is abstain + artifacts. AI is layer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Point to live demo if time. Ask for acceptance of the control idea. 90-day clock starts only after they say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Mimic the sample: left = other systems, middle = product, right = user, bottom = machines. Difference: we are not a fleet OS. Middle only judges. Floor is disconnected for write. Say: OMS WMS WES fleet TMS already run. DockSight sits in the middle and says ALLOW, DENY, or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sample. Next slide is the problem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FDE capstone  ·  synthetic proof  ·  not live robots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DockSight  ·  why this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We chose a brownfield warehouse with robots already in it — not a greenfield AI demo.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987552"/>
            <a:ext cx="3703320" cy="52120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987552"/>
            <a:ext cx="73152" cy="521208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1115568"/>
            <a:ext cx="3374136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Why this problem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The estate already paid for robots and many systems.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Exceptions — not the happy path — burn people and create late trucks and unsafe sends.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A supervisor still has no one screen that says stop or go.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That is a real customer problem, not a missing chatbot.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8" y="987552"/>
            <a:ext cx="3703320" cy="52120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987552"/>
            <a:ext cx="73152" cy="521208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1115568"/>
            <a:ext cx="3374136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What we selected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A virtual watch-and-stop tower.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Rules first (Option A).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Named journeys: ORD-000004 broken, ORD-009999 agreed.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Evals and tests before anything that looks autonomous.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Observe only. Physical control stays off.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987552"/>
            <a:ext cx="3730752" cy="52120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987552"/>
            <a:ext cx="73152" cy="521208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6" y="1115568"/>
            <a:ext cx="3401568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What we refused to pick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An agent that dispatches robots.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A mandatory graph, twin, or RAG.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Cleaning CSVs so KPIs look green.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Turning robots on for a nicer demo.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Dollar ROI we cannot compute.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problem statement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The problem we are here to 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2179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For the people who run the warehouse — not a tech 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1115568"/>
            <a:ext cx="3703320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1115568"/>
            <a:ext cx="73152" cy="507492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1243584"/>
            <a:ext cx="337413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Business case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We already paid for robots and warehouse software.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When those tools disagree, people still send a robot.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That costs time, late trucks, and unsafe moves.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The case is simple: stop a bad send before it happens.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8" y="1115568"/>
            <a:ext cx="3703320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1115568"/>
            <a:ext cx="73152" cy="507492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1243584"/>
            <a:ext cx="337413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Problem statement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A3238"/>
                </a:solidFill>
                <a:latin typeface="Calibri"/>
              </a:rPr>
              <a:t>The warehouse already has robots.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A3238"/>
                </a:solidFill>
                <a:latin typeface="Calibri"/>
              </a:rPr>
              <a:t>The screens often do not match the floor.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A3238"/>
                </a:solidFill>
                <a:latin typeface="Calibri"/>
              </a:rPr>
              <a:t>People still press 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1115568"/>
            <a:ext cx="3730752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1115568"/>
            <a:ext cx="73152" cy="507492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6" y="1243584"/>
            <a:ext cx="3401568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09A24"/>
                </a:solidFill>
                <a:latin typeface="Calibri"/>
              </a:rPr>
              <a:t>Real-world problem we are solving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A supervisor must pick an order and make the truck.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A robot looks free — but should stay still.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A bin shows two or three different counts.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An order looks gone. The truck did not leave.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We solve this: one clear stop or go before anyone sends a robot.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stakeholder  ·  process addresses the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A3238"/>
                </a:solidFill>
                <a:latin typeface="Calibri"/>
              </a:rPr>
              <a:t>This is what goes wrong — and what we put in front of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12064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For the people who own the warehouse. Not a tech list. The process is: see it, name it, stop the bad send.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859536"/>
            <a:ext cx="5650992" cy="347472"/>
          </a:xfrm>
          <a:prstGeom prst="roundRect">
            <a:avLst>
              <a:gd name="adj" fmla="val 12000"/>
            </a:avLst>
          </a:prstGeom>
          <a:solidFill>
            <a:srgbClr val="A84B40"/>
          </a:solidFill>
          <a:ln>
            <a:solidFill>
              <a:srgbClr val="A84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896112"/>
            <a:ext cx="5650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If we do nothing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859536"/>
            <a:ext cx="5632704" cy="347472"/>
          </a:xfrm>
          <a:prstGeom prst="roundRect">
            <a:avLst>
              <a:gd name="adj" fmla="val 12000"/>
            </a:avLst>
          </a:prstGeom>
          <a:solidFill>
            <a:srgbClr val="3E6F55"/>
          </a:solidFill>
          <a:ln>
            <a:solidFill>
              <a:srgbClr val="3E6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896112"/>
            <a:ext cx="5632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our process does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" y="1280160"/>
            <a:ext cx="5650992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" y="1280160"/>
            <a:ext cx="73152" cy="82296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1371600"/>
            <a:ext cx="5340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Wrong robot still goes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Looks free. Cert expired or still in repair.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2157984"/>
            <a:ext cx="5650992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2157984"/>
            <a:ext cx="73152" cy="82296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249424"/>
            <a:ext cx="5340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Pick that is not there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Three counts on one bin. Someone still picks.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3035808"/>
            <a:ext cx="5650992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3035808"/>
            <a:ext cx="73152" cy="82296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3127248"/>
            <a:ext cx="5340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Customer thinks it left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Order looks shipped. Truck did not leave.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3913631"/>
            <a:ext cx="5650992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" y="3913631"/>
            <a:ext cx="73152" cy="82296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005071"/>
            <a:ext cx="5340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Late truck, no early warning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Cutoff already missed. Screens still look fine.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" y="4791455"/>
            <a:ext cx="5650992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" y="4791455"/>
            <a:ext cx="73152" cy="822960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4882895"/>
            <a:ext cx="5340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84B40"/>
                </a:solidFill>
                <a:latin typeface="Calibri"/>
              </a:rPr>
              <a:t>People paper over it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Emails and unofficial lists become the real system.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1280160"/>
            <a:ext cx="5632704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1280160"/>
            <a:ext cx="73152" cy="82296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1371600"/>
            <a:ext cx="5321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Stop before Go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One path: order → stock → job → robot → truck. If they disagree, wait.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1344" y="2157984"/>
            <a:ext cx="5632704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344" y="2157984"/>
            <a:ext cx="73152" cy="82296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2249424"/>
            <a:ext cx="5321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Named proof, not a slogan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We show ORD-000004 broken and ORD-009999 agreed — on the same screen.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3035808"/>
            <a:ext cx="5632704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81344" y="3035808"/>
            <a:ext cx="73152" cy="82296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4224" y="3127248"/>
            <a:ext cx="5321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Rules first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ALLOW, DENY, or wait. No chatbot that sends a robot.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1344" y="3913631"/>
            <a:ext cx="5632704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81344" y="3913631"/>
            <a:ext cx="73152" cy="82296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4224" y="4005071"/>
            <a:ext cx="5321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Keep the conflict visible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We do not pick a winner system or clean the books for a nicer KPI.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4791455"/>
            <a:ext cx="5632704" cy="8229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81344" y="4791455"/>
            <a:ext cx="73152" cy="82296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64224" y="4882895"/>
            <a:ext cx="53218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Ask of you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Accept this as the control idea. Do not turn robots on for the showcase.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current path  ·  this app does not drive 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The path an order takes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48640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Customer want  →  six hand-offs  →  truck left. This is the current walk, not a future design.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" y="896112"/>
            <a:ext cx="1719072" cy="73152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1 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OMS takes the order.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Clock to the truck starts.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orders.csv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075687" y="2633472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67712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67712" y="896112"/>
            <a:ext cx="1719072" cy="73152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40864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2  Allocate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9152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WMS holds stock.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ERP and camera also claim qty.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40864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inventory + skus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3995927" y="2633472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87952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87952" y="896112"/>
            <a:ext cx="1719072" cy="73152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4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3 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WES makes jobs.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Pick, move, pack, stage.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1104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tasks.csv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16168" y="2633472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08192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08192" y="896112"/>
            <a:ext cx="1719072" cy="73152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4  Robot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Fleet names a machine.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Cert, repair, zone.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344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robots + zones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836407" y="2633472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28431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28431" y="896112"/>
            <a:ext cx="1719072" cy="7315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01583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4B40"/>
                </a:solidFill>
                <a:latin typeface="Calibri"/>
              </a:rPr>
              <a:t>5  Move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1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Pick and conveyor.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This screen does not drive it.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01583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telemetry / assets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9756648" y="2633472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948672" y="896112"/>
            <a:ext cx="1719072" cy="37033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48672" y="896112"/>
            <a:ext cx="1719072" cy="73152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21824" y="1042415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E6F55"/>
                </a:solidFill>
                <a:latin typeface="Calibri"/>
              </a:rPr>
              <a:t>6  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40111" y="1700784"/>
            <a:ext cx="1536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TMS books dock + truck.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Then the truck can leave.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1824" y="4096511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A636A"/>
                </a:solidFill>
                <a:latin typeface="Calibri"/>
              </a:rPr>
              <a:t>shipments.csv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4048" y="4736592"/>
            <a:ext cx="11411712" cy="160934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4846320"/>
            <a:ext cx="11064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Start: the customer wants the order.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End: truck departed — actual_departure is filled. Empty actual means it has not left.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A84B40"/>
                </a:solidFill>
                <a:latin typeface="Calibri"/>
              </a:rPr>
              <a:t>DockSight watches steps 1–4 and 6. Step 5 is the real floor. We do not move the robot from this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architecture v2  ·  claims in  ·  judge  ·  person sees  ·  floor not 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3238"/>
                </a:solidFill>
                <a:latin typeface="Calibri"/>
              </a:rPr>
              <a:t>Business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20624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36A"/>
                </a:solidFill>
                <a:latin typeface="Calibri"/>
              </a:rPr>
              <a:t>Other systems claim   →   DockSight judges   →   supervisor sees stop or 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786384"/>
            <a:ext cx="2212848" cy="555955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5875"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786384"/>
            <a:ext cx="2212848" cy="420624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84124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Already 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316736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389888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OMS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011680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084832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WMS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706624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779776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ERP + camera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also claim qty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01568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474720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WES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jobs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096511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4169663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Fleet + CMMS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machine + repair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791455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4864607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TMS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dock + truck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486399"/>
            <a:ext cx="1956816" cy="64008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5559551"/>
            <a:ext cx="1737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C586A"/>
                </a:solidFill>
                <a:latin typeface="Calibri"/>
              </a:rPr>
              <a:t>Emails</a:t>
            </a:r>
          </a:p>
          <a:p>
            <a:r>
              <a:rPr sz="1100" b="0">
                <a:solidFill>
                  <a:srgbClr val="2A3238"/>
                </a:solidFill>
                <a:latin typeface="Calibri"/>
              </a:rPr>
              <a:t>not rules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05456" y="3383280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61488" y="786384"/>
            <a:ext cx="6510528" cy="555955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22225">
            <a:solidFill>
              <a:srgbClr val="3C586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61488" y="786384"/>
            <a:ext cx="6510528" cy="347472"/>
          </a:xfrm>
          <a:prstGeom prst="rect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1488" y="822960"/>
            <a:ext cx="6510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C586A"/>
                </a:solidFill>
                <a:latin typeface="Calibri"/>
              </a:rPr>
              <a:t>Warehouse estate  ·  files in, nothing written 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44368" y="1243584"/>
            <a:ext cx="6144768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44368" y="1243584"/>
            <a:ext cx="6144768" cy="402336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44368" y="1280160"/>
            <a:ext cx="6144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DockSight  ·  watch-and-stop tower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0672" y="1773936"/>
            <a:ext cx="1389888" cy="107899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0672" y="18653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1  Who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672" y="2249424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one robot?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1773936"/>
            <a:ext cx="1389888" cy="107899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18653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2  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2249424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counts agree?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53328" y="1773936"/>
            <a:ext cx="1389888" cy="107899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18653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3  Jobs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2249424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WES = fleet?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34656" y="1773936"/>
            <a:ext cx="1389888" cy="107899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6" y="1865376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4  Safe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6" y="2249424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cert · zone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90672" y="2980944"/>
            <a:ext cx="5852160" cy="100584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0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0672" y="305409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36A"/>
                </a:solidFill>
                <a:latin typeface="Calibri"/>
              </a:rPr>
              <a:t>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90672" y="336499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A3238"/>
                </a:solidFill>
                <a:latin typeface="Calibri"/>
              </a:rPr>
              <a:t>ALLOW     DENY     wait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42816"/>
            <a:ext cx="6144768" cy="731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944368" y="4407408"/>
            <a:ext cx="6144768" cy="1755648"/>
          </a:xfrm>
          <a:prstGeom prst="roundRect">
            <a:avLst>
              <a:gd name="adj" fmla="val 8000"/>
            </a:avLst>
          </a:prstGeom>
          <a:solidFill>
            <a:srgbClr val="F3F0E8"/>
          </a:solidFill>
          <a:ln w="19050">
            <a:solidFill>
              <a:srgbClr val="A84B4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44368" y="4480560"/>
            <a:ext cx="6144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84B40"/>
                </a:solidFill>
                <a:latin typeface="Calibri"/>
              </a:rPr>
              <a:t>Floor  ·  we watch  ·  we do not drive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27248" y="4846320"/>
            <a:ext cx="1353312" cy="11155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27248" y="4846320"/>
            <a:ext cx="1353312" cy="731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27248" y="499262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Robot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7248" y="53766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6A"/>
                </a:solidFill>
                <a:latin typeface="Calibri"/>
              </a:rPr>
              <a:t>AMR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08576" y="4846320"/>
            <a:ext cx="1353312" cy="11155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08576" y="4846320"/>
            <a:ext cx="1353312" cy="731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8576" y="499262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Conveyor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8576" y="53766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6A"/>
                </a:solidFill>
                <a:latin typeface="Calibri"/>
              </a:rPr>
              <a:t>plant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89904" y="4846320"/>
            <a:ext cx="1353312" cy="11155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89904" y="4846320"/>
            <a:ext cx="1353312" cy="731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9904" y="499262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Dock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9904" y="53766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6A"/>
                </a:solidFill>
                <a:latin typeface="Calibri"/>
              </a:rPr>
              <a:t>door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71232" y="4846320"/>
            <a:ext cx="1353312" cy="11155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71232" y="4846320"/>
            <a:ext cx="1353312" cy="731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1232" y="499262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Truck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71232" y="537667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36A"/>
                </a:solidFill>
                <a:latin typeface="Calibri"/>
              </a:rPr>
              <a:t>TMS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36608" y="786384"/>
            <a:ext cx="2395728" cy="555955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5875">
            <a:solidFill>
              <a:srgbClr val="3E6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436608" y="786384"/>
            <a:ext cx="2395728" cy="420624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36608" y="841248"/>
            <a:ext cx="2395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People see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82912" y="1353312"/>
            <a:ext cx="2103120" cy="1417320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82912" y="142646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Screens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82912" y="175564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wall  ·  path
contention  ·  browse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82912" y="2907792"/>
            <a:ext cx="2103120" cy="123444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314432" y="2999232"/>
            <a:ext cx="640080" cy="640080"/>
          </a:xfrm>
          <a:prstGeom prst="ellipse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82912" y="36758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Supervisor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82912" y="4279392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82912" y="43708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C586A"/>
                </a:solidFill>
                <a:latin typeface="Calibri"/>
              </a:rPr>
              <a:t>Files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82912" y="46817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CSV  ·  SQLite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82912" y="5285232"/>
            <a:ext cx="2103120" cy="877824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A84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82912" y="53766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84B40"/>
                </a:solidFill>
                <a:latin typeface="Calibri"/>
              </a:rPr>
              <a:t>Off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82912" y="56875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3238"/>
                </a:solidFill>
                <a:latin typeface="Calibri"/>
              </a:rPr>
              <a:t>no live send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9217152" y="2011680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Prompt 03 snapshot  ·  files not cleaned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Current KPIs  ·  the inherited warehouse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Same brownfield files. Not the 7,000-row overlay. After UC-1 we refuse — we do not rewrite these counts.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89611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896112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115214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28.5%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197510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Robot looks free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203 / 712 should not move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70048" y="89611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70048" y="896112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0048" y="115214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78.9%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197510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Stock counts split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7,382 / 9,360 bins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89611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56048" y="896112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115214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84.2%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197510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Job split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WES ≠ fleet  7,351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2048" y="89611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896112"/>
            <a:ext cx="2176272" cy="64008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115214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09A24"/>
                </a:solidFill>
                <a:latin typeface="Calibri"/>
              </a:rPr>
              <a:t>36.7%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197510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Order split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OMS ≠ WMS  1,283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89611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28048" y="896112"/>
            <a:ext cx="2176272" cy="64008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115214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09A24"/>
                </a:solidFill>
                <a:latin typeface="Calibri"/>
              </a:rPr>
              <a:t>16.7%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197510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Truck already late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586 DELAYED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3255264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3255264"/>
            <a:ext cx="2176272" cy="6400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511296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C586A"/>
                </a:solidFill>
                <a:latin typeface="Calibr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4334256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Orders that close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order → truck clean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0048" y="3255264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70048" y="3255264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0048" y="3511296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4334256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Expired cert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still connected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6048" y="3255264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56048" y="3255264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56048" y="3511296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176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334256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Open repair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still marked free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2048" y="3255264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42048" y="3255264"/>
            <a:ext cx="2176272" cy="6400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42048" y="3511296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E6F55"/>
                </a:solidFill>
                <a:latin typeface="Calibri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4334256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Unsafe assigns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on the new path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8048" y="3255264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28048" y="3255264"/>
            <a:ext cx="2176272" cy="64008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28048" y="3511296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5A636A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19488" y="4334256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Use / recovery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not computable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failure modes  ·  synthetic fixtures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Failure modes — and how FDE stops them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Named rows from the brownfield files and the observe-only dashboard. We do not clean them. We refuse.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896112"/>
            <a:ext cx="3794760" cy="365760"/>
          </a:xfrm>
          <a:prstGeom prst="roundRect">
            <a:avLst>
              <a:gd name="adj" fmla="val 12000"/>
            </a:avLst>
          </a:prstGeom>
          <a:solidFill>
            <a:srgbClr val="A84B40"/>
          </a:solidFill>
          <a:ln>
            <a:solidFill>
              <a:srgbClr val="A84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93268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breaks on the floor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896112"/>
            <a:ext cx="3383280" cy="365760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93268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the data shows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0688" y="896112"/>
            <a:ext cx="4023360" cy="365760"/>
          </a:xfrm>
          <a:prstGeom prst="roundRect">
            <a:avLst>
              <a:gd name="adj" fmla="val 12000"/>
            </a:avLst>
          </a:prstGeom>
          <a:solidFill>
            <a:srgbClr val="3E6F55"/>
          </a:solidFill>
          <a:ln>
            <a:solidFill>
              <a:srgbClr val="3E6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9326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FDE does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" y="1353312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1353312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146304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Robot looks free — should stay still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1353312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1426464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RBT-0020 EXPIRED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RBT-0001 open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90688" y="1353312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8704" y="1426464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G1 / G2 DENY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Assign blocked on wall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" y="2121408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7472" y="2121408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2231136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Bin shows three counts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9392" y="2121408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2194560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SKU-01146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205 / 205 / 202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90688" y="2121408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18704" y="2194560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Mark UNCERTAIN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No pick-as-known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" y="2889503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2889503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299923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Order looks shipped — job still runs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79392" y="2889503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2962656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ORD-000968 SHIPPED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TSK still EXECUTING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90688" y="2889503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18704" y="2962656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Not complete (G6)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Keep both statuses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" y="3657599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7472" y="3657599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67327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Truck already late — screens look fine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79392" y="3657599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07408" y="3730751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ORD-000004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TMS DELAYED, no actual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90688" y="3657599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18704" y="3730751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on_time = false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Miss cutoff, not zone release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472" y="4425696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7472" y="4425696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4535424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Two machines, one radio name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79392" y="4425696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07408" y="4498848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BOT-COLLISION-01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on RBT-0001 and RBT-0002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90688" y="4425696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18704" y="4498848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Keep both IDs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Never merge or guess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7472" y="5193792"/>
            <a:ext cx="37947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7472" y="5193792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" y="530352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A3238"/>
                </a:solidFill>
                <a:latin typeface="Calibri"/>
              </a:rPr>
              <a:t>Path into a closed aisle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79392" y="5193792"/>
            <a:ext cx="33832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07408" y="5266944"/>
            <a:ext cx="3127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TSK → DC-01-Z05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3C586A"/>
                </a:solidFill>
                <a:latin typeface="Calibri"/>
              </a:rPr>
              <a:t>RESTRICTED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90688" y="5193792"/>
            <a:ext cx="402336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18704" y="5266944"/>
            <a:ext cx="376732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3E6F55"/>
                </a:solidFill>
                <a:latin typeface="Calibri"/>
              </a:rPr>
              <a:t>G4 refuse path</a:t>
            </a:r>
          </a:p>
          <a:p>
            <a:pPr>
              <a:spcBef>
                <a:spcPts val="1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Release zone = DENY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47472" y="6016752"/>
            <a:ext cx="11466576" cy="38404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0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6071616"/>
            <a:ext cx="11283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C586A"/>
                </a:solidFill>
                <a:latin typeface="Calibri"/>
              </a:rPr>
              <a:t>Dashboard shows the mess. Green control = ORD-009999. Broken path = ORD-000004. We do not drive the robot.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artifacts first  ·  AI last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Same capstone, two ways to run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FDE does not jump to AI. It walks artifacts. AI is last, and it cannot send a robot.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877824"/>
            <a:ext cx="5650992" cy="34747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5A6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91440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A636A"/>
                </a:solidFill>
                <a:latin typeface="Calibri"/>
              </a:rPr>
              <a:t>Solution architect  ·  skip to the picture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1298448"/>
            <a:ext cx="5650992" cy="78638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1298448"/>
            <a:ext cx="73152" cy="786384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1353312"/>
            <a:ext cx="53949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A636A"/>
                </a:solidFill>
                <a:latin typeface="Calibri"/>
              </a:rPr>
              <a:t>1  Target drawing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C4 and platform first.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" y="2121408"/>
            <a:ext cx="5650992" cy="78638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2121408"/>
            <a:ext cx="73152" cy="786384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2176272"/>
            <a:ext cx="53949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A636A"/>
                </a:solidFill>
                <a:latin typeface="Calibri"/>
              </a:rPr>
              <a:t>2  Trust the names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WMS is stock. Fleet is free.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" y="2944368"/>
            <a:ext cx="5650992" cy="78638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" y="2944368"/>
            <a:ext cx="73152" cy="786384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2999232"/>
            <a:ext cx="53949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A636A"/>
                </a:solidFill>
                <a:latin typeface="Calibri"/>
              </a:rPr>
              <a:t>3  Clean the files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Make the KPI look green.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" y="3767328"/>
            <a:ext cx="5650992" cy="78638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" y="3767328"/>
            <a:ext cx="73152" cy="786384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" y="3822191"/>
            <a:ext cx="53949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A636A"/>
                </a:solidFill>
                <a:latin typeface="Calibri"/>
              </a:rPr>
              <a:t>4  Jump to AI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Chatbot, copilot, agents.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" y="4590288"/>
            <a:ext cx="5650992" cy="786384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" y="4590288"/>
            <a:ext cx="73152" cy="786384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4645152"/>
            <a:ext cx="5394959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A636A"/>
                </a:solidFill>
                <a:latin typeface="Calibri"/>
              </a:rPr>
              <a:t>5  Hand off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Someone else builds it later.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1344" y="877824"/>
            <a:ext cx="5632704" cy="34747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3E6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1344" y="914400"/>
            <a:ext cx="5632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E6F55"/>
                </a:solidFill>
                <a:latin typeface="Calibri"/>
              </a:rPr>
              <a:t>FDE engineer  ·  artifacts, then a thin slice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1298448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1298448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1353312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1  Mandate + evidence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Charter, RACI, field register. Named IDs.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1344" y="1993391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344" y="1993391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2048255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2  Process + RCA + KPIs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SIPOC, conflicts, SCQA. No cleaned average.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81344" y="2688335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81344" y="2688335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743199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3  Domain + contracts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Words and join keys. Keep both sides.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1344" y="3383279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81344" y="3383279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3438143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4  Gates + evals + tests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Stop rules before any helper. 22 evals.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4078223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81344" y="4078223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133087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5  Working tower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ALLOW / DENY / wait. Observe only.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81344" y="4773167"/>
            <a:ext cx="5632704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81344" y="4773167"/>
            <a:ext cx="73152" cy="65836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4828031"/>
            <a:ext cx="5376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6  AI last — optional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2A3238"/>
                </a:solidFill>
                <a:latin typeface="Calibri"/>
              </a:rPr>
              <a:t>Explain a stop. Never write. Default off.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7472" y="5687568"/>
            <a:ext cx="11466576" cy="676656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0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5797296"/>
            <a:ext cx="11283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Left skips to AI.  Right earns AI: files → named failures → gates → tests → then maybe a helper that cannot send.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FDE model vs this repo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What we generated  ·  FDE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66928"/>
            <a:ext cx="10058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Compared to the 21-step FDE operating model. This is a virtual proof. Not live robots.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98755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987552"/>
            <a:ext cx="2176272" cy="6400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124358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C586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066543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Steps in the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FDE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70048" y="98755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70048" y="987552"/>
            <a:ext cx="2176272" cy="6400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0048" y="124358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E6F55"/>
                </a:solidFill>
                <a:latin typeface="Calibr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2066543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Steps done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in this proof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6048" y="98755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56048" y="987552"/>
            <a:ext cx="2176272" cy="64008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124358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09A24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2066543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Steps left for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live customer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42048" y="98755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42048" y="987552"/>
            <a:ext cx="2176272" cy="6400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8" y="124358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C586A"/>
                </a:solidFill>
                <a:latin typeface="Calibri"/>
              </a:rPr>
              <a:t>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2066543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Written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artifacts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28048" y="98755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28048" y="987552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8048" y="124358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2066543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Stop rules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(hard gates)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336499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3364992"/>
            <a:ext cx="2176272" cy="6400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362102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E6F55"/>
                </a:solidFill>
                <a:latin typeface="Calibri"/>
              </a:rPr>
              <a:t>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444398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Evals passed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(0 fail)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0048" y="336499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70048" y="3364992"/>
            <a:ext cx="2176272" cy="6400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0048" y="362102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3C586A"/>
                </a:solidFill>
                <a:latin typeface="Calibri"/>
              </a:rPr>
              <a:t>76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61488" y="444398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Automated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tests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6048" y="336499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56048" y="3364992"/>
            <a:ext cx="2176272" cy="64008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56048" y="362102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A84B40"/>
                </a:solidFill>
                <a:latin typeface="Calibri"/>
              </a:rPr>
              <a:t>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444398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Refuse-path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test cases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42048" y="336499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242048" y="3364992"/>
            <a:ext cx="2176272" cy="64008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42048" y="362102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D09A24"/>
                </a:solidFill>
                <a:latin typeface="Calibri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444398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Screens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built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8048" y="3364992"/>
            <a:ext cx="2176272" cy="221284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28048" y="3364992"/>
            <a:ext cx="2176272" cy="64008"/>
          </a:xfrm>
          <a:prstGeom prst="rect">
            <a:avLst/>
          </a:prstGeom>
          <a:solidFill>
            <a:srgbClr val="5A6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28048" y="3621024"/>
            <a:ext cx="21762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5A636A"/>
                </a:solidFill>
                <a:latin typeface="Calibri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19488" y="4443984"/>
            <a:ext cx="1993391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Live robots</a:t>
            </a:r>
          </a:p>
          <a:p>
            <a:pPr algn="ctr">
              <a:spcBef>
                <a:spcPts val="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moved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trust  ·  autonomy  ·  not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Trust, autonomy, and production honesty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Trainers score this as: we know what software may do, and we did not fake a live plant.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932688"/>
            <a:ext cx="3566160" cy="365760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96926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software may 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78224" y="932688"/>
            <a:ext cx="4754880" cy="365760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96926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932688"/>
            <a:ext cx="2834640" cy="365760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9692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 this proof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1389888"/>
            <a:ext cx="35661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1389888"/>
            <a:ext cx="73152" cy="713232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1591056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E6F55"/>
                </a:solidFill>
                <a:latin typeface="Calibri"/>
              </a:rPr>
              <a:t>Watch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78224" y="1389888"/>
            <a:ext cx="47548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159105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A3238"/>
                </a:solidFill>
                <a:latin typeface="Calibri"/>
              </a:rPr>
              <a:t>Read the files. Show conflicts.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1389888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1591056"/>
            <a:ext cx="26151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On now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" y="2176272"/>
            <a:ext cx="35661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2176272"/>
            <a:ext cx="73152" cy="713232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37744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E6F55"/>
                </a:solidFill>
                <a:latin typeface="Calibri"/>
              </a:rPr>
              <a:t>Advise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78224" y="2176272"/>
            <a:ext cx="47548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4528" y="23774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A3238"/>
                </a:solidFill>
                <a:latin typeface="Calibri"/>
              </a:rPr>
              <a:t>Miss cutoff. Do not assign this robot.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20" y="2176272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8" y="2377440"/>
            <a:ext cx="26151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E6F55"/>
                </a:solidFill>
                <a:latin typeface="Calibri"/>
              </a:rPr>
              <a:t>On now — human may ignore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2962656"/>
            <a:ext cx="35661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4048" y="2962656"/>
            <a:ext cx="73152" cy="71323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1638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9A24"/>
                </a:solidFill>
                <a:latin typeface="Calibri"/>
              </a:rPr>
              <a:t>Preview 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78224" y="2962656"/>
            <a:ext cx="47548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4528" y="316382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A3238"/>
                </a:solidFill>
                <a:latin typeface="Calibri"/>
              </a:rPr>
              <a:t>ALLOW on screen. Nothing is applied.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2962656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3163824"/>
            <a:ext cx="26151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09A24"/>
                </a:solidFill>
                <a:latin typeface="Calibri"/>
              </a:rPr>
              <a:t>On now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4048" y="3749039"/>
            <a:ext cx="356616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048" y="3749039"/>
            <a:ext cx="73152" cy="71323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3950207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84B40"/>
                </a:solidFill>
                <a:latin typeface="Calibri"/>
              </a:rPr>
              <a:t>Safety / motion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78224" y="3749039"/>
            <a:ext cx="475488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4528" y="3950207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2A3238"/>
                </a:solidFill>
                <a:latin typeface="Calibri"/>
              </a:rPr>
              <a:t>E-stop, zone release, send a robot.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3749039"/>
            <a:ext cx="2834640" cy="71323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3950207"/>
            <a:ext cx="261518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84B40"/>
                </a:solidFill>
                <a:latin typeface="Calibri"/>
              </a:rPr>
              <a:t>Software DENY. Always.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4048" y="4645152"/>
            <a:ext cx="11411712" cy="171907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4754880"/>
            <a:ext cx="1106424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Trust rules we will say out loud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No system is true because of its name. LLM is off the write path. Email is not an approval.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22 evals passed. Assign / pick / zone release stay blocked. physical_control stays disabled.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This is not production. Production needs a new yes, a safety case, and live data — not a demo switch.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moonshot is later  ·  not in this 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Innovation now  ·  moonshot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The brave idea is not “add AI.” It is: refuse to send until the story is true enough.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987552"/>
            <a:ext cx="5623560" cy="52120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987552"/>
            <a:ext cx="73152" cy="521208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1115568"/>
            <a:ext cx="5294376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Innovation in this capstone (earned)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Treat disagreement as a first-class fact — not a bug to hide.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Stop is a valid product answer.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Filter then score — do not let “highest battery” win.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Identity collisions stay visible. We do not guess AMR-044.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A helper may explain a stop later. It still cannot send.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987552"/>
            <a:ext cx="5596128" cy="52120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987552"/>
            <a:ext cx="73152" cy="521208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1115568"/>
            <a:ext cx="5266944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09A24"/>
                </a:solidFill>
                <a:latin typeface="Calibri"/>
              </a:rPr>
              <a:t>Moonshot — only after the tower holds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Explain-only copilot on a refuse (never on assign).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Demand spike: re-rank eligible robots only — still no OT.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Learn which conflicts keep coming back (still keep both qtys).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Not this room: self-healing plant, agent mesh, live dispatch.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If the model is down, gates still run. That is the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ask  ·  90 days only if you say 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The story, and what we need from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35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A636A"/>
                </a:solidFill>
                <a:latin typeface="Calibri"/>
              </a:rPr>
              <a:t>Evidence first. Then a stop. Then a decision — not a live fleet.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987552"/>
            <a:ext cx="5623560" cy="32461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987552"/>
            <a:ext cx="73152" cy="324612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1115568"/>
            <a:ext cx="5294376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Data story in one breath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203 of 712 robots look free and should not move.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7,382 bins disagree. 586 trucks already late.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Zero orders close the chain cleanly in the inherited files.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We still show one agreed path: ORD-009999.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We still show one broken path: ORD-000004. Assign stays blocked.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987552"/>
            <a:ext cx="5596128" cy="32461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987552"/>
            <a:ext cx="73152" cy="324612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5" y="1115568"/>
            <a:ext cx="5266944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Ask of the stakeholder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Accept: this is the problem and a safe control idea.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Do not turn robots on for the showcase.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Start a 90-day track only if you say so — still synthetic at first.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2A3238"/>
                </a:solidFill>
                <a:latin typeface="Calibri"/>
              </a:rPr>
              <a:t>We will not claim production, ISO, or dollar ROI today.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370832"/>
            <a:ext cx="11411712" cy="190195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4370832"/>
            <a:ext cx="73152" cy="1901952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" y="4498848"/>
            <a:ext cx="1108252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09A24"/>
                </a:solidFill>
                <a:latin typeface="Calibri"/>
              </a:rPr>
              <a:t>If they only remember three things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Screens and the floor often do not agree — people still press Go.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DockSight is a watch-and-stop tower, not a robot driver.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A3238"/>
                </a:solidFill>
                <a:latin typeface="Calibri"/>
              </a:rPr>
              <a:t>FDE started with artifacts and named failures, not with an AI suggestion.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business architecture  ·  observe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28016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A3238"/>
                </a:solidFill>
                <a:latin typeface="Calibri"/>
              </a:rPr>
              <a:t>Business architecture: who talks, who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5720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36A"/>
                </a:solidFill>
                <a:latin typeface="Calibri"/>
              </a:rPr>
              <a:t>Same picture as a fleet stack — but the middle is a watch-and-stop tower, not a robot driver.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" y="768096"/>
            <a:ext cx="2084831" cy="38404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768096"/>
            <a:ext cx="64008" cy="38404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822959"/>
            <a:ext cx="18836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Other systems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We do not own these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" y="1207008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" y="1207008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1261872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OMS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takes the 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" y="1938528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1938528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1993392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WMS · ERP · camera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three stock claims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" y="2670048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2608" y="2670048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2724912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WES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makes the jobs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" y="3401568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" y="3401568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456432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Fleet · CMMS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machine + repair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" y="4133087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92608" y="4133087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4187951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TMS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dock and truck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" y="4864607"/>
            <a:ext cx="2084831" cy="658368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" y="4864607"/>
            <a:ext cx="64008" cy="6583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4919471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Emails / lists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not official rules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414016" y="1481328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2414016" y="2944368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ght Arrow 49"/>
          <p:cNvSpPr/>
          <p:nvPr/>
        </p:nvSpPr>
        <p:spPr>
          <a:xfrm>
            <a:off x="2414016" y="4407408"/>
            <a:ext cx="182880" cy="146304"/>
          </a:xfrm>
          <a:prstGeom prst="rightArrow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70048" y="768096"/>
            <a:ext cx="6473952" cy="555955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3C5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70048" y="768096"/>
            <a:ext cx="6473952" cy="36576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61488" y="804672"/>
            <a:ext cx="62910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DockSight  ·  virtual control tower  ·  reads files 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1207008"/>
            <a:ext cx="61447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A636A"/>
                </a:solidFill>
                <a:latin typeface="Calibri"/>
              </a:rPr>
              <a:t>Join on order · robot · task · sku+bin   —   keep both sides if they disagree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16352" y="1572768"/>
            <a:ext cx="1499616" cy="111556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16352" y="1572768"/>
            <a:ext cx="64008" cy="11155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44368" y="1627632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Identity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Is this one robot?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89120" y="1572768"/>
            <a:ext cx="1499616" cy="111556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1572768"/>
            <a:ext cx="64008" cy="11155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17136" y="1627632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Stock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Are the counts trusted?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61888" y="1572768"/>
            <a:ext cx="1499616" cy="111556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61888" y="1572768"/>
            <a:ext cx="64008" cy="11155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89903" y="1627632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Jobs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Do WES and fleet agree?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34656" y="1572768"/>
            <a:ext cx="1499616" cy="111556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34656" y="1572768"/>
            <a:ext cx="64008" cy="1115568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62672" y="1627632"/>
            <a:ext cx="129844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Gates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Cert · repair · zone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16352" y="2816352"/>
            <a:ext cx="6181344" cy="1170432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09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44368" y="2907792"/>
            <a:ext cx="592531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C586A"/>
                </a:solidFill>
                <a:latin typeface="Calibri"/>
              </a:rPr>
              <a:t>Decision</a:t>
            </a:r>
          </a:p>
          <a:p>
            <a:pPr algn="ctr">
              <a:spcBef>
                <a:spcPts val="400"/>
              </a:spcBef>
            </a:pPr>
            <a:r>
              <a:rPr sz="1600" b="1">
                <a:solidFill>
                  <a:srgbClr val="2A3238"/>
                </a:solidFill>
                <a:latin typeface="Calibri"/>
              </a:rPr>
              <a:t>ALLOW    ·    DENY    ·    wait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A636A"/>
                </a:solidFill>
                <a:latin typeface="Calibri"/>
              </a:rPr>
              <a:t>No chatbot on the send path. Assign stays blocked.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70048" y="4133087"/>
            <a:ext cx="6473952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816352" y="4334256"/>
            <a:ext cx="6181344" cy="1810512"/>
          </a:xfrm>
          <a:prstGeom prst="roundRect">
            <a:avLst>
              <a:gd name="adj" fmla="val 12000"/>
            </a:avLst>
          </a:prstGeom>
          <a:solidFill>
            <a:srgbClr val="F3F0E8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44368" y="4425696"/>
            <a:ext cx="592531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84B40"/>
                </a:solidFill>
                <a:latin typeface="Calibri"/>
              </a:rPr>
              <a:t>Physical floor  —  not driven from this screen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Robots   ·   conveyor   ·   dock   ·   truck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A636A"/>
                </a:solidFill>
                <a:latin typeface="Calibri"/>
              </a:rPr>
              <a:t>Telemetry is a claim. We do not POST motion.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08592" y="768096"/>
            <a:ext cx="2487168" cy="384048"/>
          </a:xfrm>
          <a:prstGeom prst="roundRect">
            <a:avLst>
              <a:gd name="adj" fmla="val 12000"/>
            </a:avLst>
          </a:prstGeom>
          <a:solidFill>
            <a:srgbClr val="F3E6C0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08592" y="768096"/>
            <a:ext cx="64008" cy="384048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36608" y="8229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E6F55"/>
                </a:solidFill>
                <a:latin typeface="Calibri"/>
              </a:rPr>
              <a:t>People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See stop or go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08592" y="1243584"/>
            <a:ext cx="2487168" cy="105156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08592" y="1243584"/>
            <a:ext cx="64008" cy="105156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36608" y="1298448"/>
            <a:ext cx="2286000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Supervisor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The person who must press Go — or wait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08592" y="2395728"/>
            <a:ext cx="2487168" cy="1874519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08592" y="2395728"/>
            <a:ext cx="64008" cy="1874519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36608" y="2450592"/>
            <a:ext cx="2286000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Screens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Home wall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Order path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Contention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Browse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08592" y="4370832"/>
            <a:ext cx="2487168" cy="86868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308592" y="4370832"/>
            <a:ext cx="64008" cy="86868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436608" y="4425696"/>
            <a:ext cx="2286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C586A"/>
                </a:solidFill>
                <a:latin typeface="Calibri"/>
              </a:rPr>
              <a:t>Files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CSV + SQLite  ·  not cleaned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308592" y="5340096"/>
            <a:ext cx="2487168" cy="987552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08592" y="5340096"/>
            <a:ext cx="64008" cy="987552"/>
          </a:xfrm>
          <a:prstGeom prst="rect">
            <a:avLst/>
          </a:prstGeom>
          <a:solidFill>
            <a:srgbClr val="A8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36608" y="5394959"/>
            <a:ext cx="22860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84B40"/>
                </a:solidFill>
                <a:latin typeface="Calibri"/>
              </a:rPr>
              <a:t>Out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2A3238"/>
                </a:solidFill>
                <a:latin typeface="Calibri"/>
              </a:rPr>
              <a:t>No live robot  ·  no WMS write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6132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10996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502920"/>
            <a:ext cx="41148" cy="5806440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33888" y="123444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33888" y="233172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33888" y="342900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33888" y="452628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33888" y="5623560"/>
            <a:ext cx="1207008" cy="32004"/>
          </a:xfrm>
          <a:prstGeom prst="rect">
            <a:avLst/>
          </a:prstGeom>
          <a:solidFill>
            <a:srgbClr val="C8C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9144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164592"/>
            <a:ext cx="1965960" cy="347472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116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BAY A   DC-01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00232" y="201168"/>
            <a:ext cx="658368" cy="1097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35640" y="329184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45367" y="457200"/>
            <a:ext cx="256032" cy="146304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74552" y="493776"/>
            <a:ext cx="420624" cy="73152"/>
          </a:xfrm>
          <a:prstGeom prst="rect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0504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12296" y="822960"/>
            <a:ext cx="256032" cy="256032"/>
          </a:xfrm>
          <a:prstGeom prst="ellipse">
            <a:avLst/>
          </a:prstGeom>
          <a:solidFill>
            <a:srgbClr val="2E4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45367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877824"/>
            <a:ext cx="146304" cy="146304"/>
          </a:xfrm>
          <a:prstGeom prst="ellipse">
            <a:avLst/>
          </a:prstGeom>
          <a:solidFill>
            <a:srgbClr val="F3E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6620256"/>
            <a:ext cx="11338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3F0E8"/>
                </a:solidFill>
                <a:latin typeface="Calibri"/>
              </a:rPr>
              <a:t>DockSight  ·  working deck  ·  theme 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14630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A3238"/>
                </a:solidFill>
                <a:latin typeface="Calibri"/>
              </a:rPr>
              <a:t>DockSight  ·  sample theme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21792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36A"/>
                </a:solidFill>
                <a:latin typeface="Calibri"/>
              </a:rPr>
              <a:t>Light warehouse floor  ·  steel racks  ·  aisle tape  ·  one AMR.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1115568"/>
            <a:ext cx="3703320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1115568"/>
            <a:ext cx="73152" cy="5074920"/>
          </a:xfrm>
          <a:prstGeom prst="rect">
            <a:avLst/>
          </a:prstGeom>
          <a:solidFill>
            <a:srgbClr val="3C5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1243584"/>
            <a:ext cx="337413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586A"/>
                </a:solidFill>
                <a:latin typeface="Calibri"/>
              </a:rPr>
              <a:t>Look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Paper floor, not dark navy.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Yellow tape like a warehouse aisle.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Steel bay sign and rack lines.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One small robot — not a collage.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Cards sit on the floor like pallets.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24528" y="1115568"/>
            <a:ext cx="3703320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24528" y="1115568"/>
            <a:ext cx="73152" cy="5074920"/>
          </a:xfrm>
          <a:prstGeom prst="rect">
            <a:avLst/>
          </a:prstGeom>
          <a:solidFill>
            <a:srgbClr val="D09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1243584"/>
            <a:ext cx="3374136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09A24"/>
                </a:solidFill>
                <a:latin typeface="Calibri"/>
              </a:rPr>
              <a:t>How we will use it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You send the prompt for each slide.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We keep this chrome and swap the words.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No extra icons unless you ask.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Notes go under the slide for you to speak.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1115568"/>
            <a:ext cx="3730752" cy="5074920"/>
          </a:xfrm>
          <a:prstGeom prst="roundRect">
            <a:avLst>
              <a:gd name="adj" fmla="val 12000"/>
            </a:avLst>
          </a:prstGeom>
          <a:solidFill>
            <a:srgbClr val="FFFCF7"/>
          </a:solidFill>
          <a:ln>
            <a:solidFill>
              <a:srgbClr val="D4CC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1115568"/>
            <a:ext cx="73152" cy="5074920"/>
          </a:xfrm>
          <a:prstGeom prst="rect">
            <a:avLst/>
          </a:prstGeom>
          <a:solidFill>
            <a:srgbClr val="3E6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6" y="1243584"/>
            <a:ext cx="3401568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E6F55"/>
                </a:solidFill>
                <a:latin typeface="Calibri"/>
              </a:rPr>
              <a:t>Placeholder copy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Problem: systems disagree. People still hit Go.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Solution: watch-and-stop before assign.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A3238"/>
                </a:solidFill>
                <a:latin typeface="Calibri"/>
              </a:rPr>
              <a:t>This box is only to judge type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