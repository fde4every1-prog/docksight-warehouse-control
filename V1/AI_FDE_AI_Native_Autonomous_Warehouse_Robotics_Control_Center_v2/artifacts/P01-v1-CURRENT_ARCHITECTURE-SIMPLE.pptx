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103120"/>
            <a:ext cx="10972800" cy="365760"/>
          </a:xfrm>
          <a:prstGeom prst="rect">
            <a:avLst/>
          </a:prstGeom>
          <a:noFill/>
        </p:spPr>
        <p:txBody>
          <a:bodyPr wrap="square" lIns="54864" rIns="54864">
            <a:spAutoFit/>
          </a:bodyPr>
          <a:lstStyle/>
          <a:p>
            <a:pPr algn="l"/>
            <a:r>
              <a:rPr sz="1600" b="1">
                <a:solidFill>
                  <a:srgbClr val="C5D8E8"/>
                </a:solidFill>
                <a:latin typeface="Calibri"/>
              </a:rPr>
              <a:t>CURRENT ARCHITECTURE</a:t>
            </a:r>
          </a:p>
        </p:txBody>
      </p:sp>
      <p:sp>
        <p:nvSpPr>
          <p:cNvPr id="4" name="TextBox 3"/>
          <p:cNvSpPr txBox="1"/>
          <p:nvPr/>
        </p:nvSpPr>
        <p:spPr>
          <a:xfrm>
            <a:off x="640080" y="2560320"/>
            <a:ext cx="10972800" cy="914400"/>
          </a:xfrm>
          <a:prstGeom prst="rect">
            <a:avLst/>
          </a:prstGeom>
          <a:noFill/>
        </p:spPr>
        <p:txBody>
          <a:bodyPr wrap="square" lIns="54864" rIns="54864">
            <a:spAutoFit/>
          </a:bodyPr>
          <a:lstStyle/>
          <a:p>
            <a:pPr algn="l"/>
            <a:r>
              <a:rPr sz="3600" b="1">
                <a:solidFill>
                  <a:srgbClr val="FFFFFF"/>
                </a:solidFill>
                <a:latin typeface="Calibri"/>
              </a:rPr>
              <a:t>Warehouse robotics control center</a:t>
            </a:r>
          </a:p>
        </p:txBody>
      </p:sp>
      <p:sp>
        <p:nvSpPr>
          <p:cNvPr id="5" name="TextBox 4"/>
          <p:cNvSpPr txBox="1"/>
          <p:nvPr/>
        </p:nvSpPr>
        <p:spPr>
          <a:xfrm>
            <a:off x="640080" y="3657600"/>
            <a:ext cx="10972800" cy="457200"/>
          </a:xfrm>
          <a:prstGeom prst="rect">
            <a:avLst/>
          </a:prstGeom>
          <a:noFill/>
        </p:spPr>
        <p:txBody>
          <a:bodyPr wrap="square" lIns="54864" rIns="54864">
            <a:spAutoFit/>
          </a:bodyPr>
          <a:lstStyle/>
          <a:p>
            <a:pPr algn="l"/>
            <a:r>
              <a:rPr sz="1600" b="0">
                <a:solidFill>
                  <a:srgbClr val="D6E2EA"/>
                </a:solidFill>
                <a:latin typeface="Calibri"/>
              </a:rPr>
              <a:t>Baseline 2.0.0  ·  from docs/03  ·  simple view</a:t>
            </a:r>
          </a:p>
        </p:txBody>
      </p:sp>
      <p:sp>
        <p:nvSpPr>
          <p:cNvPr id="6" name="TextBox 5"/>
          <p:cNvSpPr txBox="1"/>
          <p:nvPr/>
        </p:nvSpPr>
        <p:spPr>
          <a:xfrm>
            <a:off x="640080" y="5760720"/>
            <a:ext cx="10972800" cy="365760"/>
          </a:xfrm>
          <a:prstGeom prst="rect">
            <a:avLst/>
          </a:prstGeom>
          <a:noFill/>
        </p:spPr>
        <p:txBody>
          <a:bodyPr wrap="square" lIns="54864" rIns="54864">
            <a:spAutoFit/>
          </a:bodyPr>
          <a:lstStyle/>
          <a:p>
            <a:pPr algn="l"/>
            <a:r>
              <a:rPr sz="1800" b="1">
                <a:solidFill>
                  <a:srgbClr val="B86E00"/>
                </a:solidFill>
                <a:latin typeface="Calibri"/>
              </a:rPr>
              <a:t>No component has complete warehouse truth.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0F2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10972800" cy="411480"/>
          </a:xfrm>
          <a:prstGeom prst="rect">
            <a:avLst/>
          </a:prstGeom>
          <a:noFill/>
        </p:spPr>
        <p:txBody>
          <a:bodyPr wrap="square" lIns="54864" rIns="54864">
            <a:spAutoFit/>
          </a:bodyPr>
          <a:lstStyle/>
          <a:p>
            <a:pPr algn="l"/>
            <a:r>
              <a:rPr sz="2400" b="1">
                <a:solidFill>
                  <a:srgbClr val="FFFFFF"/>
                </a:solidFill>
                <a:latin typeface="Calibri"/>
              </a:rPr>
              <a:t>How an order moves today</a:t>
            </a:r>
          </a:p>
        </p:txBody>
      </p:sp>
      <p:sp>
        <p:nvSpPr>
          <p:cNvPr id="4" name="Rounded Rectangle 3"/>
          <p:cNvSpPr/>
          <p:nvPr/>
        </p:nvSpPr>
        <p:spPr>
          <a:xfrm>
            <a:off x="365760" y="1143000"/>
            <a:ext cx="1298448" cy="502920"/>
          </a:xfrm>
          <a:prstGeom prst="roundRect">
            <a:avLst>
              <a:gd name="adj" fmla="val 10000"/>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100" b="1">
                <a:solidFill>
                  <a:srgbClr val="FFFFFF"/>
                </a:solidFill>
                <a:latin typeface="Calibri"/>
              </a:rPr>
              <a:t>ERP</a:t>
            </a:r>
          </a:p>
        </p:txBody>
      </p:sp>
      <p:sp>
        <p:nvSpPr>
          <p:cNvPr id="5" name="TextBox 4"/>
          <p:cNvSpPr txBox="1"/>
          <p:nvPr/>
        </p:nvSpPr>
        <p:spPr>
          <a:xfrm>
            <a:off x="1664207" y="1188720"/>
            <a:ext cx="201168" cy="411480"/>
          </a:xfrm>
          <a:prstGeom prst="rect">
            <a:avLst/>
          </a:prstGeom>
          <a:noFill/>
        </p:spPr>
        <p:txBody>
          <a:bodyPr wrap="square" lIns="54864" rIns="54864">
            <a:spAutoFit/>
          </a:bodyPr>
          <a:lstStyle/>
          <a:p>
            <a:pPr algn="ctr"/>
            <a:r>
              <a:rPr sz="1600" b="1">
                <a:solidFill>
                  <a:srgbClr val="0F2C4C"/>
                </a:solidFill>
                <a:latin typeface="Calibri"/>
              </a:rPr>
              <a:t>→</a:t>
            </a:r>
          </a:p>
        </p:txBody>
      </p:sp>
      <p:sp>
        <p:nvSpPr>
          <p:cNvPr id="6" name="Rounded Rectangle 5"/>
          <p:cNvSpPr/>
          <p:nvPr/>
        </p:nvSpPr>
        <p:spPr>
          <a:xfrm>
            <a:off x="1847088" y="1143000"/>
            <a:ext cx="1298448" cy="502920"/>
          </a:xfrm>
          <a:prstGeom prst="roundRect">
            <a:avLst>
              <a:gd name="adj" fmla="val 10000"/>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100" b="1">
                <a:solidFill>
                  <a:srgbClr val="FFFFFF"/>
                </a:solidFill>
                <a:latin typeface="Calibri"/>
              </a:rPr>
              <a:t>OMS</a:t>
            </a:r>
          </a:p>
        </p:txBody>
      </p:sp>
      <p:sp>
        <p:nvSpPr>
          <p:cNvPr id="7" name="TextBox 6"/>
          <p:cNvSpPr txBox="1"/>
          <p:nvPr/>
        </p:nvSpPr>
        <p:spPr>
          <a:xfrm>
            <a:off x="3145536" y="1188720"/>
            <a:ext cx="201168" cy="411480"/>
          </a:xfrm>
          <a:prstGeom prst="rect">
            <a:avLst/>
          </a:prstGeom>
          <a:noFill/>
        </p:spPr>
        <p:txBody>
          <a:bodyPr wrap="square" lIns="54864" rIns="54864">
            <a:spAutoFit/>
          </a:bodyPr>
          <a:lstStyle/>
          <a:p>
            <a:pPr algn="ctr"/>
            <a:r>
              <a:rPr sz="1600" b="1">
                <a:solidFill>
                  <a:srgbClr val="0F2C4C"/>
                </a:solidFill>
                <a:latin typeface="Calibri"/>
              </a:rPr>
              <a:t>→</a:t>
            </a:r>
          </a:p>
        </p:txBody>
      </p:sp>
      <p:sp>
        <p:nvSpPr>
          <p:cNvPr id="8" name="Rounded Rectangle 7"/>
          <p:cNvSpPr/>
          <p:nvPr/>
        </p:nvSpPr>
        <p:spPr>
          <a:xfrm>
            <a:off x="3328415" y="1143000"/>
            <a:ext cx="1298448" cy="502920"/>
          </a:xfrm>
          <a:prstGeom prst="roundRect">
            <a:avLst>
              <a:gd name="adj" fmla="val 10000"/>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100" b="1">
                <a:solidFill>
                  <a:srgbClr val="FFFFFF"/>
                </a:solidFill>
                <a:latin typeface="Calibri"/>
              </a:rPr>
              <a:t>WMS</a:t>
            </a:r>
          </a:p>
        </p:txBody>
      </p:sp>
      <p:sp>
        <p:nvSpPr>
          <p:cNvPr id="9" name="TextBox 8"/>
          <p:cNvSpPr txBox="1"/>
          <p:nvPr/>
        </p:nvSpPr>
        <p:spPr>
          <a:xfrm>
            <a:off x="4626864" y="1188720"/>
            <a:ext cx="201168" cy="411480"/>
          </a:xfrm>
          <a:prstGeom prst="rect">
            <a:avLst/>
          </a:prstGeom>
          <a:noFill/>
        </p:spPr>
        <p:txBody>
          <a:bodyPr wrap="square" lIns="54864" rIns="54864">
            <a:spAutoFit/>
          </a:bodyPr>
          <a:lstStyle/>
          <a:p>
            <a:pPr algn="ctr"/>
            <a:r>
              <a:rPr sz="1600" b="1">
                <a:solidFill>
                  <a:srgbClr val="0F2C4C"/>
                </a:solidFill>
                <a:latin typeface="Calibri"/>
              </a:rPr>
              <a:t>→</a:t>
            </a:r>
          </a:p>
        </p:txBody>
      </p:sp>
      <p:sp>
        <p:nvSpPr>
          <p:cNvPr id="10" name="Rounded Rectangle 9"/>
          <p:cNvSpPr/>
          <p:nvPr/>
        </p:nvSpPr>
        <p:spPr>
          <a:xfrm>
            <a:off x="4809744" y="1143000"/>
            <a:ext cx="1298448" cy="502920"/>
          </a:xfrm>
          <a:prstGeom prst="roundRect">
            <a:avLst>
              <a:gd name="adj" fmla="val 10000"/>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100" b="1">
                <a:solidFill>
                  <a:srgbClr val="FFFFFF"/>
                </a:solidFill>
                <a:latin typeface="Calibri"/>
              </a:rPr>
              <a:t>WES</a:t>
            </a:r>
          </a:p>
        </p:txBody>
      </p:sp>
      <p:sp>
        <p:nvSpPr>
          <p:cNvPr id="11" name="TextBox 10"/>
          <p:cNvSpPr txBox="1"/>
          <p:nvPr/>
        </p:nvSpPr>
        <p:spPr>
          <a:xfrm>
            <a:off x="6108192" y="1188720"/>
            <a:ext cx="201168" cy="411480"/>
          </a:xfrm>
          <a:prstGeom prst="rect">
            <a:avLst/>
          </a:prstGeom>
          <a:noFill/>
        </p:spPr>
        <p:txBody>
          <a:bodyPr wrap="square" lIns="54864" rIns="54864">
            <a:spAutoFit/>
          </a:bodyPr>
          <a:lstStyle/>
          <a:p>
            <a:pPr algn="ctr"/>
            <a:r>
              <a:rPr sz="1600" b="1">
                <a:solidFill>
                  <a:srgbClr val="0F2C4C"/>
                </a:solidFill>
                <a:latin typeface="Calibri"/>
              </a:rPr>
              <a:t>→</a:t>
            </a:r>
          </a:p>
        </p:txBody>
      </p:sp>
      <p:sp>
        <p:nvSpPr>
          <p:cNvPr id="12" name="Rounded Rectangle 11"/>
          <p:cNvSpPr/>
          <p:nvPr/>
        </p:nvSpPr>
        <p:spPr>
          <a:xfrm>
            <a:off x="6291072" y="1143000"/>
            <a:ext cx="1298448" cy="502920"/>
          </a:xfrm>
          <a:prstGeom prst="roundRect">
            <a:avLst>
              <a:gd name="adj" fmla="val 10000"/>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100" b="1">
                <a:solidFill>
                  <a:srgbClr val="FFFFFF"/>
                </a:solidFill>
                <a:latin typeface="Calibri"/>
              </a:rPr>
              <a:t>Fleet / WCS</a:t>
            </a:r>
          </a:p>
        </p:txBody>
      </p:sp>
      <p:sp>
        <p:nvSpPr>
          <p:cNvPr id="13" name="TextBox 12"/>
          <p:cNvSpPr txBox="1"/>
          <p:nvPr/>
        </p:nvSpPr>
        <p:spPr>
          <a:xfrm>
            <a:off x="7589520" y="1188720"/>
            <a:ext cx="201168" cy="411480"/>
          </a:xfrm>
          <a:prstGeom prst="rect">
            <a:avLst/>
          </a:prstGeom>
          <a:noFill/>
        </p:spPr>
        <p:txBody>
          <a:bodyPr wrap="square" lIns="54864" rIns="54864">
            <a:spAutoFit/>
          </a:bodyPr>
          <a:lstStyle/>
          <a:p>
            <a:pPr algn="ctr"/>
            <a:r>
              <a:rPr sz="1600" b="1">
                <a:solidFill>
                  <a:srgbClr val="0F2C4C"/>
                </a:solidFill>
                <a:latin typeface="Calibri"/>
              </a:rPr>
              <a:t>→</a:t>
            </a:r>
          </a:p>
        </p:txBody>
      </p:sp>
      <p:sp>
        <p:nvSpPr>
          <p:cNvPr id="14" name="Rounded Rectangle 13"/>
          <p:cNvSpPr/>
          <p:nvPr/>
        </p:nvSpPr>
        <p:spPr>
          <a:xfrm>
            <a:off x="7772400" y="1143000"/>
            <a:ext cx="1298448" cy="502920"/>
          </a:xfrm>
          <a:prstGeom prst="roundRect">
            <a:avLst>
              <a:gd name="adj" fmla="val 10000"/>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100" b="1">
                <a:solidFill>
                  <a:srgbClr val="FFFFFF"/>
                </a:solidFill>
                <a:latin typeface="Calibri"/>
              </a:rPr>
              <a:t>Robots</a:t>
            </a:r>
          </a:p>
        </p:txBody>
      </p:sp>
      <p:sp>
        <p:nvSpPr>
          <p:cNvPr id="15" name="TextBox 14"/>
          <p:cNvSpPr txBox="1"/>
          <p:nvPr/>
        </p:nvSpPr>
        <p:spPr>
          <a:xfrm>
            <a:off x="9070848" y="1188720"/>
            <a:ext cx="201168" cy="411480"/>
          </a:xfrm>
          <a:prstGeom prst="rect">
            <a:avLst/>
          </a:prstGeom>
          <a:noFill/>
        </p:spPr>
        <p:txBody>
          <a:bodyPr wrap="square" lIns="54864" rIns="54864">
            <a:spAutoFit/>
          </a:bodyPr>
          <a:lstStyle/>
          <a:p>
            <a:pPr algn="ctr"/>
            <a:r>
              <a:rPr sz="1600" b="1">
                <a:solidFill>
                  <a:srgbClr val="0F2C4C"/>
                </a:solidFill>
                <a:latin typeface="Calibri"/>
              </a:rPr>
              <a:t>→</a:t>
            </a:r>
          </a:p>
        </p:txBody>
      </p:sp>
      <p:sp>
        <p:nvSpPr>
          <p:cNvPr id="16" name="Rounded Rectangle 15"/>
          <p:cNvSpPr/>
          <p:nvPr/>
        </p:nvSpPr>
        <p:spPr>
          <a:xfrm>
            <a:off x="9253728" y="1143000"/>
            <a:ext cx="1298448" cy="502920"/>
          </a:xfrm>
          <a:prstGeom prst="roundRect">
            <a:avLst>
              <a:gd name="adj" fmla="val 10000"/>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100" b="1">
                <a:solidFill>
                  <a:srgbClr val="FFFFFF"/>
                </a:solidFill>
                <a:latin typeface="Calibri"/>
              </a:rPr>
              <a:t>Floor</a:t>
            </a:r>
          </a:p>
        </p:txBody>
      </p:sp>
      <p:sp>
        <p:nvSpPr>
          <p:cNvPr id="17" name="TextBox 16"/>
          <p:cNvSpPr txBox="1"/>
          <p:nvPr/>
        </p:nvSpPr>
        <p:spPr>
          <a:xfrm>
            <a:off x="10552176" y="1188720"/>
            <a:ext cx="201168" cy="411480"/>
          </a:xfrm>
          <a:prstGeom prst="rect">
            <a:avLst/>
          </a:prstGeom>
          <a:noFill/>
        </p:spPr>
        <p:txBody>
          <a:bodyPr wrap="square" lIns="54864" rIns="54864">
            <a:spAutoFit/>
          </a:bodyPr>
          <a:lstStyle/>
          <a:p>
            <a:pPr algn="ctr"/>
            <a:r>
              <a:rPr sz="1600" b="1">
                <a:solidFill>
                  <a:srgbClr val="0F2C4C"/>
                </a:solidFill>
                <a:latin typeface="Calibri"/>
              </a:rPr>
              <a:t>→</a:t>
            </a:r>
          </a:p>
        </p:txBody>
      </p:sp>
      <p:sp>
        <p:nvSpPr>
          <p:cNvPr id="18" name="Rounded Rectangle 17"/>
          <p:cNvSpPr/>
          <p:nvPr/>
        </p:nvSpPr>
        <p:spPr>
          <a:xfrm>
            <a:off x="10735055" y="1143000"/>
            <a:ext cx="1298448" cy="502920"/>
          </a:xfrm>
          <a:prstGeom prst="roundRect">
            <a:avLst>
              <a:gd name="adj" fmla="val 10000"/>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100" b="1">
                <a:solidFill>
                  <a:srgbClr val="FFFFFF"/>
                </a:solidFill>
                <a:latin typeface="Calibri"/>
              </a:rPr>
              <a:t>TMS</a:t>
            </a:r>
          </a:p>
        </p:txBody>
      </p:sp>
      <p:sp>
        <p:nvSpPr>
          <p:cNvPr id="19" name="TextBox 18"/>
          <p:cNvSpPr txBox="1"/>
          <p:nvPr/>
        </p:nvSpPr>
        <p:spPr>
          <a:xfrm>
            <a:off x="457200" y="1874519"/>
            <a:ext cx="10972800" cy="320040"/>
          </a:xfrm>
          <a:prstGeom prst="rect">
            <a:avLst/>
          </a:prstGeom>
          <a:noFill/>
        </p:spPr>
        <p:txBody>
          <a:bodyPr wrap="square" lIns="54864" rIns="54864">
            <a:spAutoFit/>
          </a:bodyPr>
          <a:lstStyle/>
          <a:p>
            <a:pPr algn="l"/>
            <a:r>
              <a:rPr sz="1300" b="1">
                <a:solidFill>
                  <a:srgbClr val="5C6773"/>
                </a:solidFill>
                <a:latin typeface="Calibri"/>
              </a:rPr>
              <a:t>Also connected</a:t>
            </a:r>
          </a:p>
        </p:txBody>
      </p:sp>
      <p:sp>
        <p:nvSpPr>
          <p:cNvPr id="20" name="Rounded Rectangle 19"/>
          <p:cNvSpPr/>
          <p:nvPr/>
        </p:nvSpPr>
        <p:spPr>
          <a:xfrm>
            <a:off x="457200" y="2240280"/>
            <a:ext cx="2194560" cy="502920"/>
          </a:xfrm>
          <a:prstGeom prst="roundRect">
            <a:avLst>
              <a:gd name="adj" fmla="val 10000"/>
            </a:avLst>
          </a:prstGeom>
          <a:solidFill>
            <a:srgbClr val="1A6B6B"/>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latin typeface="Calibri"/>
              </a:rPr>
              <a:t>Vision / cameras</a:t>
            </a:r>
          </a:p>
        </p:txBody>
      </p:sp>
      <p:sp>
        <p:nvSpPr>
          <p:cNvPr id="21" name="Rounded Rectangle 20"/>
          <p:cNvSpPr/>
          <p:nvPr/>
        </p:nvSpPr>
        <p:spPr>
          <a:xfrm>
            <a:off x="2834640" y="2240280"/>
            <a:ext cx="2194560" cy="502920"/>
          </a:xfrm>
          <a:prstGeom prst="roundRect">
            <a:avLst>
              <a:gd name="adj" fmla="val 10000"/>
            </a:avLst>
          </a:prstGeom>
          <a:solidFill>
            <a:srgbClr val="1A6B6B"/>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latin typeface="Calibri"/>
              </a:rPr>
              <a:t>Safety / IoT</a:t>
            </a:r>
          </a:p>
        </p:txBody>
      </p:sp>
      <p:sp>
        <p:nvSpPr>
          <p:cNvPr id="22" name="Rounded Rectangle 21"/>
          <p:cNvSpPr/>
          <p:nvPr/>
        </p:nvSpPr>
        <p:spPr>
          <a:xfrm>
            <a:off x="5212080" y="2240280"/>
            <a:ext cx="3017520" cy="502920"/>
          </a:xfrm>
          <a:prstGeom prst="roundRect">
            <a:avLst>
              <a:gd name="adj" fmla="val 10000"/>
            </a:avLst>
          </a:prstGeom>
          <a:solidFill>
            <a:srgbClr val="1A6B6B"/>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latin typeface="Calibri"/>
              </a:rPr>
              <a:t>PLC / conveyor / ASRS</a:t>
            </a:r>
          </a:p>
        </p:txBody>
      </p:sp>
      <p:sp>
        <p:nvSpPr>
          <p:cNvPr id="23" name="Rounded Rectangle 22"/>
          <p:cNvSpPr/>
          <p:nvPr/>
        </p:nvSpPr>
        <p:spPr>
          <a:xfrm>
            <a:off x="8412480" y="2240280"/>
            <a:ext cx="1645920" cy="502920"/>
          </a:xfrm>
          <a:prstGeom prst="roundRect">
            <a:avLst>
              <a:gd name="adj" fmla="val 10000"/>
            </a:avLst>
          </a:prstGeom>
          <a:solidFill>
            <a:srgbClr val="1A6B6B"/>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latin typeface="Calibri"/>
              </a:rPr>
              <a:t>Labor</a:t>
            </a:r>
          </a:p>
        </p:txBody>
      </p:sp>
      <p:sp>
        <p:nvSpPr>
          <p:cNvPr id="24" name="Rounded Rectangle 23"/>
          <p:cNvSpPr/>
          <p:nvPr/>
        </p:nvSpPr>
        <p:spPr>
          <a:xfrm>
            <a:off x="10241280" y="2240280"/>
            <a:ext cx="1463040" cy="502920"/>
          </a:xfrm>
          <a:prstGeom prst="roundRect">
            <a:avLst>
              <a:gd name="adj" fmla="val 10000"/>
            </a:avLst>
          </a:prstGeom>
          <a:solidFill>
            <a:srgbClr val="1A6B6B"/>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latin typeface="Calibri"/>
              </a:rPr>
              <a:t>CMMS</a:t>
            </a:r>
          </a:p>
        </p:txBody>
      </p:sp>
      <p:sp>
        <p:nvSpPr>
          <p:cNvPr id="25" name="Rounded Rectangle 24"/>
          <p:cNvSpPr/>
          <p:nvPr/>
        </p:nvSpPr>
        <p:spPr>
          <a:xfrm>
            <a:off x="457200" y="3017520"/>
            <a:ext cx="11247120" cy="640080"/>
          </a:xfrm>
          <a:prstGeom prst="roundRect">
            <a:avLst>
              <a:gd name="adj" fmla="val 10000"/>
            </a:avLst>
          </a:prstGeom>
          <a:solidFill>
            <a:srgbClr val="B86E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latin typeface="Calibri"/>
              </a:rPr>
              <a:t>Shadow ops: email / Excel / radio  —  used when official systems lag</a:t>
            </a:r>
          </a:p>
        </p:txBody>
      </p:sp>
      <p:sp>
        <p:nvSpPr>
          <p:cNvPr id="26" name="TextBox 25"/>
          <p:cNvSpPr txBox="1"/>
          <p:nvPr/>
        </p:nvSpPr>
        <p:spPr>
          <a:xfrm>
            <a:off x="457200" y="3931920"/>
            <a:ext cx="10972800" cy="2194560"/>
          </a:xfrm>
          <a:prstGeom prst="rect">
            <a:avLst/>
          </a:prstGeom>
          <a:noFill/>
        </p:spPr>
        <p:txBody>
          <a:bodyPr wrap="square" lIns="54864" rIns="54864">
            <a:spAutoFit/>
          </a:bodyPr>
          <a:lstStyle/>
          <a:p>
            <a:pPr algn="l"/>
            <a:r>
              <a:rPr sz="1600" b="0">
                <a:solidFill>
                  <a:srgbClr val="1A1D21"/>
                </a:solidFill>
                <a:latin typeface="Calibri"/>
              </a:rPr>
              <a:t>ERP books the qty.  OMS takes the order and cutoff.  WMS owns bins.  WES creates tasks.
Fleet and WCS move robots and machines.  Floor is physical truth.  TMS books the truck.
CMMS talks to fleet.  Vision and safety sit beside execution.  Humans still glue exceptions.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0F2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10972800" cy="411480"/>
          </a:xfrm>
          <a:prstGeom prst="rect">
            <a:avLst/>
          </a:prstGeom>
          <a:noFill/>
        </p:spPr>
        <p:txBody>
          <a:bodyPr wrap="square" lIns="54864" rIns="54864">
            <a:spAutoFit/>
          </a:bodyPr>
          <a:lstStyle/>
          <a:p>
            <a:pPr algn="l"/>
            <a:r>
              <a:rPr sz="2400" b="1">
                <a:solidFill>
                  <a:srgbClr val="FFFFFF"/>
                </a:solidFill>
                <a:latin typeface="Calibri"/>
              </a:rPr>
              <a:t>What that means</a:t>
            </a:r>
          </a:p>
        </p:txBody>
      </p:sp>
      <p:sp>
        <p:nvSpPr>
          <p:cNvPr id="4" name="Rounded Rectangle 3"/>
          <p:cNvSpPr/>
          <p:nvPr/>
        </p:nvSpPr>
        <p:spPr>
          <a:xfrm>
            <a:off x="457200" y="1143000"/>
            <a:ext cx="5486400" cy="2194560"/>
          </a:xfrm>
          <a:prstGeom prst="roundRect">
            <a:avLst>
              <a:gd name="adj" fmla="val 10000"/>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FFFFFF"/>
                </a:solidFill>
                <a:latin typeface="Calibri"/>
              </a:rPr>
              <a:t>Digital ≠ physical
WMS, ERP, camera and email
can disagree on the same bin</a:t>
            </a:r>
          </a:p>
        </p:txBody>
      </p:sp>
      <p:sp>
        <p:nvSpPr>
          <p:cNvPr id="5" name="Rounded Rectangle 4"/>
          <p:cNvSpPr/>
          <p:nvPr/>
        </p:nvSpPr>
        <p:spPr>
          <a:xfrm>
            <a:off x="6217920" y="1143000"/>
            <a:ext cx="5486400" cy="2194560"/>
          </a:xfrm>
          <a:prstGeom prst="roundRect">
            <a:avLst>
              <a:gd name="adj" fmla="val 10000"/>
            </a:avLst>
          </a:prstGeom>
          <a:solidFill>
            <a:srgbClr val="1A6B6B"/>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FFFFFF"/>
                </a:solidFill>
                <a:latin typeface="Calibri"/>
              </a:rPr>
              <a:t>Available ≠ suitable
Fleet can say AVAILABLE while
cert is expired or CMMS is open</a:t>
            </a:r>
          </a:p>
        </p:txBody>
      </p:sp>
      <p:sp>
        <p:nvSpPr>
          <p:cNvPr id="6" name="Rounded Rectangle 5"/>
          <p:cNvSpPr/>
          <p:nvPr/>
        </p:nvSpPr>
        <p:spPr>
          <a:xfrm>
            <a:off x="457200" y="3566160"/>
            <a:ext cx="11247120" cy="2194560"/>
          </a:xfrm>
          <a:prstGeom prst="roundRect">
            <a:avLst>
              <a:gd name="adj" fmla="val 10000"/>
            </a:avLst>
          </a:prstGeom>
          <a:solidFill>
            <a:srgbClr val="0F2C4C"/>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2000" b="1">
                <a:solidFill>
                  <a:srgbClr val="FFFFFF"/>
                </a:solidFill>
                <a:latin typeface="Calibri"/>
              </a:rPr>
              <a:t>This repo observes. It does not drive robots.
physical_control = disabled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