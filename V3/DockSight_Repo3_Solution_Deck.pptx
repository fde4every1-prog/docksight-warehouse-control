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Value</c:v>
                </c:pt>
              </c:strCache>
            </c:strRef>
          </c:tx>
          <c:dPt>
            <c:idx val="0"/>
            <c:spPr>
              <a:solidFill>
                <a:srgbClr val="747480"/>
              </a:solidFill>
              <a:ln>
                <a:solidFill>
                  <a:srgbClr val="1A1A24"/>
                </a:solidFill>
              </a:ln>
            </c:spPr>
          </c:dPt>
          <c:dPt>
            <c:idx val="1"/>
            <c:spPr>
              <a:solidFill>
                <a:srgbClr val="FFE600"/>
              </a:solidFill>
              <a:ln>
                <a:solidFill>
                  <a:srgbClr val="1A1A24"/>
                </a:solidFill>
              </a:ln>
            </c:spPr>
          </c:dPt>
          <c:cat>
            <c:strRef>
              <c:f>Sheet1!$A$2:$A$3</c:f>
              <c:strCache>
                <c:ptCount val="2"/>
                <c:pt idx="0">
                  <c:v>Current state</c:v>
                </c:pt>
                <c:pt idx="1">
                  <c:v>V3 replay dataset</c:v>
                </c:pt>
              </c:strCache>
            </c:strRef>
          </c:cat>
          <c:val>
            <c:numRef>
              <c:f>Sheet1!$B$2:$B$3</c:f>
              <c:numCache>
                <c:formatCode>General</c:formatCode>
                <c:ptCount val="2"/>
                <c:pt idx="0">
                  <c:v>11.3</c:v>
                </c:pt>
                <c:pt idx="1">
                  <c:v>8.0</c:v>
                </c:pt>
              </c:numCache>
            </c:numRef>
          </c:val>
        </c:ser>
        <c:dLbls>
          <c:numFmt formatCode="0.00" sourceLinked="0"/>
          <c:txPr>
            <a:bodyPr/>
            <a:lstStyle/>
            <a:p>
              <a:pPr>
                <a:defRPr sz="1500" b="1">
                  <a:solidFill>
                    <a:srgbClr val="1A1A24"/>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inMax"/>
        </c:scaling>
        <c:delete val="0"/>
        <c:axPos val="b"/>
        <c:majorTickMark val="out"/>
        <c:minorTickMark val="none"/>
        <c:tickLblPos val="nextTo"/>
        <c:spPr>
          <a:ln>
            <a:solidFill>
              <a:srgbClr val="747480"/>
            </a:solidFill>
          </a:ln>
        </c:spPr>
        <c:txPr>
          <a:bodyPr/>
          <a:lstStyle/>
          <a:p>
            <a:pPr>
              <a:defRPr sz="1000">
                <a:solidFill>
                  <a:srgbClr val="1A1A24"/>
                </a:solidFill>
              </a:defRPr>
            </a:pPr>
          </a:p>
        </c:txPr>
        <c:crossAx val="-2113994440"/>
        <c:crosses val="autoZero"/>
        <c:auto val="1"/>
        <c:lblAlgn val="ctr"/>
        <c:lblOffset val="100"/>
        <c:noMultiLvlLbl val="0"/>
      </c:catAx>
      <c:valAx>
        <c:axId val="-2113994440"/>
        <c:scaling>
          <c:max val="14.0"/>
          <c:min val="0.0"/>
        </c:scaling>
        <c:delete val="0"/>
        <c:axPos val="l"/>
        <c:majorGridlines>
          <c:spPr>
            <a:ln>
              <a:solidFill>
                <a:srgbClr val="DEDEE5"/>
              </a:solidFill>
            </a:ln>
          </c:spPr>
        </c:majorGridlines>
        <c:majorTickMark val="out"/>
        <c:minorTickMark val="none"/>
        <c:tickLblPos val="nextTo"/>
        <c:txPr>
          <a:bodyPr/>
          <a:lstStyle/>
          <a:p>
            <a:pPr>
              <a:defRPr sz="900">
                <a:solidFill>
                  <a:srgbClr val="747480"/>
                </a:solidFill>
              </a:defRPr>
            </a:pPr>
          </a:p>
        </c:txPr>
        <c:crossAx val="-2068027336"/>
        <c:crosses val="autoZero"/>
      </c:valAx>
    </c:plotArea>
    <c:dispBlanksAs val="gap"/>
  </c:chart>
  <c:txPr>
    <a:bodyPr/>
    <a:lstStyle/>
    <a:p>
      <a:pPr>
        <a:defRPr sz="1100">
          <a:solidFill>
            <a:srgbClr val="1A1A24"/>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Value</c:v>
                </c:pt>
              </c:strCache>
            </c:strRef>
          </c:tx>
          <c:dPt>
            <c:idx val="0"/>
            <c:spPr>
              <a:solidFill>
                <a:srgbClr val="747480"/>
              </a:solidFill>
              <a:ln>
                <a:solidFill>
                  <a:srgbClr val="1A1A24"/>
                </a:solidFill>
              </a:ln>
            </c:spPr>
          </c:dPt>
          <c:dPt>
            <c:idx val="1"/>
            <c:spPr>
              <a:solidFill>
                <a:srgbClr val="FFE600"/>
              </a:solidFill>
              <a:ln>
                <a:solidFill>
                  <a:srgbClr val="1A1A24"/>
                </a:solidFill>
              </a:ln>
            </c:spPr>
          </c:dPt>
          <c:cat>
            <c:strRef>
              <c:f>Sheet1!$A$2:$A$3</c:f>
              <c:strCache>
                <c:ptCount val="2"/>
                <c:pt idx="0">
                  <c:v>Current state</c:v>
                </c:pt>
                <c:pt idx="1">
                  <c:v>V3 replay dataset</c:v>
                </c:pt>
              </c:strCache>
            </c:strRef>
          </c:cat>
          <c:val>
            <c:numRef>
              <c:f>Sheet1!$B$2:$B$3</c:f>
              <c:numCache>
                <c:formatCode>General</c:formatCode>
                <c:ptCount val="2"/>
                <c:pt idx="0">
                  <c:v>21.95</c:v>
                </c:pt>
                <c:pt idx="1">
                  <c:v>62.2</c:v>
                </c:pt>
              </c:numCache>
            </c:numRef>
          </c:val>
        </c:ser>
        <c:dLbls>
          <c:numFmt formatCode="0.00&quot;%&quot;" sourceLinked="0"/>
          <c:txPr>
            <a:bodyPr/>
            <a:lstStyle/>
            <a:p>
              <a:pPr>
                <a:defRPr sz="1500" b="1">
                  <a:solidFill>
                    <a:srgbClr val="1A1A24"/>
                  </a:solidFill>
                </a:defRPr>
              </a:pPr>
            </a:p>
          </c:txPr>
          <c:dLblPos val="outEnd"/>
          <c:showLegendKey val="0"/>
          <c:showVal val="1"/>
          <c:showCatName val="0"/>
          <c:showSerName val="0"/>
          <c:showPercent val="0"/>
          <c:showBubbleSize val="0"/>
          <c:showLeaderLines val="1"/>
        </c:dLbls>
        <c:gapWidth/>
        <c:axId val="-2068027336"/>
        <c:axId val="-2113994440"/>
      </c:barChart>
      <c:catAx>
        <c:axId val="-2068027336"/>
        <c:scaling>
          <c:orientation val="minMax"/>
        </c:scaling>
        <c:delete val="0"/>
        <c:axPos val="b"/>
        <c:majorTickMark val="out"/>
        <c:minorTickMark val="none"/>
        <c:tickLblPos val="nextTo"/>
        <c:spPr>
          <a:ln>
            <a:solidFill>
              <a:srgbClr val="747480"/>
            </a:solidFill>
          </a:ln>
        </c:spPr>
        <c:txPr>
          <a:bodyPr/>
          <a:lstStyle/>
          <a:p>
            <a:pPr>
              <a:defRPr sz="1000">
                <a:solidFill>
                  <a:srgbClr val="1A1A24"/>
                </a:solidFill>
              </a:defRPr>
            </a:pPr>
          </a:p>
        </c:txPr>
        <c:crossAx val="-2113994440"/>
        <c:crosses val="autoZero"/>
        <c:auto val="1"/>
        <c:lblAlgn val="ctr"/>
        <c:lblOffset val="100"/>
        <c:noMultiLvlLbl val="0"/>
      </c:catAx>
      <c:valAx>
        <c:axId val="-2113994440"/>
        <c:scaling>
          <c:max val="70.0"/>
          <c:min val="0.0"/>
        </c:scaling>
        <c:delete val="0"/>
        <c:axPos val="l"/>
        <c:majorGridlines>
          <c:spPr>
            <a:ln>
              <a:solidFill>
                <a:srgbClr val="DEDEE5"/>
              </a:solidFill>
            </a:ln>
          </c:spPr>
        </c:majorGridlines>
        <c:majorTickMark val="out"/>
        <c:minorTickMark val="none"/>
        <c:tickLblPos val="nextTo"/>
        <c:txPr>
          <a:bodyPr/>
          <a:lstStyle/>
          <a:p>
            <a:pPr>
              <a:defRPr sz="900">
                <a:solidFill>
                  <a:srgbClr val="747480"/>
                </a:solidFill>
              </a:defRPr>
            </a:pPr>
          </a:p>
        </c:txPr>
        <c:crossAx val="-2068027336"/>
        <c:crosses val="autoZero"/>
      </c:valAx>
    </c:plotArea>
    <c:dispBlanksAs val="gap"/>
  </c:chart>
  <c:txPr>
    <a:bodyPr/>
    <a:lstStyle/>
    <a:p>
      <a:pPr>
        <a:defRPr sz="1100">
          <a:solidFill>
            <a:srgbClr val="1A1A24"/>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context: this is not a greenfield automation problem and not a request to add a chatbot. The estate has many operating systems, but no single trustworthy decision layer across order, inventory, resource readiness and shipment state. DockSight V3 addresses the product journey in a local simulator. It does not connect to physical robots or external warehouse write paths.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through the current process. The counts are from the inherited synthetic source package: 712 robots, 918 control assets, 9,360 inventory rows, 3,500 orders and shipments, and 8,732 tasks. These show scale, not production volume. The key point is that each system answers only part of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each KPI. False-available means a robot looks usable but has expired certification or blocking maintenance. Inventory disagreement compares WMS, ERP and vision quantities. Task and order mismatches expose false completion risk. Delayed shipments are a service indicator. Do not use the 84.2 percent mismatch as an on-time KPI; it is an exception baseline.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targets are deliberately bounded to behavior the simulator can verify. We can target zero duplicate movements and zero assignment of known blocked resources. We cannot honestly target a percentage improvement in live cycle time or ROI because there is no customer production treatment period or cost baseline.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business architecture first: Bazaar owns customer intake, the Control Tower owns acceptance and accounting, the executor owns simulated task progression, and the Fleet Simulator owns lifecycle demonstrations. Supporting capabilities are deterministic control, human exception management and evidence. The system is one FastAPI process with separate Bazaar and fulfillment SQLite stores.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seven-stage journey as the demo spine. A customer creates the request, the Control Tower validates and reserves, a Supervisor releases planned work, the deterministic scheduler assigns suitable resources, and progress is persisted. The three consistency boundaries are the key technical design: acceptance, execution and accounting.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answers the model question directly. Inventory allocation, eligibility, scheduling, idempotency and recovery are deterministic. The demand forecast is an arithmetic mean with transparent coverage labels; it is not ML. There is no LLM or autonomous agent in Repo3. Human workflows handle evidence changes and recovery where authority is needed.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present the right-hand column as customer production results. These are implemented controls and reported simulation tests. The solution addresses the mechanisms behind the baseline risks: blocked-resource assignment, ambiguous stock, duplicate effects and false completion. A live pilot would be needed to measure service, cost or safety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vision is not 'add an agent.' First harden the local product and verify it cleanly. Then consider a secure read-only shadow pilot. Only a separate field mandate with real interfaces, hazard analysis and independent assurance could justify a command path. AI remains optional and explain-only unless a future evaluated use case demonstrates value.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demo on loopback. Start in Bazaar with a valid multi-SKU request. Show either all-or-nothing rejection for shortage or successful acceptance. In Core, show the staged progress and accounting. In Fleet Simulator, fail or kill one running assignment and show replacement or waiting, then explicit recovery. End on audit/progress. Repeat that all actions are simulated local state.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artifact locator if reviewers ask where C4, ubiquitous language, evals or risk evidence live. The formal original FDE domain model and EVAL-001–022 remain in V2. Repo3 has product regression tests and as-built implementation evidence. The V3 pack does not invent an AI model; the AI/ML artifact is the explicit decision not to use one plus the transparent statistical forecast.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Avoid criticizing traditional design as inherently weak. The distinction is emphasis. In this engagement, FDE began with the inherited brownfield estate and its contradictions, then used invariants, negative scenarios and authority boundaries to shape the product. Repo3 is a working simulation tied back to those decisions, not a generic target-state deck.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delivery across UI, models, evaluation, architecture, analytics and business outcome. The application is materially beyond V2 as a product: three UIs, durable intake, accounting, staged work and recovery. The decision requested is to accept it as the local Repo3 baseline and complete clean-host verification. Do not seek approval for shared network use, customer production or physical robot control.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client-facing KPI slide, and it deliberately tells two different kinds of story, because only two of the five indicators genuinely moved.</a:t>
            </a:r>
          </a:p>
          <a:p/>
          <a:p>
            <a:r>
              <a:t>The top band is measured improvement. Order cycle time falls from 11.30 hours to 8.00 hours, a 29 percent reduction, and on-time carrier departure rises from 21.95 percent to 62.20 percent, which is about 2.8 times the current rate. I recomputed the current baseline from the raw archive and it reproduces the published figures exactly, so the starting point is verified rather than asserted.</a:t>
            </a:r>
          </a:p>
          <a:p/>
          <a:p>
            <a:r>
              <a:t>The bottom band is the honest treatment of the other three. Inventory accuracy, false availability and human interventions are all computed from source files that did not change between the two measurement runs, so their numbers cannot have moved. What did change is the control around them. V3 resolves stock disagreement with one stated conservative rule instead of silently picking a system, it refuses to assign a resource without readiness evidence, and it forces every intervention to carry a reason and an evidence trail.</a:t>
            </a:r>
          </a:p>
          <a:p/>
          <a:p>
            <a:r>
              <a:t>Say that distinction out loud. It is the strongest thing on the slide. Most vendors would show five improving arrows here; we are showing two measured gains and three controls we can actually demonstrate, which is why the two measured numbers should be believed.</a:t>
            </a:r>
          </a:p>
          <a:p/>
          <a:p>
            <a:r>
              <a:t>If challenged on the human interventions row: we are not claiming fewer interventions. We are claiming that every one of them is now explainable after the fact, which is the precondition for reducing them later.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survive the first hard question a client analyst will ask, which is whether the two numbers were calculated the same way.</a:t>
            </a:r>
          </a:p>
          <a:p/>
          <a:p>
            <a:r>
              <a:t>They were. Order cycle time is the mean gap between when the order was created and when the shipment actually departed, taken over orders matched to a shipment. On-time departure is the share of departures that happened at or before the planned time. Both formulas are applied identically to both datasets.</a:t>
            </a:r>
          </a:p>
          <a:p/>
          <a:p>
            <a:r>
              <a:t>Be upfront about the two exclusions, because they are the honest weak points. First, both runs only count shipments that actually departed. In the current extract that is 1,567 of 3,500, so roughly sixty percent of shipments sit outside both averages. Second, the two runs use different order populations - the original extract against the supplied synthetic seven thousand order archive.</a:t>
            </a:r>
          </a:p>
          <a:p/>
          <a:p>
            <a:r>
              <a:t>That means this is a like-for-like calculation on two different datasets. It is a credible sizing of the opportunity and it is the best evidence available today, but it is not a controlled before-and-after on the same orders, and we should not let it be quoted as one. The honest next step is a treatment period on the client's own order flow.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in the pack but out of the main flow. It is the answer to a challenge, and it is also the instruction list for whoever owns the KPI pipeline.</a:t>
            </a:r>
          </a:p>
          <a:p/>
          <a:p>
            <a:r>
              <a:t>The central fact is in the fourth column. Between the two measurement runs, only the order and shipment files were replaced. Tasks, inventory, telemetry, maintenance and robots are the same files in both runs. So only order and shipment indicators can legitimately move, and they did.</a:t>
            </a:r>
          </a:p>
          <a:p/>
          <a:p>
            <a:r>
              <a:t>There is a real defect to fix. Inventory accuracy is reported as 0.21 percent against a current 21.13 percent, and false availability as 0.05 percent against 4.92 percent. Each is exactly one hundredth of the current value while reading an unchanged file, which means a ratio is being printed with a percent label. If those were charted as-is, inventory accuracy would look like a near-total collapse and false availability would look like a ninety-nine percent win. Neither is true, and either would destroy credibility in the room. Multiply by one hundred at source and republish.</a:t>
            </a:r>
          </a:p>
          <a:p/>
          <a:p>
            <a:r>
              <a:t>The last figure on the tiles is the one most likely to be probed. Roughly sixty percent of shipments in the current extract never recorded an actual departure, so they sit outside both averages. If someone asks whether the improvement comes from which shipments completed rather than how fast they completed, the honest answer is that this dataset cannot separate those two effects yet.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closing stats slide. Lead with the two numbers that matter: we followed a 21-step operating model and produced 70 artifacts against it.</a:t>
            </a:r>
          </a:p>
          <a:p/>
          <a:p>
            <a:r>
              <a:t>The top row is the headline. Seventy artifacts, twenty-one workflows, eight architecture decisions on record, twenty-six invariants, and ten scripts that regenerate the decks and re-verify the numbers. That last one matters more than it looks: the story can be rebuilt from the repository rather than recalled from memory.</a:t>
            </a:r>
          </a:p>
          <a:p/>
          <a:p>
            <a:r>
              <a:t>The second row is the key artifact set. Two charters, so scope and the enhancement window were written before build. One PRD with ten functional and ten non-functional requirements, reconstructed from the system as built. Eight ADRs, including the decision to keep the LLM off the write path. Two ubiquitous-language packs carrying twelve and fourteen invariants. Fifteen test suites. Three release gates.</a:t>
            </a:r>
          </a:p>
          <a:p/>
          <a:p>
            <a:r>
              <a:t>The third row is the bird's-eye view: V2 proved the brownfield can be reconciled and gated with 53 artifacts, Repo 3 turned that into a working local simulator, and the V3 pack added 17 artifacts so it can be reviewed as a product.</a:t>
            </a:r>
          </a:p>
          <a:p/>
          <a:p>
            <a:r>
              <a:t>The coverage bar is the honesty check. Sixteen of the twenty-one workflows are evidenced. Five - deploy, monitor, value, AIMS, retire - are deferred in writing, because there is no live customer deployment. We did not fake them.</a:t>
            </a:r>
          </a:p>
          <a:p/>
          <a:p>
            <a:r>
              <a:t>Close on the bottom band. Demo-ready on loopback, production NO-GO, physical control prohibited. Say it plainly. Those boundaries are why the rest of the numbers can be trusted.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Problem Statement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01</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1 · PROBLEM STATEMENT</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Warehouse decisions are being made across systems that disagree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The estate already has robots and enterprise platforms; the missing capability is a trustworthy decision and exception layer.</a:t>
            </a:r>
          </a:p>
        </p:txBody>
      </p:sp>
      <p:sp>
        <p:nvSpPr>
          <p:cNvPr id="10" name="Rounded Rectangle 9"/>
          <p:cNvSpPr/>
          <p:nvPr/>
        </p:nvSpPr>
        <p:spPr>
          <a:xfrm>
            <a:off x="438912" y="1444752"/>
            <a:ext cx="3657600" cy="440740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44752"/>
            <a:ext cx="64008" cy="44074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63624"/>
            <a:ext cx="3310128" cy="4187952"/>
          </a:xfrm>
          <a:prstGeom prst="rect">
            <a:avLst/>
          </a:prstGeom>
          <a:noFill/>
        </p:spPr>
        <p:txBody>
          <a:bodyPr wrap="square" lIns="0" rIns="0">
            <a:spAutoFit/>
          </a:bodyPr>
          <a:lstStyle/>
          <a:p>
            <a:r>
              <a:rPr sz="1300" b="1">
                <a:solidFill>
                  <a:srgbClr val="FFE600"/>
                </a:solidFill>
                <a:latin typeface="Aptos"/>
              </a:rPr>
              <a:t>Business context</a:t>
            </a:r>
          </a:p>
          <a:p>
            <a:pPr>
              <a:spcBef>
                <a:spcPts val="600"/>
              </a:spcBef>
            </a:pPr>
            <a:r>
              <a:rPr sz="1200" b="0">
                <a:solidFill>
                  <a:srgbClr val="FFFFFF"/>
                </a:solidFill>
                <a:latin typeface="Aptos"/>
              </a:rPr>
              <a:t>18 distribution centers and a mixed robot / control-asset estate.</a:t>
            </a:r>
          </a:p>
          <a:p>
            <a:pPr>
              <a:spcBef>
                <a:spcPts val="600"/>
              </a:spcBef>
            </a:pPr>
            <a:r>
              <a:rPr sz="1200" b="0">
                <a:solidFill>
                  <a:srgbClr val="FFFFFF"/>
                </a:solidFill>
                <a:latin typeface="Aptos"/>
              </a:rPr>
              <a:t>OMS, WMS, WES, Fleet, CMMS, Vision and TMS evolved independently.</a:t>
            </a:r>
          </a:p>
          <a:p>
            <a:pPr>
              <a:spcBef>
                <a:spcPts val="600"/>
              </a:spcBef>
            </a:pPr>
            <a:r>
              <a:rPr sz="1200" b="0">
                <a:solidFill>
                  <a:srgbClr val="FFFFFF"/>
                </a:solidFill>
                <a:latin typeface="Aptos"/>
              </a:rPr>
              <a:t>Exceptions are resolved through manual comparison and local workarounds.</a:t>
            </a:r>
          </a:p>
        </p:txBody>
      </p:sp>
      <p:sp>
        <p:nvSpPr>
          <p:cNvPr id="13" name="Rounded Rectangle 12"/>
          <p:cNvSpPr/>
          <p:nvPr/>
        </p:nvSpPr>
        <p:spPr>
          <a:xfrm>
            <a:off x="4279392" y="1444752"/>
            <a:ext cx="3657600" cy="440740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9392" y="1444752"/>
            <a:ext cx="64008" cy="440740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2272" y="1563624"/>
            <a:ext cx="3310128" cy="4187952"/>
          </a:xfrm>
          <a:prstGeom prst="rect">
            <a:avLst/>
          </a:prstGeom>
          <a:noFill/>
        </p:spPr>
        <p:txBody>
          <a:bodyPr wrap="square" lIns="0" rIns="0">
            <a:spAutoFit/>
          </a:bodyPr>
          <a:lstStyle/>
          <a:p>
            <a:r>
              <a:rPr sz="1300" b="1">
                <a:solidFill>
                  <a:srgbClr val="FFB300"/>
                </a:solidFill>
                <a:latin typeface="Aptos"/>
              </a:rPr>
              <a:t>What breaks</a:t>
            </a:r>
          </a:p>
          <a:p>
            <a:pPr>
              <a:spcBef>
                <a:spcPts val="600"/>
              </a:spcBef>
            </a:pPr>
            <a:r>
              <a:rPr sz="1200" b="0">
                <a:solidFill>
                  <a:srgbClr val="FFFFFF"/>
                </a:solidFill>
                <a:latin typeface="Aptos"/>
              </a:rPr>
              <a:t>A robot can look available while certification or maintenance blocks it.</a:t>
            </a:r>
          </a:p>
          <a:p>
            <a:pPr>
              <a:spcBef>
                <a:spcPts val="600"/>
              </a:spcBef>
            </a:pPr>
            <a:r>
              <a:rPr sz="1200" b="0">
                <a:solidFill>
                  <a:srgbClr val="FFFFFF"/>
                </a:solidFill>
                <a:latin typeface="Aptos"/>
              </a:rPr>
              <a:t>Inventory sources report different free quantities.</a:t>
            </a:r>
          </a:p>
          <a:p>
            <a:pPr>
              <a:spcBef>
                <a:spcPts val="600"/>
              </a:spcBef>
            </a:pPr>
            <a:r>
              <a:rPr sz="1200" b="0">
                <a:solidFill>
                  <a:srgbClr val="FFFFFF"/>
                </a:solidFill>
                <a:latin typeface="Aptos"/>
              </a:rPr>
              <a:t>Order and task states can report completion before work is complete.</a:t>
            </a:r>
          </a:p>
        </p:txBody>
      </p:sp>
      <p:sp>
        <p:nvSpPr>
          <p:cNvPr id="16" name="Rounded Rectangle 15"/>
          <p:cNvSpPr/>
          <p:nvPr/>
        </p:nvSpPr>
        <p:spPr>
          <a:xfrm>
            <a:off x="8119872" y="1444752"/>
            <a:ext cx="3621024" cy="440740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9872" y="1444752"/>
            <a:ext cx="64008" cy="44074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2752" y="1563624"/>
            <a:ext cx="3273552" cy="4187952"/>
          </a:xfrm>
          <a:prstGeom prst="rect">
            <a:avLst/>
          </a:prstGeom>
          <a:noFill/>
        </p:spPr>
        <p:txBody>
          <a:bodyPr wrap="square" lIns="0" rIns="0">
            <a:spAutoFit/>
          </a:bodyPr>
          <a:lstStyle/>
          <a:p>
            <a:r>
              <a:rPr sz="1300" b="1">
                <a:solidFill>
                  <a:srgbClr val="4CAF50"/>
                </a:solidFill>
                <a:latin typeface="Aptos"/>
              </a:rPr>
              <a:t>What the client expects</a:t>
            </a:r>
          </a:p>
          <a:p>
            <a:pPr>
              <a:spcBef>
                <a:spcPts val="600"/>
              </a:spcBef>
            </a:pPr>
            <a:r>
              <a:rPr sz="1200" b="0">
                <a:solidFill>
                  <a:srgbClr val="FFFFFF"/>
                </a:solidFill>
                <a:latin typeface="Aptos"/>
              </a:rPr>
              <a:t>One defensible order-to-fulfillment view.</a:t>
            </a:r>
          </a:p>
          <a:p>
            <a:pPr>
              <a:spcBef>
                <a:spcPts val="600"/>
              </a:spcBef>
            </a:pPr>
            <a:r>
              <a:rPr sz="1200" b="0">
                <a:solidFill>
                  <a:srgbClr val="FFFFFF"/>
                </a:solidFill>
                <a:latin typeface="Aptos"/>
              </a:rPr>
              <a:t>Deterministic controls before simulated assignment.</a:t>
            </a:r>
          </a:p>
          <a:p>
            <a:pPr>
              <a:spcBef>
                <a:spcPts val="600"/>
              </a:spcBef>
            </a:pPr>
            <a:r>
              <a:rPr sz="1200" b="0">
                <a:solidFill>
                  <a:srgbClr val="FFFFFF"/>
                </a:solidFill>
                <a:latin typeface="Aptos"/>
              </a:rPr>
              <a:t>Auditable exceptions and recovery.</a:t>
            </a:r>
          </a:p>
          <a:p>
            <a:pPr>
              <a:spcBef>
                <a:spcPts val="600"/>
              </a:spcBef>
            </a:pPr>
            <a:r>
              <a:rPr sz="1200" b="0">
                <a:solidFill>
                  <a:srgbClr val="FFFFFF"/>
                </a:solidFill>
                <a:latin typeface="Aptos"/>
              </a:rPr>
              <a:t>A local proof without physical actuation.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Current State Landscape</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02</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2 · CURRENT STATE LANDSCAPE</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A fragmented operating model with multiple competing records</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The current path crosses enterprise, warehouse, fleet, maintenance and carrier systems before an exception can be understood.</a:t>
            </a:r>
          </a:p>
        </p:txBody>
      </p:sp>
      <p:sp>
        <p:nvSpPr>
          <p:cNvPr id="10" name="Rounded Rectangle 9"/>
          <p:cNvSpPr/>
          <p:nvPr/>
        </p:nvSpPr>
        <p:spPr>
          <a:xfrm>
            <a:off x="4389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3" y="1554480"/>
            <a:ext cx="1179576" cy="493775"/>
          </a:xfrm>
          <a:prstGeom prst="rect">
            <a:avLst/>
          </a:prstGeom>
          <a:noFill/>
        </p:spPr>
        <p:txBody>
          <a:bodyPr wrap="none" anchor="ctr">
            <a:spAutoFit/>
          </a:bodyPr>
          <a:lstStyle/>
          <a:p>
            <a:pPr algn="ctr"/>
            <a:r>
              <a:rPr sz="1100" b="1">
                <a:solidFill>
                  <a:srgbClr val="1A1A24"/>
                </a:solidFill>
                <a:latin typeface="Aptos"/>
              </a:rPr>
              <a:t>OMS</a:t>
            </a:r>
          </a:p>
        </p:txBody>
      </p:sp>
      <p:cxnSp>
        <p:nvCxnSpPr>
          <p:cNvPr id="12" name="Connector 11"/>
          <p:cNvCxnSpPr/>
          <p:nvPr/>
        </p:nvCxnSpPr>
        <p:spPr>
          <a:xfrm>
            <a:off x="17647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39112" y="1481328"/>
            <a:ext cx="1325880" cy="640080"/>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12264" y="1554480"/>
            <a:ext cx="1179576" cy="493775"/>
          </a:xfrm>
          <a:prstGeom prst="rect">
            <a:avLst/>
          </a:prstGeom>
          <a:noFill/>
        </p:spPr>
        <p:txBody>
          <a:bodyPr wrap="none" anchor="ctr">
            <a:spAutoFit/>
          </a:bodyPr>
          <a:lstStyle/>
          <a:p>
            <a:pPr algn="ctr"/>
            <a:r>
              <a:rPr sz="1100" b="1">
                <a:solidFill>
                  <a:srgbClr val="1A1A24"/>
                </a:solidFill>
                <a:latin typeface="Aptos"/>
              </a:rPr>
              <a:t>WMS</a:t>
            </a:r>
          </a:p>
        </p:txBody>
      </p:sp>
      <p:cxnSp>
        <p:nvCxnSpPr>
          <p:cNvPr id="15" name="Connector 14"/>
          <p:cNvCxnSpPr/>
          <p:nvPr/>
        </p:nvCxnSpPr>
        <p:spPr>
          <a:xfrm>
            <a:off x="3364991" y="1801368"/>
            <a:ext cx="201169"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393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12463" y="1554480"/>
            <a:ext cx="1179576" cy="493775"/>
          </a:xfrm>
          <a:prstGeom prst="rect">
            <a:avLst/>
          </a:prstGeom>
          <a:noFill/>
        </p:spPr>
        <p:txBody>
          <a:bodyPr wrap="none" anchor="ctr">
            <a:spAutoFit/>
          </a:bodyPr>
          <a:lstStyle/>
          <a:p>
            <a:pPr algn="ctr"/>
            <a:r>
              <a:rPr sz="1100" b="1">
                <a:solidFill>
                  <a:srgbClr val="1A1A24"/>
                </a:solidFill>
                <a:latin typeface="Aptos"/>
              </a:rPr>
              <a:t>WES</a:t>
            </a:r>
          </a:p>
        </p:txBody>
      </p:sp>
      <p:cxnSp>
        <p:nvCxnSpPr>
          <p:cNvPr id="18" name="Connector 17"/>
          <p:cNvCxnSpPr/>
          <p:nvPr/>
        </p:nvCxnSpPr>
        <p:spPr>
          <a:xfrm>
            <a:off x="49651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239512" y="1481328"/>
            <a:ext cx="1325880" cy="640080"/>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12664" y="1554480"/>
            <a:ext cx="1179576" cy="493775"/>
          </a:xfrm>
          <a:prstGeom prst="rect">
            <a:avLst/>
          </a:prstGeom>
          <a:noFill/>
        </p:spPr>
        <p:txBody>
          <a:bodyPr wrap="none" anchor="ctr">
            <a:spAutoFit/>
          </a:bodyPr>
          <a:lstStyle/>
          <a:p>
            <a:pPr algn="ctr"/>
            <a:r>
              <a:rPr sz="1100" b="1">
                <a:solidFill>
                  <a:srgbClr val="1A1A24"/>
                </a:solidFill>
                <a:latin typeface="Aptos"/>
              </a:rPr>
              <a:t>Fleet</a:t>
            </a:r>
          </a:p>
        </p:txBody>
      </p:sp>
      <p:cxnSp>
        <p:nvCxnSpPr>
          <p:cNvPr id="21" name="Connector 20"/>
          <p:cNvCxnSpPr/>
          <p:nvPr/>
        </p:nvCxnSpPr>
        <p:spPr>
          <a:xfrm>
            <a:off x="65653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8397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912864" y="1554480"/>
            <a:ext cx="1179576" cy="493775"/>
          </a:xfrm>
          <a:prstGeom prst="rect">
            <a:avLst/>
          </a:prstGeom>
          <a:noFill/>
        </p:spPr>
        <p:txBody>
          <a:bodyPr wrap="none" anchor="ctr">
            <a:spAutoFit/>
          </a:bodyPr>
          <a:lstStyle/>
          <a:p>
            <a:pPr algn="ctr"/>
            <a:r>
              <a:rPr sz="1100" b="1">
                <a:solidFill>
                  <a:srgbClr val="1A1A24"/>
                </a:solidFill>
                <a:latin typeface="Aptos"/>
              </a:rPr>
              <a:t>CMMS</a:t>
            </a:r>
          </a:p>
        </p:txBody>
      </p:sp>
      <p:cxnSp>
        <p:nvCxnSpPr>
          <p:cNvPr id="24" name="Connector 23"/>
          <p:cNvCxnSpPr/>
          <p:nvPr/>
        </p:nvCxnSpPr>
        <p:spPr>
          <a:xfrm>
            <a:off x="81655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8439912" y="1481328"/>
            <a:ext cx="1325880" cy="64008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13064" y="1554480"/>
            <a:ext cx="1179576" cy="493775"/>
          </a:xfrm>
          <a:prstGeom prst="rect">
            <a:avLst/>
          </a:prstGeom>
          <a:noFill/>
        </p:spPr>
        <p:txBody>
          <a:bodyPr wrap="none" anchor="ctr">
            <a:spAutoFit/>
          </a:bodyPr>
          <a:lstStyle/>
          <a:p>
            <a:pPr algn="ctr"/>
            <a:r>
              <a:rPr sz="1100" b="1">
                <a:solidFill>
                  <a:srgbClr val="1A1A24"/>
                </a:solidFill>
                <a:latin typeface="Aptos"/>
              </a:rPr>
              <a:t>Vision</a:t>
            </a:r>
          </a:p>
        </p:txBody>
      </p:sp>
      <p:cxnSp>
        <p:nvCxnSpPr>
          <p:cNvPr id="27" name="Connector 26"/>
          <p:cNvCxnSpPr/>
          <p:nvPr/>
        </p:nvCxnSpPr>
        <p:spPr>
          <a:xfrm>
            <a:off x="9765792" y="1801368"/>
            <a:ext cx="201168"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040112" y="1481328"/>
            <a:ext cx="1325880" cy="640080"/>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13264" y="1554480"/>
            <a:ext cx="1179576" cy="493775"/>
          </a:xfrm>
          <a:prstGeom prst="rect">
            <a:avLst/>
          </a:prstGeom>
          <a:noFill/>
        </p:spPr>
        <p:txBody>
          <a:bodyPr wrap="none" anchor="ctr">
            <a:spAutoFit/>
          </a:bodyPr>
          <a:lstStyle/>
          <a:p>
            <a:pPr algn="ctr"/>
            <a:r>
              <a:rPr sz="1100" b="1">
                <a:solidFill>
                  <a:srgbClr val="1A1A24"/>
                </a:solidFill>
                <a:latin typeface="Aptos"/>
              </a:rPr>
              <a:t>TMS</a:t>
            </a:r>
          </a:p>
        </p:txBody>
      </p:sp>
      <p:sp>
        <p:nvSpPr>
          <p:cNvPr id="30" name="Rounded Rectangle 29"/>
          <p:cNvSpPr/>
          <p:nvPr/>
        </p:nvSpPr>
        <p:spPr>
          <a:xfrm>
            <a:off x="438912"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0352" y="2578608"/>
            <a:ext cx="1517904" cy="731520"/>
          </a:xfrm>
          <a:prstGeom prst="rect">
            <a:avLst/>
          </a:prstGeom>
          <a:noFill/>
        </p:spPr>
        <p:txBody>
          <a:bodyPr wrap="none" anchor="ctr">
            <a:spAutoFit/>
          </a:bodyPr>
          <a:lstStyle/>
          <a:p>
            <a:pPr algn="ctr"/>
            <a:r>
              <a:rPr sz="2100" b="1">
                <a:solidFill>
                  <a:srgbClr val="FFE600"/>
                </a:solidFill>
                <a:latin typeface="Aptos"/>
              </a:rPr>
              <a:t>712</a:t>
            </a:r>
          </a:p>
          <a:p>
            <a:pPr algn="ctr"/>
            <a:r>
              <a:rPr sz="900" b="0">
                <a:solidFill>
                  <a:srgbClr val="747480"/>
                </a:solidFill>
                <a:latin typeface="Aptos"/>
              </a:rPr>
              <a:t>Robots</a:t>
            </a:r>
          </a:p>
        </p:txBody>
      </p:sp>
      <p:sp>
        <p:nvSpPr>
          <p:cNvPr id="32" name="Rounded Rectangle 31"/>
          <p:cNvSpPr/>
          <p:nvPr/>
        </p:nvSpPr>
        <p:spPr>
          <a:xfrm>
            <a:off x="2340864"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32304" y="2578608"/>
            <a:ext cx="1517904" cy="731520"/>
          </a:xfrm>
          <a:prstGeom prst="rect">
            <a:avLst/>
          </a:prstGeom>
          <a:noFill/>
        </p:spPr>
        <p:txBody>
          <a:bodyPr wrap="none" anchor="ctr">
            <a:spAutoFit/>
          </a:bodyPr>
          <a:lstStyle/>
          <a:p>
            <a:pPr algn="ctr"/>
            <a:r>
              <a:rPr sz="2100" b="1">
                <a:solidFill>
                  <a:srgbClr val="FFE600"/>
                </a:solidFill>
                <a:latin typeface="Aptos"/>
              </a:rPr>
              <a:t>918</a:t>
            </a:r>
          </a:p>
          <a:p>
            <a:pPr algn="ctr"/>
            <a:r>
              <a:rPr sz="900" b="0">
                <a:solidFill>
                  <a:srgbClr val="747480"/>
                </a:solidFill>
                <a:latin typeface="Aptos"/>
              </a:rPr>
              <a:t>Control assets</a:t>
            </a:r>
          </a:p>
        </p:txBody>
      </p:sp>
      <p:sp>
        <p:nvSpPr>
          <p:cNvPr id="34" name="Rounded Rectangle 33"/>
          <p:cNvSpPr/>
          <p:nvPr/>
        </p:nvSpPr>
        <p:spPr>
          <a:xfrm>
            <a:off x="4242816"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34256" y="2578608"/>
            <a:ext cx="1517904" cy="731520"/>
          </a:xfrm>
          <a:prstGeom prst="rect">
            <a:avLst/>
          </a:prstGeom>
          <a:noFill/>
        </p:spPr>
        <p:txBody>
          <a:bodyPr wrap="none" anchor="ctr">
            <a:spAutoFit/>
          </a:bodyPr>
          <a:lstStyle/>
          <a:p>
            <a:pPr algn="ctr"/>
            <a:r>
              <a:rPr sz="2100" b="1">
                <a:solidFill>
                  <a:srgbClr val="FFE600"/>
                </a:solidFill>
                <a:latin typeface="Aptos"/>
              </a:rPr>
              <a:t>9,360</a:t>
            </a:r>
          </a:p>
          <a:p>
            <a:pPr algn="ctr"/>
            <a:r>
              <a:rPr sz="900" b="0">
                <a:solidFill>
                  <a:srgbClr val="747480"/>
                </a:solidFill>
                <a:latin typeface="Aptos"/>
              </a:rPr>
              <a:t>Inventory rows</a:t>
            </a:r>
          </a:p>
        </p:txBody>
      </p:sp>
      <p:sp>
        <p:nvSpPr>
          <p:cNvPr id="36" name="Rounded Rectangle 35"/>
          <p:cNvSpPr/>
          <p:nvPr/>
        </p:nvSpPr>
        <p:spPr>
          <a:xfrm>
            <a:off x="6144768"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8" y="2578608"/>
            <a:ext cx="1517904" cy="731520"/>
          </a:xfrm>
          <a:prstGeom prst="rect">
            <a:avLst/>
          </a:prstGeom>
          <a:noFill/>
        </p:spPr>
        <p:txBody>
          <a:bodyPr wrap="none" anchor="ctr">
            <a:spAutoFit/>
          </a:bodyPr>
          <a:lstStyle/>
          <a:p>
            <a:pPr algn="ctr"/>
            <a:r>
              <a:rPr sz="2100" b="1">
                <a:solidFill>
                  <a:srgbClr val="FFE600"/>
                </a:solidFill>
                <a:latin typeface="Aptos"/>
              </a:rPr>
              <a:t>3,500</a:t>
            </a:r>
          </a:p>
          <a:p>
            <a:pPr algn="ctr"/>
            <a:r>
              <a:rPr sz="900" b="0">
                <a:solidFill>
                  <a:srgbClr val="747480"/>
                </a:solidFill>
                <a:latin typeface="Aptos"/>
              </a:rPr>
              <a:t>Orders</a:t>
            </a:r>
          </a:p>
        </p:txBody>
      </p:sp>
      <p:sp>
        <p:nvSpPr>
          <p:cNvPr id="38" name="Rounded Rectangle 37"/>
          <p:cNvSpPr/>
          <p:nvPr/>
        </p:nvSpPr>
        <p:spPr>
          <a:xfrm>
            <a:off x="8046720"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60" y="2578608"/>
            <a:ext cx="1517904" cy="731520"/>
          </a:xfrm>
          <a:prstGeom prst="rect">
            <a:avLst/>
          </a:prstGeom>
          <a:noFill/>
        </p:spPr>
        <p:txBody>
          <a:bodyPr wrap="none" anchor="ctr">
            <a:spAutoFit/>
          </a:bodyPr>
          <a:lstStyle/>
          <a:p>
            <a:pPr algn="ctr"/>
            <a:r>
              <a:rPr sz="2100" b="1">
                <a:solidFill>
                  <a:srgbClr val="FFE600"/>
                </a:solidFill>
                <a:latin typeface="Aptos"/>
              </a:rPr>
              <a:t>3,500</a:t>
            </a:r>
          </a:p>
          <a:p>
            <a:pPr algn="ctr"/>
            <a:r>
              <a:rPr sz="900" b="0">
                <a:solidFill>
                  <a:srgbClr val="747480"/>
                </a:solidFill>
                <a:latin typeface="Aptos"/>
              </a:rPr>
              <a:t>Shipments</a:t>
            </a:r>
          </a:p>
        </p:txBody>
      </p:sp>
      <p:sp>
        <p:nvSpPr>
          <p:cNvPr id="40" name="Rounded Rectangle 39"/>
          <p:cNvSpPr/>
          <p:nvPr/>
        </p:nvSpPr>
        <p:spPr>
          <a:xfrm>
            <a:off x="9948672" y="2487168"/>
            <a:ext cx="1700784"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40112" y="2578608"/>
            <a:ext cx="1517904" cy="731520"/>
          </a:xfrm>
          <a:prstGeom prst="rect">
            <a:avLst/>
          </a:prstGeom>
          <a:noFill/>
        </p:spPr>
        <p:txBody>
          <a:bodyPr wrap="none" anchor="ctr">
            <a:spAutoFit/>
          </a:bodyPr>
          <a:lstStyle/>
          <a:p>
            <a:pPr algn="ctr"/>
            <a:r>
              <a:rPr sz="2100" b="1">
                <a:solidFill>
                  <a:srgbClr val="FFE600"/>
                </a:solidFill>
                <a:latin typeface="Aptos"/>
              </a:rPr>
              <a:t>8,732</a:t>
            </a:r>
          </a:p>
          <a:p>
            <a:pPr algn="ctr"/>
            <a:r>
              <a:rPr sz="900" b="0">
                <a:solidFill>
                  <a:srgbClr val="747480"/>
                </a:solidFill>
                <a:latin typeface="Aptos"/>
              </a:rPr>
              <a:t>Tasks</a:t>
            </a:r>
          </a:p>
        </p:txBody>
      </p:sp>
      <p:sp>
        <p:nvSpPr>
          <p:cNvPr id="42" name="Rounded Rectangle 41"/>
          <p:cNvSpPr/>
          <p:nvPr/>
        </p:nvSpPr>
        <p:spPr>
          <a:xfrm>
            <a:off x="438912" y="3749039"/>
            <a:ext cx="3657600" cy="2066543"/>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38912" y="3749039"/>
            <a:ext cx="64008" cy="2066543"/>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 y="3867911"/>
            <a:ext cx="3310128" cy="1847087"/>
          </a:xfrm>
          <a:prstGeom prst="rect">
            <a:avLst/>
          </a:prstGeom>
          <a:noFill/>
        </p:spPr>
        <p:txBody>
          <a:bodyPr wrap="square" lIns="0" rIns="0">
            <a:spAutoFit/>
          </a:bodyPr>
          <a:lstStyle/>
          <a:p>
            <a:r>
              <a:rPr sz="1300" b="1">
                <a:solidFill>
                  <a:srgbClr val="1A1A24"/>
                </a:solidFill>
                <a:latin typeface="Aptos"/>
              </a:rPr>
              <a:t>Operating model</a:t>
            </a:r>
          </a:p>
          <a:p>
            <a:pPr>
              <a:spcBef>
                <a:spcPts val="600"/>
              </a:spcBef>
            </a:pPr>
            <a:r>
              <a:rPr sz="1200" b="0">
                <a:solidFill>
                  <a:srgbClr val="1A1A24"/>
                </a:solidFill>
                <a:latin typeface="Aptos"/>
              </a:rPr>
              <a:t>Supervisors reconcile several screens before acting.</a:t>
            </a:r>
          </a:p>
          <a:p>
            <a:pPr>
              <a:spcBef>
                <a:spcPts val="600"/>
              </a:spcBef>
            </a:pPr>
            <a:r>
              <a:rPr sz="1200" b="0">
                <a:solidFill>
                  <a:srgbClr val="1A1A24"/>
                </a:solidFill>
                <a:latin typeface="Aptos"/>
              </a:rPr>
              <a:t>Source names do not guarantee authority or freshness.</a:t>
            </a:r>
          </a:p>
        </p:txBody>
      </p:sp>
      <p:sp>
        <p:nvSpPr>
          <p:cNvPr id="45" name="Rounded Rectangle 44"/>
          <p:cNvSpPr/>
          <p:nvPr/>
        </p:nvSpPr>
        <p:spPr>
          <a:xfrm>
            <a:off x="4279392" y="3749039"/>
            <a:ext cx="3657600" cy="2066543"/>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79392" y="3749039"/>
            <a:ext cx="64008" cy="2066543"/>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462272" y="3867911"/>
            <a:ext cx="3310128" cy="1847087"/>
          </a:xfrm>
          <a:prstGeom prst="rect">
            <a:avLst/>
          </a:prstGeom>
          <a:noFill/>
        </p:spPr>
        <p:txBody>
          <a:bodyPr wrap="square" lIns="0" rIns="0">
            <a:spAutoFit/>
          </a:bodyPr>
          <a:lstStyle/>
          <a:p>
            <a:r>
              <a:rPr sz="1300" b="1">
                <a:solidFill>
                  <a:srgbClr val="1A1A24"/>
                </a:solidFill>
                <a:latin typeface="Aptos"/>
              </a:rPr>
              <a:t>Exception load</a:t>
            </a:r>
          </a:p>
          <a:p>
            <a:pPr>
              <a:spcBef>
                <a:spcPts val="600"/>
              </a:spcBef>
            </a:pPr>
            <a:r>
              <a:rPr sz="1200" b="0">
                <a:solidFill>
                  <a:srgbClr val="1A1A24"/>
                </a:solidFill>
                <a:latin typeface="Aptos"/>
              </a:rPr>
              <a:t>Inventory, task and readiness contradictions are common—not edge cases.</a:t>
            </a:r>
          </a:p>
          <a:p>
            <a:pPr>
              <a:spcBef>
                <a:spcPts val="600"/>
              </a:spcBef>
            </a:pPr>
            <a:r>
              <a:rPr sz="1200" b="0">
                <a:solidFill>
                  <a:srgbClr val="1A1A24"/>
                </a:solidFill>
                <a:latin typeface="Aptos"/>
              </a:rPr>
              <a:t>Manual workarounds are difficult to audit.</a:t>
            </a:r>
          </a:p>
        </p:txBody>
      </p:sp>
      <p:sp>
        <p:nvSpPr>
          <p:cNvPr id="48" name="Rounded Rectangle 47"/>
          <p:cNvSpPr/>
          <p:nvPr/>
        </p:nvSpPr>
        <p:spPr>
          <a:xfrm>
            <a:off x="8119872" y="3749039"/>
            <a:ext cx="3621024" cy="2066543"/>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19872" y="3749039"/>
            <a:ext cx="64008" cy="2066543"/>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02752" y="3867911"/>
            <a:ext cx="3273552" cy="1847087"/>
          </a:xfrm>
          <a:prstGeom prst="rect">
            <a:avLst/>
          </a:prstGeom>
          <a:noFill/>
        </p:spPr>
        <p:txBody>
          <a:bodyPr wrap="square" lIns="0" rIns="0">
            <a:spAutoFit/>
          </a:bodyPr>
          <a:lstStyle/>
          <a:p>
            <a:r>
              <a:rPr sz="1300" b="1">
                <a:solidFill>
                  <a:srgbClr val="1A1A24"/>
                </a:solidFill>
                <a:latin typeface="Aptos"/>
              </a:rPr>
              <a:t>Current boundary</a:t>
            </a:r>
          </a:p>
          <a:p>
            <a:pPr>
              <a:spcBef>
                <a:spcPts val="600"/>
              </a:spcBef>
            </a:pPr>
            <a:r>
              <a:rPr sz="1200" b="0">
                <a:solidFill>
                  <a:srgbClr val="1A1A24"/>
                </a:solidFill>
                <a:latin typeface="Aptos"/>
              </a:rPr>
              <a:t>Source snapshot is synthetic and static.</a:t>
            </a:r>
          </a:p>
          <a:p>
            <a:pPr>
              <a:spcBef>
                <a:spcPts val="600"/>
              </a:spcBef>
            </a:pPr>
            <a:r>
              <a:rPr sz="1200" b="0">
                <a:solidFill>
                  <a:srgbClr val="1A1A24"/>
                </a:solidFill>
                <a:latin typeface="Aptos"/>
              </a:rPr>
              <a:t>No live telemetry or physical command authority.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Current KPI Baseline</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03</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3 · CURRENT KPI BASELINE</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Five indicators quantify why the existing decision path is unreliable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Baseline percentages are computed from the inherited V2 synthetic estate and remain the starting evidence for Repo3.</a:t>
            </a:r>
          </a:p>
        </p:txBody>
      </p:sp>
      <p:sp>
        <p:nvSpPr>
          <p:cNvPr id="10" name="TextBox 9"/>
          <p:cNvSpPr txBox="1"/>
          <p:nvPr/>
        </p:nvSpPr>
        <p:spPr>
          <a:xfrm>
            <a:off x="502920" y="1554480"/>
            <a:ext cx="2926080" cy="384048"/>
          </a:xfrm>
          <a:prstGeom prst="rect">
            <a:avLst/>
          </a:prstGeom>
          <a:noFill/>
        </p:spPr>
        <p:txBody>
          <a:bodyPr wrap="none">
            <a:spAutoFit/>
          </a:bodyPr>
          <a:lstStyle/>
          <a:p>
            <a:r>
              <a:rPr sz="1100" b="1">
                <a:solidFill>
                  <a:srgbClr val="1A1A24"/>
                </a:solidFill>
                <a:latin typeface="Aptos"/>
              </a:rPr>
              <a:t>False-available robots</a:t>
            </a:r>
          </a:p>
        </p:txBody>
      </p:sp>
      <p:sp>
        <p:nvSpPr>
          <p:cNvPr id="11" name="Rectangle 10"/>
          <p:cNvSpPr/>
          <p:nvPr/>
        </p:nvSpPr>
        <p:spPr>
          <a:xfrm>
            <a:off x="3474720" y="1609344"/>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4720" y="1609344"/>
            <a:ext cx="1824228"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12680" y="1527048"/>
            <a:ext cx="1554480" cy="365760"/>
          </a:xfrm>
          <a:prstGeom prst="rect">
            <a:avLst/>
          </a:prstGeom>
          <a:noFill/>
        </p:spPr>
        <p:txBody>
          <a:bodyPr wrap="none">
            <a:spAutoFit/>
          </a:bodyPr>
          <a:lstStyle/>
          <a:p>
            <a:pPr algn="r"/>
            <a:r>
              <a:rPr sz="1100" b="1">
                <a:solidFill>
                  <a:srgbClr val="1A1A24"/>
                </a:solidFill>
                <a:latin typeface="Aptos"/>
              </a:rPr>
              <a:t>28.5%  (203/712)</a:t>
            </a:r>
          </a:p>
        </p:txBody>
      </p:sp>
      <p:sp>
        <p:nvSpPr>
          <p:cNvPr id="14" name="TextBox 13"/>
          <p:cNvSpPr txBox="1"/>
          <p:nvPr/>
        </p:nvSpPr>
        <p:spPr>
          <a:xfrm>
            <a:off x="502920" y="2404872"/>
            <a:ext cx="2926080" cy="384048"/>
          </a:xfrm>
          <a:prstGeom prst="rect">
            <a:avLst/>
          </a:prstGeom>
          <a:noFill/>
        </p:spPr>
        <p:txBody>
          <a:bodyPr wrap="none">
            <a:spAutoFit/>
          </a:bodyPr>
          <a:lstStyle/>
          <a:p>
            <a:r>
              <a:rPr sz="1100" b="1">
                <a:solidFill>
                  <a:srgbClr val="1A1A24"/>
                </a:solidFill>
                <a:latin typeface="Aptos"/>
              </a:rPr>
              <a:t>Inventory source disagreement</a:t>
            </a:r>
          </a:p>
        </p:txBody>
      </p:sp>
      <p:sp>
        <p:nvSpPr>
          <p:cNvPr id="15" name="Rectangle 14"/>
          <p:cNvSpPr/>
          <p:nvPr/>
        </p:nvSpPr>
        <p:spPr>
          <a:xfrm>
            <a:off x="3474720" y="2459736"/>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720" y="2459736"/>
            <a:ext cx="5050231"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12680" y="2377440"/>
            <a:ext cx="1554480" cy="365760"/>
          </a:xfrm>
          <a:prstGeom prst="rect">
            <a:avLst/>
          </a:prstGeom>
          <a:noFill/>
        </p:spPr>
        <p:txBody>
          <a:bodyPr wrap="none">
            <a:spAutoFit/>
          </a:bodyPr>
          <a:lstStyle/>
          <a:p>
            <a:pPr algn="r"/>
            <a:r>
              <a:rPr sz="1100" b="1">
                <a:solidFill>
                  <a:srgbClr val="1A1A24"/>
                </a:solidFill>
                <a:latin typeface="Aptos"/>
              </a:rPr>
              <a:t>78.9%  (7,382/9,360)</a:t>
            </a:r>
          </a:p>
        </p:txBody>
      </p:sp>
      <p:sp>
        <p:nvSpPr>
          <p:cNvPr id="18" name="TextBox 17"/>
          <p:cNvSpPr txBox="1"/>
          <p:nvPr/>
        </p:nvSpPr>
        <p:spPr>
          <a:xfrm>
            <a:off x="502920" y="3255264"/>
            <a:ext cx="2926080" cy="384048"/>
          </a:xfrm>
          <a:prstGeom prst="rect">
            <a:avLst/>
          </a:prstGeom>
          <a:noFill/>
        </p:spPr>
        <p:txBody>
          <a:bodyPr wrap="none">
            <a:spAutoFit/>
          </a:bodyPr>
          <a:lstStyle/>
          <a:p>
            <a:r>
              <a:rPr sz="1100" b="1">
                <a:solidFill>
                  <a:srgbClr val="1A1A24"/>
                </a:solidFill>
                <a:latin typeface="Aptos"/>
              </a:rPr>
              <a:t>WES versus Fleet task-state mismatch</a:t>
            </a:r>
          </a:p>
        </p:txBody>
      </p:sp>
      <p:sp>
        <p:nvSpPr>
          <p:cNvPr id="19" name="Rectangle 18"/>
          <p:cNvSpPr/>
          <p:nvPr/>
        </p:nvSpPr>
        <p:spPr>
          <a:xfrm>
            <a:off x="3474720" y="3310128"/>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74720" y="3310128"/>
            <a:ext cx="5389473"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12680" y="3227832"/>
            <a:ext cx="1554480" cy="365760"/>
          </a:xfrm>
          <a:prstGeom prst="rect">
            <a:avLst/>
          </a:prstGeom>
          <a:noFill/>
        </p:spPr>
        <p:txBody>
          <a:bodyPr wrap="none">
            <a:spAutoFit/>
          </a:bodyPr>
          <a:lstStyle/>
          <a:p>
            <a:pPr algn="r"/>
            <a:r>
              <a:rPr sz="1100" b="1">
                <a:solidFill>
                  <a:srgbClr val="1A1A24"/>
                </a:solidFill>
                <a:latin typeface="Aptos"/>
              </a:rPr>
              <a:t>84.2%  (7,351/8,732)</a:t>
            </a:r>
          </a:p>
        </p:txBody>
      </p:sp>
      <p:sp>
        <p:nvSpPr>
          <p:cNvPr id="22" name="TextBox 21"/>
          <p:cNvSpPr txBox="1"/>
          <p:nvPr/>
        </p:nvSpPr>
        <p:spPr>
          <a:xfrm>
            <a:off x="502920" y="4105656"/>
            <a:ext cx="2926080" cy="384048"/>
          </a:xfrm>
          <a:prstGeom prst="rect">
            <a:avLst/>
          </a:prstGeom>
          <a:noFill/>
        </p:spPr>
        <p:txBody>
          <a:bodyPr wrap="none">
            <a:spAutoFit/>
          </a:bodyPr>
          <a:lstStyle/>
          <a:p>
            <a:r>
              <a:rPr sz="1100" b="1">
                <a:solidFill>
                  <a:srgbClr val="1A1A24"/>
                </a:solidFill>
                <a:latin typeface="Aptos"/>
              </a:rPr>
              <a:t>OMS versus WMS order-state mismatch</a:t>
            </a:r>
          </a:p>
        </p:txBody>
      </p:sp>
      <p:sp>
        <p:nvSpPr>
          <p:cNvPr id="23" name="Rectangle 22"/>
          <p:cNvSpPr/>
          <p:nvPr/>
        </p:nvSpPr>
        <p:spPr>
          <a:xfrm>
            <a:off x="3474720" y="4160520"/>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474720" y="4160520"/>
            <a:ext cx="2349093"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12680" y="4078224"/>
            <a:ext cx="1554480" cy="365760"/>
          </a:xfrm>
          <a:prstGeom prst="rect">
            <a:avLst/>
          </a:prstGeom>
          <a:noFill/>
        </p:spPr>
        <p:txBody>
          <a:bodyPr wrap="none">
            <a:spAutoFit/>
          </a:bodyPr>
          <a:lstStyle/>
          <a:p>
            <a:pPr algn="r"/>
            <a:r>
              <a:rPr sz="1100" b="1">
                <a:solidFill>
                  <a:srgbClr val="1A1A24"/>
                </a:solidFill>
                <a:latin typeface="Aptos"/>
              </a:rPr>
              <a:t>36.7%  (1,283/3,500)</a:t>
            </a:r>
          </a:p>
        </p:txBody>
      </p:sp>
      <p:sp>
        <p:nvSpPr>
          <p:cNvPr id="26" name="TextBox 25"/>
          <p:cNvSpPr txBox="1"/>
          <p:nvPr/>
        </p:nvSpPr>
        <p:spPr>
          <a:xfrm>
            <a:off x="502920" y="4956048"/>
            <a:ext cx="2926080" cy="384048"/>
          </a:xfrm>
          <a:prstGeom prst="rect">
            <a:avLst/>
          </a:prstGeom>
          <a:noFill/>
        </p:spPr>
        <p:txBody>
          <a:bodyPr wrap="none">
            <a:spAutoFit/>
          </a:bodyPr>
          <a:lstStyle/>
          <a:p>
            <a:r>
              <a:rPr sz="1100" b="1">
                <a:solidFill>
                  <a:srgbClr val="1A1A24"/>
                </a:solidFill>
                <a:latin typeface="Aptos"/>
              </a:rPr>
              <a:t>TMS shipments already delayed</a:t>
            </a:r>
          </a:p>
        </p:txBody>
      </p:sp>
      <p:sp>
        <p:nvSpPr>
          <p:cNvPr id="27" name="Rectangle 26"/>
          <p:cNvSpPr/>
          <p:nvPr/>
        </p:nvSpPr>
        <p:spPr>
          <a:xfrm>
            <a:off x="3474720" y="5010912"/>
            <a:ext cx="6400800" cy="219456"/>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474720" y="5010912"/>
            <a:ext cx="1068933"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12680" y="4928616"/>
            <a:ext cx="1554480" cy="365760"/>
          </a:xfrm>
          <a:prstGeom prst="rect">
            <a:avLst/>
          </a:prstGeom>
          <a:noFill/>
        </p:spPr>
        <p:txBody>
          <a:bodyPr wrap="none">
            <a:spAutoFit/>
          </a:bodyPr>
          <a:lstStyle/>
          <a:p>
            <a:pPr algn="r"/>
            <a:r>
              <a:rPr sz="1100" b="1">
                <a:solidFill>
                  <a:srgbClr val="1A1A24"/>
                </a:solidFill>
                <a:latin typeface="Aptos"/>
              </a:rPr>
              <a:t>16.7%  (586/3,500)</a:t>
            </a:r>
          </a:p>
        </p:txBody>
      </p:sp>
      <p:sp>
        <p:nvSpPr>
          <p:cNvPr id="30" name="Rounded Rectangle 29"/>
          <p:cNvSpPr/>
          <p:nvPr/>
        </p:nvSpPr>
        <p:spPr>
          <a:xfrm>
            <a:off x="502920" y="5650992"/>
            <a:ext cx="11064240" cy="65836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5650992"/>
            <a:ext cx="64008" cy="65836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769864"/>
            <a:ext cx="10716767" cy="438912"/>
          </a:xfrm>
          <a:prstGeom prst="rect">
            <a:avLst/>
          </a:prstGeom>
          <a:noFill/>
        </p:spPr>
        <p:txBody>
          <a:bodyPr wrap="square" lIns="0" rIns="0">
            <a:spAutoFit/>
          </a:bodyPr>
          <a:lstStyle/>
          <a:p>
            <a:r>
              <a:rPr sz="1300" b="1">
                <a:solidFill>
                  <a:srgbClr val="1A1A24"/>
                </a:solidFill>
                <a:latin typeface="Aptos"/>
              </a:rPr>
              <a:t>Interpretation</a:t>
            </a:r>
          </a:p>
          <a:p>
            <a:pPr>
              <a:spcBef>
                <a:spcPts val="600"/>
              </a:spcBef>
            </a:pPr>
            <a:r>
              <a:rPr sz="1000" b="0">
                <a:solidFill>
                  <a:srgbClr val="1A1A24"/>
                </a:solidFill>
                <a:latin typeface="Aptos"/>
              </a:rPr>
              <a:t>These are diagnostic baselines—not achieved business outcomes and not a claim about a live warehouse.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Success Criteria</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04</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4 · SUCCESS CRITERIA AND TARGET IMPROVEMENTS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Targets focus on decision integrity—not invented productivity claims</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Targets apply to the V3 simulated treatment path; production impact remains unmeasured.</a:t>
            </a:r>
          </a:p>
        </p:txBody>
      </p:sp>
      <p:sp>
        <p:nvSpPr>
          <p:cNvPr id="10" name="Rounded Rectangle 9"/>
          <p:cNvSpPr/>
          <p:nvPr/>
        </p:nvSpPr>
        <p:spPr>
          <a:xfrm>
            <a:off x="438912"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Blocked resources assigned</a:t>
            </a:r>
          </a:p>
        </p:txBody>
      </p:sp>
      <p:sp>
        <p:nvSpPr>
          <p:cNvPr id="12" name="Rounded Rectangle 11"/>
          <p:cNvSpPr/>
          <p:nvPr/>
        </p:nvSpPr>
        <p:spPr>
          <a:xfrm>
            <a:off x="438912"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Known certification, maintenance and claim gates</a:t>
            </a:r>
          </a:p>
        </p:txBody>
      </p:sp>
      <p:sp>
        <p:nvSpPr>
          <p:cNvPr id="15" name="Rounded Rectangle 14"/>
          <p:cNvSpPr/>
          <p:nvPr/>
        </p:nvSpPr>
        <p:spPr>
          <a:xfrm>
            <a:off x="2715768"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07208"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Duplicate order / stock movements</a:t>
            </a:r>
          </a:p>
        </p:txBody>
      </p:sp>
      <p:sp>
        <p:nvSpPr>
          <p:cNvPr id="17" name="Rounded Rectangle 16"/>
          <p:cNvSpPr/>
          <p:nvPr/>
        </p:nvSpPr>
        <p:spPr>
          <a:xfrm>
            <a:off x="2715768"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15768"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98648"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Idempotency and movement identities</a:t>
            </a:r>
          </a:p>
        </p:txBody>
      </p:sp>
      <p:sp>
        <p:nvSpPr>
          <p:cNvPr id="20" name="Rounded Rectangle 19"/>
          <p:cNvSpPr/>
          <p:nvPr/>
        </p:nvSpPr>
        <p:spPr>
          <a:xfrm>
            <a:off x="4992624"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84064"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Completed stages replayed after restart</a:t>
            </a:r>
          </a:p>
        </p:txBody>
      </p:sp>
      <p:sp>
        <p:nvSpPr>
          <p:cNvPr id="22" name="Rounded Rectangle 21"/>
          <p:cNvSpPr/>
          <p:nvPr/>
        </p:nvSpPr>
        <p:spPr>
          <a:xfrm>
            <a:off x="4992624"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992624"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75504"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Persisted clocks and transitions</a:t>
            </a:r>
          </a:p>
        </p:txBody>
      </p:sp>
      <p:sp>
        <p:nvSpPr>
          <p:cNvPr id="25" name="Rounded Rectangle 24"/>
          <p:cNvSpPr/>
          <p:nvPr/>
        </p:nvSpPr>
        <p:spPr>
          <a:xfrm>
            <a:off x="7269480"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1572768"/>
            <a:ext cx="1810512" cy="731520"/>
          </a:xfrm>
          <a:prstGeom prst="rect">
            <a:avLst/>
          </a:prstGeom>
          <a:noFill/>
        </p:spPr>
        <p:txBody>
          <a:bodyPr wrap="none" anchor="ctr">
            <a:spAutoFit/>
          </a:bodyPr>
          <a:lstStyle/>
          <a:p>
            <a:pPr algn="ctr"/>
            <a:r>
              <a:rPr sz="2100" b="1">
                <a:solidFill>
                  <a:srgbClr val="FFE600"/>
                </a:solidFill>
                <a:latin typeface="Aptos"/>
              </a:rPr>
              <a:t>100%</a:t>
            </a:r>
          </a:p>
          <a:p>
            <a:pPr algn="ctr"/>
            <a:r>
              <a:rPr sz="900" b="0">
                <a:solidFill>
                  <a:srgbClr val="747480"/>
                </a:solidFill>
                <a:latin typeface="Aptos"/>
              </a:rPr>
              <a:t>Exceptions with reason and evidence</a:t>
            </a:r>
          </a:p>
        </p:txBody>
      </p:sp>
      <p:sp>
        <p:nvSpPr>
          <p:cNvPr id="27" name="Rounded Rectangle 26"/>
          <p:cNvSpPr/>
          <p:nvPr/>
        </p:nvSpPr>
        <p:spPr>
          <a:xfrm>
            <a:off x="7269480"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69480"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52360"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Holds, corrections and recovery audit</a:t>
            </a:r>
          </a:p>
        </p:txBody>
      </p:sp>
      <p:sp>
        <p:nvSpPr>
          <p:cNvPr id="30" name="Rounded Rectangle 29"/>
          <p:cNvSpPr/>
          <p:nvPr/>
        </p:nvSpPr>
        <p:spPr>
          <a:xfrm>
            <a:off x="9546336" y="1481328"/>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37776" y="1572768"/>
            <a:ext cx="1810512" cy="731520"/>
          </a:xfrm>
          <a:prstGeom prst="rect">
            <a:avLst/>
          </a:prstGeom>
          <a:noFill/>
        </p:spPr>
        <p:txBody>
          <a:bodyPr wrap="none" anchor="ctr">
            <a:spAutoFit/>
          </a:bodyPr>
          <a:lstStyle/>
          <a:p>
            <a:pPr algn="ctr"/>
            <a:r>
              <a:rPr sz="2100" b="1">
                <a:solidFill>
                  <a:srgbClr val="FFE600"/>
                </a:solidFill>
                <a:latin typeface="Aptos"/>
              </a:rPr>
              <a:t>0</a:t>
            </a:r>
          </a:p>
          <a:p>
            <a:pPr algn="ctr"/>
            <a:r>
              <a:rPr sz="900" b="0">
                <a:solidFill>
                  <a:srgbClr val="747480"/>
                </a:solidFill>
                <a:latin typeface="Aptos"/>
              </a:rPr>
              <a:t>External or physical commands</a:t>
            </a:r>
          </a:p>
        </p:txBody>
      </p:sp>
      <p:sp>
        <p:nvSpPr>
          <p:cNvPr id="32" name="Rounded Rectangle 31"/>
          <p:cNvSpPr/>
          <p:nvPr/>
        </p:nvSpPr>
        <p:spPr>
          <a:xfrm>
            <a:off x="9546336" y="2578608"/>
            <a:ext cx="1993392" cy="193852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546336" y="2578608"/>
            <a:ext cx="64008" cy="19385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29215" y="2697479"/>
            <a:ext cx="1645920" cy="1719072"/>
          </a:xfrm>
          <a:prstGeom prst="rect">
            <a:avLst/>
          </a:prstGeom>
          <a:noFill/>
        </p:spPr>
        <p:txBody>
          <a:bodyPr wrap="square" lIns="0" rIns="0">
            <a:spAutoFit/>
          </a:bodyPr>
          <a:lstStyle/>
          <a:p>
            <a:r>
              <a:rPr sz="1300" b="1">
                <a:solidFill>
                  <a:srgbClr val="1A1A24"/>
                </a:solidFill>
                <a:latin typeface="Aptos"/>
              </a:rPr>
              <a:t>Control</a:t>
            </a:r>
          </a:p>
          <a:p>
            <a:pPr>
              <a:spcBef>
                <a:spcPts val="600"/>
              </a:spcBef>
            </a:pPr>
            <a:r>
              <a:rPr sz="1000" b="0">
                <a:solidFill>
                  <a:srgbClr val="1A1A24"/>
                </a:solidFill>
                <a:latin typeface="Aptos"/>
              </a:rPr>
              <a:t>Simulation-only hard boundary</a:t>
            </a:r>
          </a:p>
        </p:txBody>
      </p:sp>
      <p:sp>
        <p:nvSpPr>
          <p:cNvPr id="35" name="Rounded Rectangle 34"/>
          <p:cNvSpPr/>
          <p:nvPr/>
        </p:nvSpPr>
        <p:spPr>
          <a:xfrm>
            <a:off x="438912" y="4800600"/>
            <a:ext cx="5468112" cy="11887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 y="4800600"/>
            <a:ext cx="64008" cy="118872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1792" y="4919472"/>
            <a:ext cx="5120640" cy="969264"/>
          </a:xfrm>
          <a:prstGeom prst="rect">
            <a:avLst/>
          </a:prstGeom>
          <a:noFill/>
        </p:spPr>
        <p:txBody>
          <a:bodyPr wrap="square" lIns="0" rIns="0">
            <a:spAutoFit/>
          </a:bodyPr>
          <a:lstStyle/>
          <a:p>
            <a:r>
              <a:rPr sz="1300" b="1">
                <a:solidFill>
                  <a:srgbClr val="1A1A24"/>
                </a:solidFill>
                <a:latin typeface="Aptos"/>
              </a:rPr>
              <a:t>User outcome</a:t>
            </a:r>
          </a:p>
          <a:p>
            <a:pPr>
              <a:spcBef>
                <a:spcPts val="600"/>
              </a:spcBef>
            </a:pPr>
            <a:r>
              <a:rPr sz="1100" b="0">
                <a:solidFill>
                  <a:srgbClr val="1A1A24"/>
                </a:solidFill>
                <a:latin typeface="Aptos"/>
              </a:rPr>
              <a:t>A Supervisor can see why work is accepted, held, rejected or recovered without comparing five systems.</a:t>
            </a:r>
          </a:p>
        </p:txBody>
      </p:sp>
      <p:sp>
        <p:nvSpPr>
          <p:cNvPr id="38" name="Rounded Rectangle 37"/>
          <p:cNvSpPr/>
          <p:nvPr/>
        </p:nvSpPr>
        <p:spPr>
          <a:xfrm>
            <a:off x="6126480" y="4800600"/>
            <a:ext cx="5614416" cy="11887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6480" y="4800600"/>
            <a:ext cx="64008" cy="118872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4919472"/>
            <a:ext cx="5266944" cy="969264"/>
          </a:xfrm>
          <a:prstGeom prst="rect">
            <a:avLst/>
          </a:prstGeom>
          <a:noFill/>
        </p:spPr>
        <p:txBody>
          <a:bodyPr wrap="square" lIns="0" rIns="0">
            <a:spAutoFit/>
          </a:bodyPr>
          <a:lstStyle/>
          <a:p>
            <a:r>
              <a:rPr sz="1300" b="1">
                <a:solidFill>
                  <a:srgbClr val="1A1A24"/>
                </a:solidFill>
                <a:latin typeface="Aptos"/>
              </a:rPr>
              <a:t>Measurement boundary</a:t>
            </a:r>
          </a:p>
          <a:p>
            <a:pPr>
              <a:spcBef>
                <a:spcPts val="600"/>
              </a:spcBef>
            </a:pPr>
            <a:r>
              <a:rPr sz="1100" b="0">
                <a:solidFill>
                  <a:srgbClr val="1A1A24"/>
                </a:solidFill>
                <a:latin typeface="Aptos"/>
              </a:rPr>
              <a:t>Lead time, forecast error, resilience and financial value require approved live baselines and targets.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Solution Overview</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05</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5 · SOLUTION OVERVIEW</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DockSight V3 connects customer intake, fulfillment control and fleet lifecycle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A local modular monolith creates a durable end-to-end simulation while preserving inherited evidence.</a:t>
            </a:r>
          </a:p>
        </p:txBody>
      </p:sp>
      <p:sp>
        <p:nvSpPr>
          <p:cNvPr id="10" name="Rounded Rectangle 9"/>
          <p:cNvSpPr/>
          <p:nvPr/>
        </p:nvSpPr>
        <p:spPr>
          <a:xfrm>
            <a:off x="475488" y="1517904"/>
            <a:ext cx="2395728"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91056"/>
            <a:ext cx="2249424" cy="676656"/>
          </a:xfrm>
          <a:prstGeom prst="rect">
            <a:avLst/>
          </a:prstGeom>
          <a:noFill/>
        </p:spPr>
        <p:txBody>
          <a:bodyPr wrap="none" anchor="ctr">
            <a:spAutoFit/>
          </a:bodyPr>
          <a:lstStyle/>
          <a:p>
            <a:pPr algn="ctr"/>
            <a:r>
              <a:rPr sz="1100" b="1">
                <a:solidFill>
                  <a:srgbClr val="FFFFFF"/>
                </a:solidFill>
                <a:latin typeface="Aptos"/>
              </a:rPr>
              <a:t>FDE Bazaar
Order entry</a:t>
            </a:r>
          </a:p>
        </p:txBody>
      </p:sp>
      <p:cxnSp>
        <p:nvCxnSpPr>
          <p:cNvPr id="12" name="Connector 11"/>
          <p:cNvCxnSpPr/>
          <p:nvPr/>
        </p:nvCxnSpPr>
        <p:spPr>
          <a:xfrm>
            <a:off x="2871216" y="1929384"/>
            <a:ext cx="557784" cy="0"/>
          </a:xfrm>
          <a:prstGeom prst="line">
            <a:avLst/>
          </a:prstGeom>
          <a:ln w="19050">
            <a:solidFill>
              <a:srgbClr val="FFE60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429000" y="1517904"/>
            <a:ext cx="2633472"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2152" y="1591056"/>
            <a:ext cx="2487168" cy="676656"/>
          </a:xfrm>
          <a:prstGeom prst="rect">
            <a:avLst/>
          </a:prstGeom>
          <a:noFill/>
        </p:spPr>
        <p:txBody>
          <a:bodyPr wrap="none" anchor="ctr">
            <a:spAutoFit/>
          </a:bodyPr>
          <a:lstStyle/>
          <a:p>
            <a:pPr algn="ctr"/>
            <a:r>
              <a:rPr sz="1100" b="1">
                <a:solidFill>
                  <a:srgbClr val="FFFFFF"/>
                </a:solidFill>
                <a:latin typeface="Aptos"/>
              </a:rPr>
              <a:t>Control Tower API
Accept + reserve</a:t>
            </a:r>
          </a:p>
        </p:txBody>
      </p:sp>
      <p:cxnSp>
        <p:nvCxnSpPr>
          <p:cNvPr id="15" name="Connector 14"/>
          <p:cNvCxnSpPr/>
          <p:nvPr/>
        </p:nvCxnSpPr>
        <p:spPr>
          <a:xfrm>
            <a:off x="6062472" y="1929384"/>
            <a:ext cx="548640" cy="0"/>
          </a:xfrm>
          <a:prstGeom prst="line">
            <a:avLst/>
          </a:prstGeom>
          <a:ln w="19050">
            <a:solidFill>
              <a:srgbClr val="FFE6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611112" y="1517904"/>
            <a:ext cx="2505456"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84264" y="1591056"/>
            <a:ext cx="2359152" cy="676656"/>
          </a:xfrm>
          <a:prstGeom prst="rect">
            <a:avLst/>
          </a:prstGeom>
          <a:noFill/>
        </p:spPr>
        <p:txBody>
          <a:bodyPr wrap="none" anchor="ctr">
            <a:spAutoFit/>
          </a:bodyPr>
          <a:lstStyle/>
          <a:p>
            <a:pPr algn="ctr"/>
            <a:r>
              <a:rPr sz="1100" b="1">
                <a:solidFill>
                  <a:srgbClr val="FFFFFF"/>
                </a:solidFill>
                <a:latin typeface="Aptos"/>
              </a:rPr>
              <a:t>Task executor
Pick → Stage</a:t>
            </a:r>
          </a:p>
        </p:txBody>
      </p:sp>
      <p:cxnSp>
        <p:nvCxnSpPr>
          <p:cNvPr id="18" name="Connector 17"/>
          <p:cNvCxnSpPr/>
          <p:nvPr/>
        </p:nvCxnSpPr>
        <p:spPr>
          <a:xfrm>
            <a:off x="9116568" y="1929384"/>
            <a:ext cx="548640" cy="0"/>
          </a:xfrm>
          <a:prstGeom prst="line">
            <a:avLst/>
          </a:prstGeom>
          <a:ln w="19050">
            <a:solidFill>
              <a:srgbClr val="FFE600"/>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65208" y="1517904"/>
            <a:ext cx="2048256" cy="822960"/>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38360" y="1591056"/>
            <a:ext cx="1901952" cy="676656"/>
          </a:xfrm>
          <a:prstGeom prst="rect">
            <a:avLst/>
          </a:prstGeom>
          <a:noFill/>
        </p:spPr>
        <p:txBody>
          <a:bodyPr wrap="none" anchor="ctr">
            <a:spAutoFit/>
          </a:bodyPr>
          <a:lstStyle/>
          <a:p>
            <a:pPr algn="ctr"/>
            <a:r>
              <a:rPr sz="1100" b="1">
                <a:solidFill>
                  <a:srgbClr val="FFFFFF"/>
                </a:solidFill>
                <a:latin typeface="Aptos"/>
              </a:rPr>
              <a:t>Simulated
resources</a:t>
            </a:r>
          </a:p>
        </p:txBody>
      </p:sp>
      <p:sp>
        <p:nvSpPr>
          <p:cNvPr id="21" name="Rounded Rectangle 20"/>
          <p:cNvSpPr/>
          <p:nvPr/>
        </p:nvSpPr>
        <p:spPr>
          <a:xfrm>
            <a:off x="475488" y="2816352"/>
            <a:ext cx="3529584" cy="290779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5488" y="2816352"/>
            <a:ext cx="64008" cy="29077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2935224"/>
            <a:ext cx="3182112" cy="2688336"/>
          </a:xfrm>
          <a:prstGeom prst="rect">
            <a:avLst/>
          </a:prstGeom>
          <a:noFill/>
        </p:spPr>
        <p:txBody>
          <a:bodyPr wrap="square" lIns="0" rIns="0">
            <a:spAutoFit/>
          </a:bodyPr>
          <a:lstStyle/>
          <a:p>
            <a:r>
              <a:rPr sz="1300" b="1">
                <a:solidFill>
                  <a:srgbClr val="FFE600"/>
                </a:solidFill>
                <a:latin typeface="Aptos"/>
              </a:rPr>
              <a:t>Customer and order</a:t>
            </a:r>
          </a:p>
          <a:p>
            <a:pPr>
              <a:spcBef>
                <a:spcPts val="600"/>
              </a:spcBef>
            </a:pPr>
            <a:r>
              <a:rPr sz="1200" b="0">
                <a:solidFill>
                  <a:srgbClr val="FFFFFF"/>
                </a:solidFill>
                <a:latin typeface="Aptos"/>
              </a:rPr>
              <a:t>Multi-SKU intake and service deadline.</a:t>
            </a:r>
          </a:p>
          <a:p>
            <a:pPr>
              <a:spcBef>
                <a:spcPts val="600"/>
              </a:spcBef>
            </a:pPr>
            <a:r>
              <a:rPr sz="1200" b="0">
                <a:solidFill>
                  <a:srgbClr val="FFFFFF"/>
                </a:solidFill>
                <a:latin typeface="Aptos"/>
              </a:rPr>
              <a:t>Durable outbox and stable request identity.</a:t>
            </a:r>
          </a:p>
          <a:p>
            <a:pPr>
              <a:spcBef>
                <a:spcPts val="600"/>
              </a:spcBef>
            </a:pPr>
            <a:r>
              <a:rPr sz="1200" b="0">
                <a:solidFill>
                  <a:srgbClr val="FFFFFF"/>
                </a:solidFill>
                <a:latin typeface="Aptos"/>
              </a:rPr>
              <a:t>Separate delivery and fulfillment progress.</a:t>
            </a:r>
          </a:p>
        </p:txBody>
      </p:sp>
      <p:sp>
        <p:nvSpPr>
          <p:cNvPr id="24" name="Rounded Rectangle 23"/>
          <p:cNvSpPr/>
          <p:nvPr/>
        </p:nvSpPr>
        <p:spPr>
          <a:xfrm>
            <a:off x="4325112" y="2816352"/>
            <a:ext cx="3529584" cy="290779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25112" y="2816352"/>
            <a:ext cx="64008" cy="290779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2935224"/>
            <a:ext cx="3182112" cy="2688336"/>
          </a:xfrm>
          <a:prstGeom prst="rect">
            <a:avLst/>
          </a:prstGeom>
          <a:noFill/>
        </p:spPr>
        <p:txBody>
          <a:bodyPr wrap="square" lIns="0" rIns="0">
            <a:spAutoFit/>
          </a:bodyPr>
          <a:lstStyle/>
          <a:p>
            <a:r>
              <a:rPr sz="1300" b="1">
                <a:solidFill>
                  <a:srgbClr val="4CAF50"/>
                </a:solidFill>
                <a:latin typeface="Aptos"/>
              </a:rPr>
              <a:t>Control and intelligence</a:t>
            </a:r>
          </a:p>
          <a:p>
            <a:pPr>
              <a:spcBef>
                <a:spcPts val="600"/>
              </a:spcBef>
            </a:pPr>
            <a:r>
              <a:rPr sz="1200" b="0">
                <a:solidFill>
                  <a:srgbClr val="FFFFFF"/>
                </a:solidFill>
                <a:latin typeface="Aptos"/>
              </a:rPr>
              <a:t>Conservative free-stock allocation.</a:t>
            </a:r>
          </a:p>
          <a:p>
            <a:pPr>
              <a:spcBef>
                <a:spcPts val="600"/>
              </a:spcBef>
            </a:pPr>
            <a:r>
              <a:rPr sz="1200" b="0">
                <a:solidFill>
                  <a:srgbClr val="FFFFFF"/>
                </a:solidFill>
                <a:latin typeface="Aptos"/>
              </a:rPr>
              <a:t>Deterministic eligibility and scheduling.</a:t>
            </a:r>
          </a:p>
          <a:p>
            <a:pPr>
              <a:spcBef>
                <a:spcPts val="600"/>
              </a:spcBef>
            </a:pPr>
            <a:r>
              <a:rPr sz="1200" b="0">
                <a:solidFill>
                  <a:srgbClr val="FFFFFF"/>
                </a:solidFill>
                <a:latin typeface="Aptos"/>
              </a:rPr>
              <a:t>Forecast, replay and exception evidence.</a:t>
            </a:r>
          </a:p>
        </p:txBody>
      </p:sp>
      <p:sp>
        <p:nvSpPr>
          <p:cNvPr id="27" name="Rounded Rectangle 26"/>
          <p:cNvSpPr/>
          <p:nvPr/>
        </p:nvSpPr>
        <p:spPr>
          <a:xfrm>
            <a:off x="8174736" y="2816352"/>
            <a:ext cx="3538728" cy="290779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74736" y="2816352"/>
            <a:ext cx="64008" cy="290779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5" y="2935224"/>
            <a:ext cx="3191256" cy="2688336"/>
          </a:xfrm>
          <a:prstGeom prst="rect">
            <a:avLst/>
          </a:prstGeom>
          <a:noFill/>
        </p:spPr>
        <p:txBody>
          <a:bodyPr wrap="square" lIns="0" rIns="0">
            <a:spAutoFit/>
          </a:bodyPr>
          <a:lstStyle/>
          <a:p>
            <a:r>
              <a:rPr sz="1300" b="1">
                <a:solidFill>
                  <a:srgbClr val="FFB300"/>
                </a:solidFill>
                <a:latin typeface="Aptos"/>
              </a:rPr>
              <a:t>People and recovery</a:t>
            </a:r>
          </a:p>
          <a:p>
            <a:pPr>
              <a:spcBef>
                <a:spcPts val="600"/>
              </a:spcBef>
            </a:pPr>
            <a:r>
              <a:rPr sz="1200" b="0">
                <a:solidFill>
                  <a:srgbClr val="FFFFFF"/>
                </a:solidFill>
                <a:latin typeface="Aptos"/>
              </a:rPr>
              <a:t>Supervisor, Fleet and Admin workspaces.</a:t>
            </a:r>
          </a:p>
          <a:p>
            <a:pPr>
              <a:spcBef>
                <a:spcPts val="600"/>
              </a:spcBef>
            </a:pPr>
            <a:r>
              <a:rPr sz="1200" b="0">
                <a:solidFill>
                  <a:srgbClr val="FFFFFF"/>
                </a:solidFill>
                <a:latin typeface="Aptos"/>
              </a:rPr>
              <a:t>Repair, approval, verification and audit.</a:t>
            </a:r>
          </a:p>
          <a:p>
            <a:pPr>
              <a:spcBef>
                <a:spcPts val="600"/>
              </a:spcBef>
            </a:pPr>
            <a:r>
              <a:rPr sz="1200" b="0">
                <a:solidFill>
                  <a:srgbClr val="FFFFFF"/>
                </a:solidFill>
                <a:latin typeface="Aptos"/>
              </a:rPr>
              <a:t>Failure, replacement, charging and recovery.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Solution Flow</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06</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6 · SOLUTION FLOW</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Happy path: request accepted once, work completed once, progress visible throughout</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User and system interactions are separated so retries or resource waits do not corrupt inventory accounting.</a:t>
            </a:r>
          </a:p>
        </p:txBody>
      </p:sp>
      <p:sp>
        <p:nvSpPr>
          <p:cNvPr id="10" name="Oval 9"/>
          <p:cNvSpPr/>
          <p:nvPr/>
        </p:nvSpPr>
        <p:spPr>
          <a:xfrm>
            <a:off x="4389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8912" y="1600200"/>
            <a:ext cx="566928" cy="201168"/>
          </a:xfrm>
          <a:prstGeom prst="rect">
            <a:avLst/>
          </a:prstGeom>
          <a:noFill/>
        </p:spPr>
        <p:txBody>
          <a:bodyPr wrap="none">
            <a:spAutoFit/>
          </a:bodyPr>
          <a:lstStyle/>
          <a:p>
            <a:pPr algn="ctr"/>
            <a:r>
              <a:rPr sz="1100" b="1">
                <a:solidFill>
                  <a:srgbClr val="1A1A24"/>
                </a:solidFill>
                <a:latin typeface="Aptos"/>
              </a:rPr>
              <a:t>1</a:t>
            </a:r>
          </a:p>
        </p:txBody>
      </p:sp>
      <p:sp>
        <p:nvSpPr>
          <p:cNvPr id="12" name="Rounded Rectangle 11"/>
          <p:cNvSpPr/>
          <p:nvPr/>
        </p:nvSpPr>
        <p:spPr>
          <a:xfrm>
            <a:off x="201167"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2249424"/>
            <a:ext cx="905255" cy="384047"/>
          </a:xfrm>
          <a:prstGeom prst="rect">
            <a:avLst/>
          </a:prstGeom>
          <a:noFill/>
        </p:spPr>
        <p:txBody>
          <a:bodyPr wrap="none" anchor="ctr">
            <a:spAutoFit/>
          </a:bodyPr>
          <a:lstStyle/>
          <a:p>
            <a:pPr algn="ctr"/>
            <a:r>
              <a:rPr sz="1100" b="1">
                <a:solidFill>
                  <a:srgbClr val="1A1A24"/>
                </a:solidFill>
                <a:latin typeface="Aptos"/>
              </a:rPr>
              <a:t>Create</a:t>
            </a:r>
          </a:p>
        </p:txBody>
      </p:sp>
      <p:sp>
        <p:nvSpPr>
          <p:cNvPr id="14" name="TextBox 13"/>
          <p:cNvSpPr txBox="1"/>
          <p:nvPr/>
        </p:nvSpPr>
        <p:spPr>
          <a:xfrm>
            <a:off x="164592" y="2779776"/>
            <a:ext cx="1124712" cy="438912"/>
          </a:xfrm>
          <a:prstGeom prst="rect">
            <a:avLst/>
          </a:prstGeom>
          <a:noFill/>
        </p:spPr>
        <p:txBody>
          <a:bodyPr wrap="none">
            <a:spAutoFit/>
          </a:bodyPr>
          <a:lstStyle/>
          <a:p>
            <a:pPr algn="ctr"/>
            <a:r>
              <a:rPr sz="900" b="0">
                <a:solidFill>
                  <a:srgbClr val="747480"/>
                </a:solidFill>
                <a:latin typeface="Aptos"/>
              </a:rPr>
              <a:t>Bazaar user</a:t>
            </a:r>
          </a:p>
        </p:txBody>
      </p:sp>
      <p:cxnSp>
        <p:nvCxnSpPr>
          <p:cNvPr id="15" name="Connector 14"/>
          <p:cNvCxnSpPr/>
          <p:nvPr/>
        </p:nvCxnSpPr>
        <p:spPr>
          <a:xfrm>
            <a:off x="10241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20391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39112" y="1600200"/>
            <a:ext cx="566928" cy="201168"/>
          </a:xfrm>
          <a:prstGeom prst="rect">
            <a:avLst/>
          </a:prstGeom>
          <a:noFill/>
        </p:spPr>
        <p:txBody>
          <a:bodyPr wrap="none">
            <a:spAutoFit/>
          </a:bodyPr>
          <a:lstStyle/>
          <a:p>
            <a:pPr algn="ctr"/>
            <a:r>
              <a:rPr sz="1100" b="1">
                <a:solidFill>
                  <a:srgbClr val="1A1A24"/>
                </a:solidFill>
                <a:latin typeface="Aptos"/>
              </a:rPr>
              <a:t>2</a:t>
            </a:r>
          </a:p>
        </p:txBody>
      </p:sp>
      <p:sp>
        <p:nvSpPr>
          <p:cNvPr id="18" name="Rounded Rectangle 17"/>
          <p:cNvSpPr/>
          <p:nvPr/>
        </p:nvSpPr>
        <p:spPr>
          <a:xfrm>
            <a:off x="18013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74519" y="2249424"/>
            <a:ext cx="905255" cy="384047"/>
          </a:xfrm>
          <a:prstGeom prst="rect">
            <a:avLst/>
          </a:prstGeom>
          <a:noFill/>
        </p:spPr>
        <p:txBody>
          <a:bodyPr wrap="none" anchor="ctr">
            <a:spAutoFit/>
          </a:bodyPr>
          <a:lstStyle/>
          <a:p>
            <a:pPr algn="ctr"/>
            <a:r>
              <a:rPr sz="1100" b="1">
                <a:solidFill>
                  <a:srgbClr val="1A1A24"/>
                </a:solidFill>
                <a:latin typeface="Aptos"/>
              </a:rPr>
              <a:t>Validate</a:t>
            </a:r>
          </a:p>
        </p:txBody>
      </p:sp>
      <p:sp>
        <p:nvSpPr>
          <p:cNvPr id="20" name="TextBox 19"/>
          <p:cNvSpPr txBox="1"/>
          <p:nvPr/>
        </p:nvSpPr>
        <p:spPr>
          <a:xfrm>
            <a:off x="1764792" y="2779776"/>
            <a:ext cx="1124712" cy="438912"/>
          </a:xfrm>
          <a:prstGeom prst="rect">
            <a:avLst/>
          </a:prstGeom>
          <a:noFill/>
        </p:spPr>
        <p:txBody>
          <a:bodyPr wrap="none">
            <a:spAutoFit/>
          </a:bodyPr>
          <a:lstStyle/>
          <a:p>
            <a:pPr algn="ctr"/>
            <a:r>
              <a:rPr sz="900" b="0">
                <a:solidFill>
                  <a:srgbClr val="747480"/>
                </a:solidFill>
                <a:latin typeface="Aptos"/>
              </a:rPr>
              <a:t>Control Tower</a:t>
            </a:r>
          </a:p>
        </p:txBody>
      </p:sp>
      <p:cxnSp>
        <p:nvCxnSpPr>
          <p:cNvPr id="21" name="Connector 20"/>
          <p:cNvCxnSpPr/>
          <p:nvPr/>
        </p:nvCxnSpPr>
        <p:spPr>
          <a:xfrm>
            <a:off x="26243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6393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39312" y="1600200"/>
            <a:ext cx="566928" cy="201168"/>
          </a:xfrm>
          <a:prstGeom prst="rect">
            <a:avLst/>
          </a:prstGeom>
          <a:noFill/>
        </p:spPr>
        <p:txBody>
          <a:bodyPr wrap="none">
            <a:spAutoFit/>
          </a:bodyPr>
          <a:lstStyle/>
          <a:p>
            <a:pPr algn="ctr"/>
            <a:r>
              <a:rPr sz="1100" b="1">
                <a:solidFill>
                  <a:srgbClr val="1A1A24"/>
                </a:solidFill>
                <a:latin typeface="Aptos"/>
              </a:rPr>
              <a:t>3</a:t>
            </a:r>
          </a:p>
        </p:txBody>
      </p:sp>
      <p:sp>
        <p:nvSpPr>
          <p:cNvPr id="24" name="Rounded Rectangle 23"/>
          <p:cNvSpPr/>
          <p:nvPr/>
        </p:nvSpPr>
        <p:spPr>
          <a:xfrm>
            <a:off x="34015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74720" y="2249424"/>
            <a:ext cx="905255" cy="384047"/>
          </a:xfrm>
          <a:prstGeom prst="rect">
            <a:avLst/>
          </a:prstGeom>
          <a:noFill/>
        </p:spPr>
        <p:txBody>
          <a:bodyPr wrap="none" anchor="ctr">
            <a:spAutoFit/>
          </a:bodyPr>
          <a:lstStyle/>
          <a:p>
            <a:pPr algn="ctr"/>
            <a:r>
              <a:rPr sz="1100" b="1">
                <a:solidFill>
                  <a:srgbClr val="1A1A24"/>
                </a:solidFill>
                <a:latin typeface="Aptos"/>
              </a:rPr>
              <a:t>Reserve</a:t>
            </a:r>
          </a:p>
        </p:txBody>
      </p:sp>
      <p:sp>
        <p:nvSpPr>
          <p:cNvPr id="26" name="TextBox 25"/>
          <p:cNvSpPr txBox="1"/>
          <p:nvPr/>
        </p:nvSpPr>
        <p:spPr>
          <a:xfrm>
            <a:off x="3364992" y="2779776"/>
            <a:ext cx="1124712" cy="438912"/>
          </a:xfrm>
          <a:prstGeom prst="rect">
            <a:avLst/>
          </a:prstGeom>
          <a:noFill/>
        </p:spPr>
        <p:txBody>
          <a:bodyPr wrap="none">
            <a:spAutoFit/>
          </a:bodyPr>
          <a:lstStyle/>
          <a:p>
            <a:pPr algn="ctr"/>
            <a:r>
              <a:rPr sz="900" b="0">
                <a:solidFill>
                  <a:srgbClr val="747480"/>
                </a:solidFill>
                <a:latin typeface="Aptos"/>
              </a:rPr>
              <a:t>Inventory ledger</a:t>
            </a:r>
          </a:p>
        </p:txBody>
      </p:sp>
      <p:cxnSp>
        <p:nvCxnSpPr>
          <p:cNvPr id="27" name="Connector 26"/>
          <p:cNvCxnSpPr/>
          <p:nvPr/>
        </p:nvCxnSpPr>
        <p:spPr>
          <a:xfrm>
            <a:off x="42245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52395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39512" y="1600200"/>
            <a:ext cx="566928" cy="201168"/>
          </a:xfrm>
          <a:prstGeom prst="rect">
            <a:avLst/>
          </a:prstGeom>
          <a:noFill/>
        </p:spPr>
        <p:txBody>
          <a:bodyPr wrap="none">
            <a:spAutoFit/>
          </a:bodyPr>
          <a:lstStyle/>
          <a:p>
            <a:pPr algn="ctr"/>
            <a:r>
              <a:rPr sz="1100" b="1">
                <a:solidFill>
                  <a:srgbClr val="1A1A24"/>
                </a:solidFill>
                <a:latin typeface="Aptos"/>
              </a:rPr>
              <a:t>4</a:t>
            </a:r>
          </a:p>
        </p:txBody>
      </p:sp>
      <p:sp>
        <p:nvSpPr>
          <p:cNvPr id="30" name="Rounded Rectangle 29"/>
          <p:cNvSpPr/>
          <p:nvPr/>
        </p:nvSpPr>
        <p:spPr>
          <a:xfrm>
            <a:off x="50017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74920" y="2249424"/>
            <a:ext cx="905255" cy="384047"/>
          </a:xfrm>
          <a:prstGeom prst="rect">
            <a:avLst/>
          </a:prstGeom>
          <a:noFill/>
        </p:spPr>
        <p:txBody>
          <a:bodyPr wrap="none" anchor="ctr">
            <a:spAutoFit/>
          </a:bodyPr>
          <a:lstStyle/>
          <a:p>
            <a:pPr algn="ctr"/>
            <a:r>
              <a:rPr sz="1100" b="1">
                <a:solidFill>
                  <a:srgbClr val="1A1A24"/>
                </a:solidFill>
                <a:latin typeface="Aptos"/>
              </a:rPr>
              <a:t>Start</a:t>
            </a:r>
          </a:p>
        </p:txBody>
      </p:sp>
      <p:sp>
        <p:nvSpPr>
          <p:cNvPr id="32" name="TextBox 31"/>
          <p:cNvSpPr txBox="1"/>
          <p:nvPr/>
        </p:nvSpPr>
        <p:spPr>
          <a:xfrm>
            <a:off x="4965192" y="2779776"/>
            <a:ext cx="1124712" cy="438912"/>
          </a:xfrm>
          <a:prstGeom prst="rect">
            <a:avLst/>
          </a:prstGeom>
          <a:noFill/>
        </p:spPr>
        <p:txBody>
          <a:bodyPr wrap="none">
            <a:spAutoFit/>
          </a:bodyPr>
          <a:lstStyle/>
          <a:p>
            <a:pPr algn="ctr"/>
            <a:r>
              <a:rPr sz="900" b="0">
                <a:solidFill>
                  <a:srgbClr val="747480"/>
                </a:solidFill>
                <a:latin typeface="Aptos"/>
              </a:rPr>
              <a:t>Supervisor</a:t>
            </a:r>
          </a:p>
        </p:txBody>
      </p:sp>
      <p:cxnSp>
        <p:nvCxnSpPr>
          <p:cNvPr id="33" name="Connector 32"/>
          <p:cNvCxnSpPr/>
          <p:nvPr/>
        </p:nvCxnSpPr>
        <p:spPr>
          <a:xfrm>
            <a:off x="58247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68397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39712" y="1600200"/>
            <a:ext cx="566928" cy="201168"/>
          </a:xfrm>
          <a:prstGeom prst="rect">
            <a:avLst/>
          </a:prstGeom>
          <a:noFill/>
        </p:spPr>
        <p:txBody>
          <a:bodyPr wrap="none">
            <a:spAutoFit/>
          </a:bodyPr>
          <a:lstStyle/>
          <a:p>
            <a:pPr algn="ctr"/>
            <a:r>
              <a:rPr sz="1100" b="1">
                <a:solidFill>
                  <a:srgbClr val="1A1A24"/>
                </a:solidFill>
                <a:latin typeface="Aptos"/>
              </a:rPr>
              <a:t>5</a:t>
            </a:r>
          </a:p>
        </p:txBody>
      </p:sp>
      <p:sp>
        <p:nvSpPr>
          <p:cNvPr id="36" name="Rounded Rectangle 35"/>
          <p:cNvSpPr/>
          <p:nvPr/>
        </p:nvSpPr>
        <p:spPr>
          <a:xfrm>
            <a:off x="66019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2249424"/>
            <a:ext cx="905255" cy="384047"/>
          </a:xfrm>
          <a:prstGeom prst="rect">
            <a:avLst/>
          </a:prstGeom>
          <a:noFill/>
        </p:spPr>
        <p:txBody>
          <a:bodyPr wrap="none" anchor="ctr">
            <a:spAutoFit/>
          </a:bodyPr>
          <a:lstStyle/>
          <a:p>
            <a:pPr algn="ctr"/>
            <a:r>
              <a:rPr sz="1100" b="1">
                <a:solidFill>
                  <a:srgbClr val="1A1A24"/>
                </a:solidFill>
                <a:latin typeface="Aptos"/>
              </a:rPr>
              <a:t>Assign</a:t>
            </a:r>
          </a:p>
        </p:txBody>
      </p:sp>
      <p:sp>
        <p:nvSpPr>
          <p:cNvPr id="38" name="TextBox 37"/>
          <p:cNvSpPr txBox="1"/>
          <p:nvPr/>
        </p:nvSpPr>
        <p:spPr>
          <a:xfrm>
            <a:off x="6565392" y="2779776"/>
            <a:ext cx="1124712" cy="438912"/>
          </a:xfrm>
          <a:prstGeom prst="rect">
            <a:avLst/>
          </a:prstGeom>
          <a:noFill/>
        </p:spPr>
        <p:txBody>
          <a:bodyPr wrap="none">
            <a:spAutoFit/>
          </a:bodyPr>
          <a:lstStyle/>
          <a:p>
            <a:pPr algn="ctr"/>
            <a:r>
              <a:rPr sz="900" b="0">
                <a:solidFill>
                  <a:srgbClr val="747480"/>
                </a:solidFill>
                <a:latin typeface="Aptos"/>
              </a:rPr>
              <a:t>Scheduler</a:t>
            </a:r>
          </a:p>
        </p:txBody>
      </p:sp>
      <p:cxnSp>
        <p:nvCxnSpPr>
          <p:cNvPr id="39" name="Connector 38"/>
          <p:cNvCxnSpPr/>
          <p:nvPr/>
        </p:nvCxnSpPr>
        <p:spPr>
          <a:xfrm>
            <a:off x="74249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4399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39912" y="1600200"/>
            <a:ext cx="566928" cy="201168"/>
          </a:xfrm>
          <a:prstGeom prst="rect">
            <a:avLst/>
          </a:prstGeom>
          <a:noFill/>
        </p:spPr>
        <p:txBody>
          <a:bodyPr wrap="none">
            <a:spAutoFit/>
          </a:bodyPr>
          <a:lstStyle/>
          <a:p>
            <a:pPr algn="ctr"/>
            <a:r>
              <a:rPr sz="1100" b="1">
                <a:solidFill>
                  <a:srgbClr val="1A1A24"/>
                </a:solidFill>
                <a:latin typeface="Aptos"/>
              </a:rPr>
              <a:t>6</a:t>
            </a:r>
          </a:p>
        </p:txBody>
      </p:sp>
      <p:sp>
        <p:nvSpPr>
          <p:cNvPr id="42" name="Rounded Rectangle 41"/>
          <p:cNvSpPr/>
          <p:nvPr/>
        </p:nvSpPr>
        <p:spPr>
          <a:xfrm>
            <a:off x="82021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75320" y="2249424"/>
            <a:ext cx="905255" cy="384047"/>
          </a:xfrm>
          <a:prstGeom prst="rect">
            <a:avLst/>
          </a:prstGeom>
          <a:noFill/>
        </p:spPr>
        <p:txBody>
          <a:bodyPr wrap="none" anchor="ctr">
            <a:spAutoFit/>
          </a:bodyPr>
          <a:lstStyle/>
          <a:p>
            <a:pPr algn="ctr"/>
            <a:r>
              <a:rPr sz="1100" b="1">
                <a:solidFill>
                  <a:srgbClr val="1A1A24"/>
                </a:solidFill>
                <a:latin typeface="Aptos"/>
              </a:rPr>
              <a:t>Execute</a:t>
            </a:r>
          </a:p>
        </p:txBody>
      </p:sp>
      <p:sp>
        <p:nvSpPr>
          <p:cNvPr id="44" name="TextBox 43"/>
          <p:cNvSpPr txBox="1"/>
          <p:nvPr/>
        </p:nvSpPr>
        <p:spPr>
          <a:xfrm>
            <a:off x="8165592" y="2779776"/>
            <a:ext cx="1124712" cy="438912"/>
          </a:xfrm>
          <a:prstGeom prst="rect">
            <a:avLst/>
          </a:prstGeom>
          <a:noFill/>
        </p:spPr>
        <p:txBody>
          <a:bodyPr wrap="none">
            <a:spAutoFit/>
          </a:bodyPr>
          <a:lstStyle/>
          <a:p>
            <a:pPr algn="ctr"/>
            <a:r>
              <a:rPr sz="900" b="0">
                <a:solidFill>
                  <a:srgbClr val="747480"/>
                </a:solidFill>
                <a:latin typeface="Aptos"/>
              </a:rPr>
              <a:t>Resources</a:t>
            </a:r>
          </a:p>
        </p:txBody>
      </p:sp>
      <p:cxnSp>
        <p:nvCxnSpPr>
          <p:cNvPr id="45" name="Connector 44"/>
          <p:cNvCxnSpPr/>
          <p:nvPr/>
        </p:nvCxnSpPr>
        <p:spPr>
          <a:xfrm>
            <a:off x="9025128" y="1764792"/>
            <a:ext cx="694944" cy="0"/>
          </a:xfrm>
          <a:prstGeom prst="line">
            <a:avLst/>
          </a:prstGeom>
          <a:ln w="19050">
            <a:solidFill>
              <a:srgbClr val="747480"/>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040112" y="1481328"/>
            <a:ext cx="566928" cy="5669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40112" y="1600200"/>
            <a:ext cx="566928" cy="201168"/>
          </a:xfrm>
          <a:prstGeom prst="rect">
            <a:avLst/>
          </a:prstGeom>
          <a:noFill/>
        </p:spPr>
        <p:txBody>
          <a:bodyPr wrap="none">
            <a:spAutoFit/>
          </a:bodyPr>
          <a:lstStyle/>
          <a:p>
            <a:pPr algn="ctr"/>
            <a:r>
              <a:rPr sz="1100" b="1">
                <a:solidFill>
                  <a:srgbClr val="1A1A24"/>
                </a:solidFill>
                <a:latin typeface="Aptos"/>
              </a:rPr>
              <a:t>7</a:t>
            </a:r>
          </a:p>
        </p:txBody>
      </p:sp>
      <p:sp>
        <p:nvSpPr>
          <p:cNvPr id="48" name="Rounded Rectangle 47"/>
          <p:cNvSpPr/>
          <p:nvPr/>
        </p:nvSpPr>
        <p:spPr>
          <a:xfrm>
            <a:off x="9802368" y="2176272"/>
            <a:ext cx="1051560" cy="53035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0" y="2249424"/>
            <a:ext cx="905255" cy="384047"/>
          </a:xfrm>
          <a:prstGeom prst="rect">
            <a:avLst/>
          </a:prstGeom>
          <a:noFill/>
        </p:spPr>
        <p:txBody>
          <a:bodyPr wrap="none" anchor="ctr">
            <a:spAutoFit/>
          </a:bodyPr>
          <a:lstStyle/>
          <a:p>
            <a:pPr algn="ctr"/>
            <a:r>
              <a:rPr sz="1100" b="1">
                <a:solidFill>
                  <a:srgbClr val="1A1A24"/>
                </a:solidFill>
                <a:latin typeface="Aptos"/>
              </a:rPr>
              <a:t>Complete</a:t>
            </a:r>
          </a:p>
        </p:txBody>
      </p:sp>
      <p:sp>
        <p:nvSpPr>
          <p:cNvPr id="50" name="TextBox 49"/>
          <p:cNvSpPr txBox="1"/>
          <p:nvPr/>
        </p:nvSpPr>
        <p:spPr>
          <a:xfrm>
            <a:off x="9765792" y="2779776"/>
            <a:ext cx="1124712" cy="438912"/>
          </a:xfrm>
          <a:prstGeom prst="rect">
            <a:avLst/>
          </a:prstGeom>
          <a:noFill/>
        </p:spPr>
        <p:txBody>
          <a:bodyPr wrap="none">
            <a:spAutoFit/>
          </a:bodyPr>
          <a:lstStyle/>
          <a:p>
            <a:pPr algn="ctr"/>
            <a:r>
              <a:rPr sz="900" b="0">
                <a:solidFill>
                  <a:srgbClr val="747480"/>
                </a:solidFill>
                <a:latin typeface="Aptos"/>
              </a:rPr>
              <a:t>Progress view</a:t>
            </a:r>
          </a:p>
        </p:txBody>
      </p:sp>
      <p:sp>
        <p:nvSpPr>
          <p:cNvPr id="51" name="Rounded Rectangle 50"/>
          <p:cNvSpPr/>
          <p:nvPr/>
        </p:nvSpPr>
        <p:spPr>
          <a:xfrm>
            <a:off x="438912" y="3547872"/>
            <a:ext cx="3511296" cy="22677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38912" y="3547872"/>
            <a:ext cx="64008" cy="226771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1792" y="3666744"/>
            <a:ext cx="3163824" cy="2048256"/>
          </a:xfrm>
          <a:prstGeom prst="rect">
            <a:avLst/>
          </a:prstGeom>
          <a:noFill/>
        </p:spPr>
        <p:txBody>
          <a:bodyPr wrap="square" lIns="0" rIns="0">
            <a:spAutoFit/>
          </a:bodyPr>
          <a:lstStyle/>
          <a:p>
            <a:r>
              <a:rPr sz="1300" b="1">
                <a:solidFill>
                  <a:srgbClr val="1A1A24"/>
                </a:solidFill>
                <a:latin typeface="Aptos"/>
              </a:rPr>
              <a:t>Acceptance boundary</a:t>
            </a:r>
          </a:p>
          <a:p>
            <a:pPr>
              <a:spcBef>
                <a:spcPts val="600"/>
              </a:spcBef>
            </a:pPr>
            <a:r>
              <a:rPr sz="1200" b="0">
                <a:solidFill>
                  <a:srgbClr val="1A1A24"/>
                </a:solidFill>
                <a:latin typeface="Aptos"/>
              </a:rPr>
              <a:t>Validate every requested SKU in the selected warehouse.</a:t>
            </a:r>
          </a:p>
          <a:p>
            <a:pPr>
              <a:spcBef>
                <a:spcPts val="600"/>
              </a:spcBef>
            </a:pPr>
            <a:r>
              <a:rPr sz="1200" b="0">
                <a:solidFill>
                  <a:srgbClr val="1A1A24"/>
                </a:solidFill>
                <a:latin typeface="Aptos"/>
              </a:rPr>
              <a:t>Debit free source values and credit reservation atomically.</a:t>
            </a:r>
          </a:p>
        </p:txBody>
      </p:sp>
      <p:sp>
        <p:nvSpPr>
          <p:cNvPr id="54" name="Rounded Rectangle 53"/>
          <p:cNvSpPr/>
          <p:nvPr/>
        </p:nvSpPr>
        <p:spPr>
          <a:xfrm>
            <a:off x="4343400" y="3547872"/>
            <a:ext cx="3511296" cy="22677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343400" y="3547872"/>
            <a:ext cx="64008" cy="226771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26280" y="3666744"/>
            <a:ext cx="3163824" cy="2048256"/>
          </a:xfrm>
          <a:prstGeom prst="rect">
            <a:avLst/>
          </a:prstGeom>
          <a:noFill/>
        </p:spPr>
        <p:txBody>
          <a:bodyPr wrap="square" lIns="0" rIns="0">
            <a:spAutoFit/>
          </a:bodyPr>
          <a:lstStyle/>
          <a:p>
            <a:r>
              <a:rPr sz="1300" b="1">
                <a:solidFill>
                  <a:srgbClr val="1A1A24"/>
                </a:solidFill>
                <a:latin typeface="Aptos"/>
              </a:rPr>
              <a:t>Execution boundary</a:t>
            </a:r>
          </a:p>
          <a:p>
            <a:pPr>
              <a:spcBef>
                <a:spcPts val="600"/>
              </a:spcBef>
            </a:pPr>
            <a:r>
              <a:rPr sz="1200" b="0">
                <a:solidFill>
                  <a:srgbClr val="1A1A24"/>
                </a:solidFill>
                <a:latin typeface="Aptos"/>
              </a:rPr>
              <a:t>Resource acquisition is separate from stock acceptance.</a:t>
            </a:r>
          </a:p>
          <a:p>
            <a:pPr>
              <a:spcBef>
                <a:spcPts val="600"/>
              </a:spcBef>
            </a:pPr>
            <a:r>
              <a:rPr sz="1200" b="0">
                <a:solidFill>
                  <a:srgbClr val="1A1A24"/>
                </a:solidFill>
                <a:latin typeface="Aptos"/>
              </a:rPr>
              <a:t>Persist assignment token, start, due and completion.</a:t>
            </a:r>
          </a:p>
        </p:txBody>
      </p:sp>
      <p:sp>
        <p:nvSpPr>
          <p:cNvPr id="57" name="Rounded Rectangle 56"/>
          <p:cNvSpPr/>
          <p:nvPr/>
        </p:nvSpPr>
        <p:spPr>
          <a:xfrm>
            <a:off x="8247888" y="3547872"/>
            <a:ext cx="3493008" cy="22677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247888" y="3547872"/>
            <a:ext cx="64008" cy="226771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30767" y="3666744"/>
            <a:ext cx="3145536" cy="2048256"/>
          </a:xfrm>
          <a:prstGeom prst="rect">
            <a:avLst/>
          </a:prstGeom>
          <a:noFill/>
        </p:spPr>
        <p:txBody>
          <a:bodyPr wrap="square" lIns="0" rIns="0">
            <a:spAutoFit/>
          </a:bodyPr>
          <a:lstStyle/>
          <a:p>
            <a:r>
              <a:rPr sz="1300" b="1">
                <a:solidFill>
                  <a:srgbClr val="1A1A24"/>
                </a:solidFill>
                <a:latin typeface="Aptos"/>
              </a:rPr>
              <a:t>Accounting boundary</a:t>
            </a:r>
          </a:p>
          <a:p>
            <a:pPr>
              <a:spcBef>
                <a:spcPts val="600"/>
              </a:spcBef>
            </a:pPr>
            <a:r>
              <a:rPr sz="1200" b="0">
                <a:solidFill>
                  <a:srgbClr val="1A1A24"/>
                </a:solidFill>
                <a:latin typeface="Aptos"/>
              </a:rPr>
              <a:t>Pick releases reservation without another free-stock debit.</a:t>
            </a:r>
          </a:p>
          <a:p>
            <a:pPr>
              <a:spcBef>
                <a:spcPts val="600"/>
              </a:spcBef>
            </a:pPr>
            <a:r>
              <a:rPr sz="1200" b="0">
                <a:solidFill>
                  <a:srgbClr val="1A1A24"/>
                </a:solidFill>
                <a:latin typeface="Aptos"/>
              </a:rPr>
              <a:t>Movement identity prevents duplicate effects.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Exception Management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07</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7 · EXCEPTION MANAGEMENT AND INTELLIGENCE MAPPING</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Exceptions are explicit decisions; deterministic policy remains the authority</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Repo3 uses deterministic and statistical methods. It contains no trained ML model and no runtime AI agent.</a:t>
            </a:r>
          </a:p>
        </p:txBody>
      </p:sp>
      <p:graphicFrame>
        <p:nvGraphicFramePr>
          <p:cNvPr id="10" name="Table 9"/>
          <p:cNvGraphicFramePr>
            <a:graphicFrameLocks noGrp="1"/>
          </p:cNvGraphicFramePr>
          <p:nvPr/>
        </p:nvGraphicFramePr>
        <p:xfrm>
          <a:off x="438912" y="1389888"/>
          <a:ext cx="11301983" cy="3566160"/>
        </p:xfrm>
        <a:graphic>
          <a:graphicData uri="http://schemas.openxmlformats.org/drawingml/2006/table">
            <a:tbl>
              <a:tblPr firstRow="1" bandRow="1">
                <a:tableStyleId>{5C22544A-7EE6-4342-B048-85BDC9FD1C3A}</a:tableStyleId>
              </a:tblPr>
              <a:tblGrid>
                <a:gridCol w="2514600"/>
                <a:gridCol w="3749039"/>
                <a:gridCol w="2194560"/>
                <a:gridCol w="2843784"/>
              </a:tblGrid>
              <a:tr h="594360">
                <a:tc>
                  <a:txBody>
                    <a:bodyPr/>
                    <a:lstStyle/>
                    <a:p>
                      <a:r>
                        <a:rPr sz="1000" b="1">
                          <a:solidFill>
                            <a:srgbClr val="FFFFFF"/>
                          </a:solidFill>
                          <a:latin typeface="Aptos"/>
                        </a:rPr>
                        <a:t>Scenario</a:t>
                      </a:r>
                    </a:p>
                  </a:txBody>
                  <a:tcPr marL="82296" marR="82296" marT="36576" marB="27432">
                    <a:solidFill>
                      <a:srgbClr val="1A1A24"/>
                    </a:solidFill>
                  </a:tcPr>
                </a:tc>
                <a:tc>
                  <a:txBody>
                    <a:bodyPr/>
                    <a:lstStyle/>
                    <a:p>
                      <a:r>
                        <a:rPr sz="1000" b="1">
                          <a:solidFill>
                            <a:srgbClr val="FFFFFF"/>
                          </a:solidFill>
                          <a:latin typeface="Aptos"/>
                        </a:rPr>
                        <a:t>Decision / handling</a:t>
                      </a:r>
                    </a:p>
                  </a:txBody>
                  <a:tcPr marL="82296" marR="82296" marT="36576" marB="27432">
                    <a:solidFill>
                      <a:srgbClr val="1A1A24"/>
                    </a:solidFill>
                  </a:tcPr>
                </a:tc>
                <a:tc>
                  <a:txBody>
                    <a:bodyPr/>
                    <a:lstStyle/>
                    <a:p>
                      <a:r>
                        <a:rPr sz="1000" b="1">
                          <a:solidFill>
                            <a:srgbClr val="FFFFFF"/>
                          </a:solidFill>
                          <a:latin typeface="Aptos"/>
                        </a:rPr>
                        <a:t>Method</a:t>
                      </a:r>
                    </a:p>
                  </a:txBody>
                  <a:tcPr marL="82296" marR="82296" marT="36576" marB="27432">
                    <a:solidFill>
                      <a:srgbClr val="1A1A24"/>
                    </a:solidFill>
                  </a:tcPr>
                </a:tc>
                <a:tc>
                  <a:txBody>
                    <a:bodyPr/>
                    <a:lstStyle/>
                    <a:p>
                      <a:r>
                        <a:rPr sz="1000" b="1">
                          <a:solidFill>
                            <a:srgbClr val="FFFFFF"/>
                          </a:solidFill>
                          <a:latin typeface="Aptos"/>
                        </a:rPr>
                        <a:t>Authority</a:t>
                      </a:r>
                    </a:p>
                  </a:txBody>
                  <a:tcPr marL="82296" marR="82296" marT="36576" marB="27432">
                    <a:solidFill>
                      <a:srgbClr val="1A1A24"/>
                    </a:solidFill>
                  </a:tcPr>
                </a:tc>
              </a:tr>
              <a:tr h="594360">
                <a:tc>
                  <a:txBody>
                    <a:bodyPr/>
                    <a:lstStyle/>
                    <a:p>
                      <a:r>
                        <a:rPr sz="900" b="0">
                          <a:solidFill>
                            <a:srgbClr val="1A1A24"/>
                          </a:solidFill>
                          <a:latin typeface="Aptos"/>
                        </a:rPr>
                        <a:t>Selected-warehouse stock shortage</a:t>
                      </a:r>
                    </a:p>
                  </a:txBody>
                  <a:tcPr marL="82296" marR="82296" marT="36576" marB="27432">
                    <a:solidFill>
                      <a:srgbClr val="FFFFFF"/>
                    </a:solidFill>
                  </a:tcPr>
                </a:tc>
                <a:tc>
                  <a:txBody>
                    <a:bodyPr/>
                    <a:lstStyle/>
                    <a:p>
                      <a:r>
                        <a:rPr sz="900" b="0">
                          <a:solidFill>
                            <a:srgbClr val="1A1A24"/>
                          </a:solidFill>
                          <a:latin typeface="Aptos"/>
                        </a:rPr>
                        <a:t>Reject whole new Bazaar request; persist failure</a:t>
                      </a:r>
                    </a:p>
                  </a:txBody>
                  <a:tcPr marL="82296" marR="82296" marT="36576" marB="27432">
                    <a:solidFill>
                      <a:srgbClr val="FFFFFF"/>
                    </a:solidFill>
                  </a:tcPr>
                </a:tc>
                <a:tc>
                  <a:txBody>
                    <a:bodyPr/>
                    <a:lstStyle/>
                    <a:p>
                      <a:r>
                        <a:rPr sz="900" b="0">
                          <a:solidFill>
                            <a:srgbClr val="1A1A24"/>
                          </a:solidFill>
                          <a:latin typeface="Aptos"/>
                        </a:rPr>
                        <a:t>Deterministic</a:t>
                      </a:r>
                    </a:p>
                  </a:txBody>
                  <a:tcPr marL="82296" marR="82296" marT="36576" marB="27432">
                    <a:solidFill>
                      <a:srgbClr val="FFFFFF"/>
                    </a:solidFill>
                  </a:tcPr>
                </a:tc>
                <a:tc>
                  <a:txBody>
                    <a:bodyPr/>
                    <a:lstStyle/>
                    <a:p>
                      <a:r>
                        <a:rPr sz="900" b="0">
                          <a:solidFill>
                            <a:srgbClr val="1A1A24"/>
                          </a:solidFill>
                          <a:latin typeface="Aptos"/>
                        </a:rPr>
                        <a:t>Control Tower</a:t>
                      </a:r>
                    </a:p>
                  </a:txBody>
                  <a:tcPr marL="82296" marR="82296" marT="36576" marB="27432">
                    <a:solidFill>
                      <a:srgbClr val="FFFFFF"/>
                    </a:solidFill>
                  </a:tcPr>
                </a:tc>
              </a:tr>
              <a:tr h="594360">
                <a:tc>
                  <a:txBody>
                    <a:bodyPr/>
                    <a:lstStyle/>
                    <a:p>
                      <a:r>
                        <a:rPr sz="900" b="0">
                          <a:solidFill>
                            <a:srgbClr val="1A1A24"/>
                          </a:solidFill>
                          <a:latin typeface="Aptos"/>
                        </a:rPr>
                        <a:t>Blocked or incompatible resource</a:t>
                      </a:r>
                    </a:p>
                  </a:txBody>
                  <a:tcPr marL="82296" marR="82296" marT="36576" marB="27432">
                    <a:solidFill>
                      <a:srgbClr val="F6F6FA"/>
                    </a:solidFill>
                  </a:tcPr>
                </a:tc>
                <a:tc>
                  <a:txBody>
                    <a:bodyPr/>
                    <a:lstStyle/>
                    <a:p>
                      <a:r>
                        <a:rPr sz="900" b="0">
                          <a:solidFill>
                            <a:srgbClr val="1A1A24"/>
                          </a:solidFill>
                          <a:latin typeface="Aptos"/>
                        </a:rPr>
                        <a:t>Hold work; select only eligible unclaimed candidate</a:t>
                      </a:r>
                    </a:p>
                  </a:txBody>
                  <a:tcPr marL="82296" marR="82296" marT="36576" marB="27432">
                    <a:solidFill>
                      <a:srgbClr val="F6F6FA"/>
                    </a:solidFill>
                  </a:tcPr>
                </a:tc>
                <a:tc>
                  <a:txBody>
                    <a:bodyPr/>
                    <a:lstStyle/>
                    <a:p>
                      <a:r>
                        <a:rPr sz="900" b="0">
                          <a:solidFill>
                            <a:srgbClr val="1A1A24"/>
                          </a:solidFill>
                          <a:latin typeface="Aptos"/>
                        </a:rPr>
                        <a:t>Deterministic</a:t>
                      </a:r>
                    </a:p>
                  </a:txBody>
                  <a:tcPr marL="82296" marR="82296" marT="36576" marB="27432">
                    <a:solidFill>
                      <a:srgbClr val="F6F6FA"/>
                    </a:solidFill>
                  </a:tcPr>
                </a:tc>
                <a:tc>
                  <a:txBody>
                    <a:bodyPr/>
                    <a:lstStyle/>
                    <a:p>
                      <a:r>
                        <a:rPr sz="900" b="0">
                          <a:solidFill>
                            <a:srgbClr val="1A1A24"/>
                          </a:solidFill>
                          <a:latin typeface="Aptos"/>
                        </a:rPr>
                        <a:t>Scheduler policy</a:t>
                      </a:r>
                    </a:p>
                  </a:txBody>
                  <a:tcPr marL="82296" marR="82296" marT="36576" marB="27432">
                    <a:solidFill>
                      <a:srgbClr val="F6F6FA"/>
                    </a:solidFill>
                  </a:tcPr>
                </a:tc>
              </a:tr>
              <a:tr h="594360">
                <a:tc>
                  <a:txBody>
                    <a:bodyPr/>
                    <a:lstStyle/>
                    <a:p>
                      <a:r>
                        <a:rPr sz="900" b="0">
                          <a:solidFill>
                            <a:srgbClr val="1A1A24"/>
                          </a:solidFill>
                          <a:latin typeface="Aptos"/>
                        </a:rPr>
                        <a:t>Running resource fails</a:t>
                      </a:r>
                    </a:p>
                  </a:txBody>
                  <a:tcPr marL="82296" marR="82296" marT="36576" marB="27432">
                    <a:solidFill>
                      <a:srgbClr val="FFFFFF"/>
                    </a:solidFill>
                  </a:tcPr>
                </a:tc>
                <a:tc>
                  <a:txBody>
                    <a:bodyPr/>
                    <a:lstStyle/>
                    <a:p>
                      <a:r>
                        <a:rPr sz="900" b="0">
                          <a:solidFill>
                            <a:srgbClr val="1A1A24"/>
                          </a:solidFill>
                          <a:latin typeface="Aptos"/>
                        </a:rPr>
                        <a:t>Pause/kill; replace unfinished stage or wait</a:t>
                      </a:r>
                    </a:p>
                  </a:txBody>
                  <a:tcPr marL="82296" marR="82296" marT="36576" marB="27432">
                    <a:solidFill>
                      <a:srgbClr val="FFFFFF"/>
                    </a:solidFill>
                  </a:tcPr>
                </a:tc>
                <a:tc>
                  <a:txBody>
                    <a:bodyPr/>
                    <a:lstStyle/>
                    <a:p>
                      <a:r>
                        <a:rPr sz="900" b="0">
                          <a:solidFill>
                            <a:srgbClr val="1A1A24"/>
                          </a:solidFill>
                          <a:latin typeface="Aptos"/>
                        </a:rPr>
                        <a:t>Deterministic</a:t>
                      </a:r>
                    </a:p>
                  </a:txBody>
                  <a:tcPr marL="82296" marR="82296" marT="36576" marB="27432">
                    <a:solidFill>
                      <a:srgbClr val="FFFFFF"/>
                    </a:solidFill>
                  </a:tcPr>
                </a:tc>
                <a:tc>
                  <a:txBody>
                    <a:bodyPr/>
                    <a:lstStyle/>
                    <a:p>
                      <a:r>
                        <a:rPr sz="900" b="0">
                          <a:solidFill>
                            <a:srgbClr val="1A1A24"/>
                          </a:solidFill>
                          <a:latin typeface="Aptos"/>
                        </a:rPr>
                        <a:t>Fleet workflow</a:t>
                      </a:r>
                    </a:p>
                  </a:txBody>
                  <a:tcPr marL="82296" marR="82296" marT="36576" marB="27432">
                    <a:solidFill>
                      <a:srgbClr val="FFFFFF"/>
                    </a:solidFill>
                  </a:tcPr>
                </a:tc>
              </a:tr>
              <a:tr h="594360">
                <a:tc>
                  <a:txBody>
                    <a:bodyPr/>
                    <a:lstStyle/>
                    <a:p>
                      <a:r>
                        <a:rPr sz="900" b="0">
                          <a:solidFill>
                            <a:srgbClr val="1A1A24"/>
                          </a:solidFill>
                          <a:latin typeface="Aptos"/>
                        </a:rPr>
                        <a:t>Inventory discrepancy</a:t>
                      </a:r>
                    </a:p>
                  </a:txBody>
                  <a:tcPr marL="82296" marR="82296" marT="36576" marB="27432">
                    <a:solidFill>
                      <a:srgbClr val="F6F6FA"/>
                    </a:solidFill>
                  </a:tcPr>
                </a:tc>
                <a:tc>
                  <a:txBody>
                    <a:bodyPr/>
                    <a:lstStyle/>
                    <a:p>
                      <a:r>
                        <a:rPr sz="900" b="0">
                          <a:solidFill>
                            <a:srgbClr val="1A1A24"/>
                          </a:solidFill>
                          <a:latin typeface="Aptos"/>
                        </a:rPr>
                        <a:t>Surface intervention; correct app-owned evidence with revision</a:t>
                      </a:r>
                    </a:p>
                  </a:txBody>
                  <a:tcPr marL="82296" marR="82296" marT="36576" marB="27432">
                    <a:solidFill>
                      <a:srgbClr val="F6F6FA"/>
                    </a:solidFill>
                  </a:tcPr>
                </a:tc>
                <a:tc>
                  <a:txBody>
                    <a:bodyPr/>
                    <a:lstStyle/>
                    <a:p>
                      <a:r>
                        <a:rPr sz="900" b="0">
                          <a:solidFill>
                            <a:srgbClr val="1A1A24"/>
                          </a:solidFill>
                          <a:latin typeface="Aptos"/>
                        </a:rPr>
                        <a:t>Deterministic + HITL</a:t>
                      </a:r>
                    </a:p>
                  </a:txBody>
                  <a:tcPr marL="82296" marR="82296" marT="36576" marB="27432">
                    <a:solidFill>
                      <a:srgbClr val="F6F6FA"/>
                    </a:solidFill>
                  </a:tcPr>
                </a:tc>
                <a:tc>
                  <a:txBody>
                    <a:bodyPr/>
                    <a:lstStyle/>
                    <a:p>
                      <a:r>
                        <a:rPr sz="900" b="0">
                          <a:solidFill>
                            <a:srgbClr val="1A1A24"/>
                          </a:solidFill>
                          <a:latin typeface="Aptos"/>
                        </a:rPr>
                        <a:t>Supervisor</a:t>
                      </a:r>
                    </a:p>
                  </a:txBody>
                  <a:tcPr marL="82296" marR="82296" marT="36576" marB="27432">
                    <a:solidFill>
                      <a:srgbClr val="F6F6FA"/>
                    </a:solidFill>
                  </a:tcPr>
                </a:tc>
              </a:tr>
              <a:tr h="594360">
                <a:tc>
                  <a:txBody>
                    <a:bodyPr/>
                    <a:lstStyle/>
                    <a:p>
                      <a:r>
                        <a:rPr sz="900" b="0">
                          <a:solidFill>
                            <a:srgbClr val="1A1A24"/>
                          </a:solidFill>
                          <a:latin typeface="Aptos"/>
                        </a:rPr>
                        <a:t>Low-stock risk</a:t>
                      </a:r>
                    </a:p>
                  </a:txBody>
                  <a:tcPr marL="82296" marR="82296" marT="36576" marB="27432">
                    <a:solidFill>
                      <a:srgbClr val="FFFFFF"/>
                    </a:solidFill>
                  </a:tcPr>
                </a:tc>
                <a:tc>
                  <a:txBody>
                    <a:bodyPr/>
                    <a:lstStyle/>
                    <a:p>
                      <a:r>
                        <a:rPr sz="900" b="0">
                          <a:solidFill>
                            <a:srgbClr val="1A1A24"/>
                          </a:solidFill>
                          <a:latin typeface="Aptos"/>
                        </a:rPr>
                        <a:t>Compare current free availability with saved 7-day baseline</a:t>
                      </a:r>
                    </a:p>
                  </a:txBody>
                  <a:tcPr marL="82296" marR="82296" marT="36576" marB="27432">
                    <a:solidFill>
                      <a:srgbClr val="FFFFFF"/>
                    </a:solidFill>
                  </a:tcPr>
                </a:tc>
                <a:tc>
                  <a:txBody>
                    <a:bodyPr/>
                    <a:lstStyle/>
                    <a:p>
                      <a:r>
                        <a:rPr sz="900" b="0">
                          <a:solidFill>
                            <a:srgbClr val="1A1A24"/>
                          </a:solidFill>
                          <a:latin typeface="Aptos"/>
                        </a:rPr>
                        <a:t>Statistical</a:t>
                      </a:r>
                    </a:p>
                  </a:txBody>
                  <a:tcPr marL="82296" marR="82296" marT="36576" marB="27432">
                    <a:solidFill>
                      <a:srgbClr val="FFFFFF"/>
                    </a:solidFill>
                  </a:tcPr>
                </a:tc>
                <a:tc>
                  <a:txBody>
                    <a:bodyPr/>
                    <a:lstStyle/>
                    <a:p>
                      <a:r>
                        <a:rPr sz="900" b="0">
                          <a:solidFill>
                            <a:srgbClr val="1A1A24"/>
                          </a:solidFill>
                          <a:latin typeface="Aptos"/>
                        </a:rPr>
                        <a:t>Supervisor</a:t>
                      </a:r>
                    </a:p>
                  </a:txBody>
                  <a:tcPr marL="82296" marR="82296" marT="36576" marB="27432">
                    <a:solidFill>
                      <a:srgbClr val="FFFFFF"/>
                    </a:solidFill>
                  </a:tcPr>
                </a:tc>
              </a:tr>
            </a:tbl>
          </a:graphicData>
        </a:graphic>
      </p:graphicFrame>
      <p:sp>
        <p:nvSpPr>
          <p:cNvPr id="11" name="Rounded Rectangle 10"/>
          <p:cNvSpPr/>
          <p:nvPr/>
        </p:nvSpPr>
        <p:spPr>
          <a:xfrm>
            <a:off x="438912" y="5230368"/>
            <a:ext cx="3511296" cy="85953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5230368"/>
            <a:ext cx="64008" cy="85953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349240"/>
            <a:ext cx="3163824" cy="640080"/>
          </a:xfrm>
          <a:prstGeom prst="rect">
            <a:avLst/>
          </a:prstGeom>
          <a:noFill/>
        </p:spPr>
        <p:txBody>
          <a:bodyPr wrap="square" lIns="0" rIns="0">
            <a:spAutoFit/>
          </a:bodyPr>
          <a:lstStyle/>
          <a:p>
            <a:r>
              <a:rPr sz="1300" b="1">
                <a:solidFill>
                  <a:srgbClr val="1A1A24"/>
                </a:solidFill>
                <a:latin typeface="Aptos"/>
              </a:rPr>
              <a:t>Deterministic</a:t>
            </a:r>
          </a:p>
          <a:p>
            <a:pPr>
              <a:spcBef>
                <a:spcPts val="600"/>
              </a:spcBef>
            </a:pPr>
            <a:r>
              <a:rPr sz="1000" b="0">
                <a:solidFill>
                  <a:srgbClr val="1A1A24"/>
                </a:solidFill>
                <a:latin typeface="Aptos"/>
              </a:rPr>
              <a:t>Eligibility · accounting · scheduling · recovery</a:t>
            </a:r>
          </a:p>
        </p:txBody>
      </p:sp>
      <p:sp>
        <p:nvSpPr>
          <p:cNvPr id="14" name="Rounded Rectangle 13"/>
          <p:cNvSpPr/>
          <p:nvPr/>
        </p:nvSpPr>
        <p:spPr>
          <a:xfrm>
            <a:off x="4343400" y="5230368"/>
            <a:ext cx="3511296" cy="85953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5230368"/>
            <a:ext cx="64008" cy="859536"/>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5349240"/>
            <a:ext cx="3163824" cy="640080"/>
          </a:xfrm>
          <a:prstGeom prst="rect">
            <a:avLst/>
          </a:prstGeom>
          <a:noFill/>
        </p:spPr>
        <p:txBody>
          <a:bodyPr wrap="square" lIns="0" rIns="0">
            <a:spAutoFit/>
          </a:bodyPr>
          <a:lstStyle/>
          <a:p>
            <a:r>
              <a:rPr sz="1300" b="1">
                <a:solidFill>
                  <a:srgbClr val="1A1A24"/>
                </a:solidFill>
                <a:latin typeface="Aptos"/>
              </a:rPr>
              <a:t>ML</a:t>
            </a:r>
          </a:p>
          <a:p>
            <a:pPr>
              <a:spcBef>
                <a:spcPts val="600"/>
              </a:spcBef>
            </a:pPr>
            <a:r>
              <a:rPr sz="1000" b="0">
                <a:solidFill>
                  <a:srgbClr val="1A1A24"/>
                </a:solidFill>
                <a:latin typeface="Aptos"/>
              </a:rPr>
              <a:t>None. Forecast is a transparent arithmetic baseline.</a:t>
            </a:r>
          </a:p>
        </p:txBody>
      </p:sp>
      <p:sp>
        <p:nvSpPr>
          <p:cNvPr id="17" name="Rounded Rectangle 16"/>
          <p:cNvSpPr/>
          <p:nvPr/>
        </p:nvSpPr>
        <p:spPr>
          <a:xfrm>
            <a:off x="8247888" y="5230368"/>
            <a:ext cx="3493008" cy="85953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47888" y="5230368"/>
            <a:ext cx="64008" cy="859536"/>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30767" y="5349240"/>
            <a:ext cx="3145536" cy="640080"/>
          </a:xfrm>
          <a:prstGeom prst="rect">
            <a:avLst/>
          </a:prstGeom>
          <a:noFill/>
        </p:spPr>
        <p:txBody>
          <a:bodyPr wrap="square" lIns="0" rIns="0">
            <a:spAutoFit/>
          </a:bodyPr>
          <a:lstStyle/>
          <a:p>
            <a:r>
              <a:rPr sz="1300" b="1">
                <a:solidFill>
                  <a:srgbClr val="1A1A24"/>
                </a:solidFill>
                <a:latin typeface="Aptos"/>
              </a:rPr>
              <a:t>AI / agents</a:t>
            </a:r>
          </a:p>
          <a:p>
            <a:pPr>
              <a:spcBef>
                <a:spcPts val="600"/>
              </a:spcBef>
            </a:pPr>
            <a:r>
              <a:rPr sz="1000" b="0">
                <a:solidFill>
                  <a:srgbClr val="1A1A24"/>
                </a:solidFill>
                <a:latin typeface="Aptos"/>
              </a:rPr>
              <a:t>None at runtime. No model or agent touches a write path.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08</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8 · KPI IMPROVEMENT DEMONSTRATION</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V3 improves the treatment of known risks; live business improvement is not yet proven</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The comparison below distinguishes estate baseline, V3 control and the evidence available today.</a:t>
            </a:r>
          </a:p>
        </p:txBody>
      </p:sp>
      <p:graphicFrame>
        <p:nvGraphicFramePr>
          <p:cNvPr id="10" name="Table 9"/>
          <p:cNvGraphicFramePr>
            <a:graphicFrameLocks noGrp="1"/>
          </p:cNvGraphicFramePr>
          <p:nvPr/>
        </p:nvGraphicFramePr>
        <p:xfrm>
          <a:off x="438912" y="1371600"/>
          <a:ext cx="11301983" cy="3730752"/>
        </p:xfrm>
        <a:graphic>
          <a:graphicData uri="http://schemas.openxmlformats.org/drawingml/2006/table">
            <a:tbl>
              <a:tblPr firstRow="1" bandRow="1">
                <a:tableStyleId>{5C22544A-7EE6-4342-B048-85BDC9FD1C3A}</a:tableStyleId>
              </a:tblPr>
              <a:tblGrid>
                <a:gridCol w="2395728"/>
                <a:gridCol w="2331720"/>
                <a:gridCol w="3904487"/>
                <a:gridCol w="2670048"/>
              </a:tblGrid>
              <a:tr h="621792">
                <a:tc>
                  <a:txBody>
                    <a:bodyPr/>
                    <a:lstStyle/>
                    <a:p>
                      <a:r>
                        <a:rPr sz="1000" b="1">
                          <a:solidFill>
                            <a:srgbClr val="FFFFFF"/>
                          </a:solidFill>
                          <a:latin typeface="Aptos"/>
                        </a:rPr>
                        <a:t>Baseline risk</a:t>
                      </a:r>
                    </a:p>
                  </a:txBody>
                  <a:tcPr marL="82296" marR="82296" marT="36576" marB="27432">
                    <a:solidFill>
                      <a:srgbClr val="1A1A24"/>
                    </a:solidFill>
                  </a:tcPr>
                </a:tc>
                <a:tc>
                  <a:txBody>
                    <a:bodyPr/>
                    <a:lstStyle/>
                    <a:p>
                      <a:r>
                        <a:rPr sz="1000" b="1">
                          <a:solidFill>
                            <a:srgbClr val="FFFFFF"/>
                          </a:solidFill>
                          <a:latin typeface="Aptos"/>
                        </a:rPr>
                        <a:t>Current state</a:t>
                      </a:r>
                    </a:p>
                  </a:txBody>
                  <a:tcPr marL="82296" marR="82296" marT="36576" marB="27432">
                    <a:solidFill>
                      <a:srgbClr val="1A1A24"/>
                    </a:solidFill>
                  </a:tcPr>
                </a:tc>
                <a:tc>
                  <a:txBody>
                    <a:bodyPr/>
                    <a:lstStyle/>
                    <a:p>
                      <a:r>
                        <a:rPr sz="1000" b="1">
                          <a:solidFill>
                            <a:srgbClr val="FFFFFF"/>
                          </a:solidFill>
                          <a:latin typeface="Aptos"/>
                        </a:rPr>
                        <a:t>V3 treatment / target</a:t>
                      </a:r>
                    </a:p>
                  </a:txBody>
                  <a:tcPr marL="82296" marR="82296" marT="36576" marB="27432">
                    <a:solidFill>
                      <a:srgbClr val="1A1A24"/>
                    </a:solidFill>
                  </a:tcPr>
                </a:tc>
                <a:tc>
                  <a:txBody>
                    <a:bodyPr/>
                    <a:lstStyle/>
                    <a:p>
                      <a:r>
                        <a:rPr sz="1000" b="1">
                          <a:solidFill>
                            <a:srgbClr val="FFFFFF"/>
                          </a:solidFill>
                          <a:latin typeface="Aptos"/>
                        </a:rPr>
                        <a:t>Evidence status</a:t>
                      </a:r>
                    </a:p>
                  </a:txBody>
                  <a:tcPr marL="82296" marR="82296" marT="36576" marB="27432">
                    <a:solidFill>
                      <a:srgbClr val="1A1A24"/>
                    </a:solidFill>
                  </a:tcPr>
                </a:tc>
              </a:tr>
              <a:tr h="621792">
                <a:tc>
                  <a:txBody>
                    <a:bodyPr/>
                    <a:lstStyle/>
                    <a:p>
                      <a:r>
                        <a:rPr sz="900" b="0">
                          <a:solidFill>
                            <a:srgbClr val="1A1A24"/>
                          </a:solidFill>
                          <a:latin typeface="Aptos"/>
                        </a:rPr>
                        <a:t>False-available robot</a:t>
                      </a:r>
                    </a:p>
                  </a:txBody>
                  <a:tcPr marL="82296" marR="82296" marT="36576" marB="27432">
                    <a:solidFill>
                      <a:srgbClr val="FFFFFF"/>
                    </a:solidFill>
                  </a:tcPr>
                </a:tc>
                <a:tc>
                  <a:txBody>
                    <a:bodyPr/>
                    <a:lstStyle/>
                    <a:p>
                      <a:r>
                        <a:rPr sz="900" b="0">
                          <a:solidFill>
                            <a:srgbClr val="1A1A24"/>
                          </a:solidFill>
                          <a:latin typeface="Aptos"/>
                        </a:rPr>
                        <a:t>203 / 712 look usable</a:t>
                      </a:r>
                    </a:p>
                  </a:txBody>
                  <a:tcPr marL="82296" marR="82296" marT="36576" marB="27432">
                    <a:solidFill>
                      <a:srgbClr val="FFFFFF"/>
                    </a:solidFill>
                  </a:tcPr>
                </a:tc>
                <a:tc>
                  <a:txBody>
                    <a:bodyPr/>
                    <a:lstStyle/>
                    <a:p>
                      <a:r>
                        <a:rPr sz="900" b="0">
                          <a:solidFill>
                            <a:srgbClr val="1A1A24"/>
                          </a:solidFill>
                          <a:latin typeface="Aptos"/>
                        </a:rPr>
                        <a:t>0 known blocked resources assigned</a:t>
                      </a:r>
                    </a:p>
                  </a:txBody>
                  <a:tcPr marL="82296" marR="82296" marT="36576" marB="27432">
                    <a:solidFill>
                      <a:srgbClr val="FFFFFF"/>
                    </a:solidFill>
                  </a:tcPr>
                </a:tc>
                <a:tc>
                  <a:txBody>
                    <a:bodyPr/>
                    <a:lstStyle/>
                    <a:p>
                      <a:r>
                        <a:rPr sz="900" b="0">
                          <a:solidFill>
                            <a:srgbClr val="1A1A24"/>
                          </a:solidFill>
                          <a:latin typeface="Aptos"/>
                        </a:rPr>
                        <a:t>Product tests reported</a:t>
                      </a:r>
                    </a:p>
                  </a:txBody>
                  <a:tcPr marL="82296" marR="82296" marT="36576" marB="27432">
                    <a:solidFill>
                      <a:srgbClr val="FFFFFF"/>
                    </a:solidFill>
                  </a:tcPr>
                </a:tc>
              </a:tr>
              <a:tr h="621792">
                <a:tc>
                  <a:txBody>
                    <a:bodyPr/>
                    <a:lstStyle/>
                    <a:p>
                      <a:r>
                        <a:rPr sz="900" b="0">
                          <a:solidFill>
                            <a:srgbClr val="1A1A24"/>
                          </a:solidFill>
                          <a:latin typeface="Aptos"/>
                        </a:rPr>
                        <a:t>Inventory disagreement</a:t>
                      </a:r>
                    </a:p>
                  </a:txBody>
                  <a:tcPr marL="82296" marR="82296" marT="36576" marB="27432">
                    <a:solidFill>
                      <a:srgbClr val="F6F6FA"/>
                    </a:solidFill>
                  </a:tcPr>
                </a:tc>
                <a:tc>
                  <a:txBody>
                    <a:bodyPr/>
                    <a:lstStyle/>
                    <a:p>
                      <a:r>
                        <a:rPr sz="900" b="0">
                          <a:solidFill>
                            <a:srgbClr val="1A1A24"/>
                          </a:solidFill>
                          <a:latin typeface="Aptos"/>
                        </a:rPr>
                        <a:t>7,382 / 9,360 rows</a:t>
                      </a:r>
                    </a:p>
                  </a:txBody>
                  <a:tcPr marL="82296" marR="82296" marT="36576" marB="27432">
                    <a:solidFill>
                      <a:srgbClr val="F6F6FA"/>
                    </a:solidFill>
                  </a:tcPr>
                </a:tc>
                <a:tc>
                  <a:txBody>
                    <a:bodyPr/>
                    <a:lstStyle/>
                    <a:p>
                      <a:r>
                        <a:rPr sz="900" b="0">
                          <a:solidFill>
                            <a:srgbClr val="1A1A24"/>
                          </a:solidFill>
                          <a:latin typeface="Aptos"/>
                        </a:rPr>
                        <a:t>Use conservative source minimum; retain correction audit</a:t>
                      </a:r>
                    </a:p>
                  </a:txBody>
                  <a:tcPr marL="82296" marR="82296" marT="36576" marB="27432">
                    <a:solidFill>
                      <a:srgbClr val="F6F6FA"/>
                    </a:solidFill>
                  </a:tcPr>
                </a:tc>
                <a:tc>
                  <a:txBody>
                    <a:bodyPr/>
                    <a:lstStyle/>
                    <a:p>
                      <a:r>
                        <a:rPr sz="900" b="0">
                          <a:solidFill>
                            <a:srgbClr val="1A1A24"/>
                          </a:solidFill>
                          <a:latin typeface="Aptos"/>
                        </a:rPr>
                        <a:t>Implemented policy</a:t>
                      </a:r>
                    </a:p>
                  </a:txBody>
                  <a:tcPr marL="82296" marR="82296" marT="36576" marB="27432">
                    <a:solidFill>
                      <a:srgbClr val="F6F6FA"/>
                    </a:solidFill>
                  </a:tcPr>
                </a:tc>
              </a:tr>
              <a:tr h="621792">
                <a:tc>
                  <a:txBody>
                    <a:bodyPr/>
                    <a:lstStyle/>
                    <a:p>
                      <a:r>
                        <a:rPr sz="900" b="0">
                          <a:solidFill>
                            <a:srgbClr val="1A1A24"/>
                          </a:solidFill>
                          <a:latin typeface="Aptos"/>
                        </a:rPr>
                        <a:t>Duplicate retry / movement</a:t>
                      </a:r>
                    </a:p>
                  </a:txBody>
                  <a:tcPr marL="82296" marR="82296" marT="36576" marB="27432">
                    <a:solidFill>
                      <a:srgbClr val="FFFFFF"/>
                    </a:solidFill>
                  </a:tcPr>
                </a:tc>
                <a:tc>
                  <a:txBody>
                    <a:bodyPr/>
                    <a:lstStyle/>
                    <a:p>
                      <a:r>
                        <a:rPr sz="900" b="0">
                          <a:solidFill>
                            <a:srgbClr val="1A1A24"/>
                          </a:solidFill>
                          <a:latin typeface="Aptos"/>
                        </a:rPr>
                        <a:t>No unified durable identity</a:t>
                      </a:r>
                    </a:p>
                  </a:txBody>
                  <a:tcPr marL="82296" marR="82296" marT="36576" marB="27432">
                    <a:solidFill>
                      <a:srgbClr val="FFFFFF"/>
                    </a:solidFill>
                  </a:tcPr>
                </a:tc>
                <a:tc>
                  <a:txBody>
                    <a:bodyPr/>
                    <a:lstStyle/>
                    <a:p>
                      <a:r>
                        <a:rPr sz="900" b="0">
                          <a:solidFill>
                            <a:srgbClr val="1A1A24"/>
                          </a:solidFill>
                          <a:latin typeface="Aptos"/>
                        </a:rPr>
                        <a:t>0 duplicate order or quantity movement</a:t>
                      </a:r>
                    </a:p>
                  </a:txBody>
                  <a:tcPr marL="82296" marR="82296" marT="36576" marB="27432">
                    <a:solidFill>
                      <a:srgbClr val="FFFFFF"/>
                    </a:solidFill>
                  </a:tcPr>
                </a:tc>
                <a:tc>
                  <a:txBody>
                    <a:bodyPr/>
                    <a:lstStyle/>
                    <a:p>
                      <a:r>
                        <a:rPr sz="900" b="0">
                          <a:solidFill>
                            <a:srgbClr val="1A1A24"/>
                          </a:solidFill>
                          <a:latin typeface="Aptos"/>
                        </a:rPr>
                        <a:t>Idempotency tests reported</a:t>
                      </a:r>
                    </a:p>
                  </a:txBody>
                  <a:tcPr marL="82296" marR="82296" marT="36576" marB="27432">
                    <a:solidFill>
                      <a:srgbClr val="FFFFFF"/>
                    </a:solidFill>
                  </a:tcPr>
                </a:tc>
              </a:tr>
              <a:tr h="621792">
                <a:tc>
                  <a:txBody>
                    <a:bodyPr/>
                    <a:lstStyle/>
                    <a:p>
                      <a:r>
                        <a:rPr sz="900" b="0">
                          <a:solidFill>
                            <a:srgbClr val="1A1A24"/>
                          </a:solidFill>
                          <a:latin typeface="Aptos"/>
                        </a:rPr>
                        <a:t>False task completion</a:t>
                      </a:r>
                    </a:p>
                  </a:txBody>
                  <a:tcPr marL="82296" marR="82296" marT="36576" marB="27432">
                    <a:solidFill>
                      <a:srgbClr val="F6F6FA"/>
                    </a:solidFill>
                  </a:tcPr>
                </a:tc>
                <a:tc>
                  <a:txBody>
                    <a:bodyPr/>
                    <a:lstStyle/>
                    <a:p>
                      <a:r>
                        <a:rPr sz="900" b="0">
                          <a:solidFill>
                            <a:srgbClr val="1A1A24"/>
                          </a:solidFill>
                          <a:latin typeface="Aptos"/>
                        </a:rPr>
                        <a:t>7,351 / 8,732 mismatches</a:t>
                      </a:r>
                    </a:p>
                  </a:txBody>
                  <a:tcPr marL="82296" marR="82296" marT="36576" marB="27432">
                    <a:solidFill>
                      <a:srgbClr val="F6F6FA"/>
                    </a:solidFill>
                  </a:tcPr>
                </a:tc>
                <a:tc>
                  <a:txBody>
                    <a:bodyPr/>
                    <a:lstStyle/>
                    <a:p>
                      <a:r>
                        <a:rPr sz="900" b="0">
                          <a:solidFill>
                            <a:srgbClr val="1A1A24"/>
                          </a:solidFill>
                          <a:latin typeface="Aptos"/>
                        </a:rPr>
                        <a:t>Persist each stage and completion transition</a:t>
                      </a:r>
                    </a:p>
                  </a:txBody>
                  <a:tcPr marL="82296" marR="82296" marT="36576" marB="27432">
                    <a:solidFill>
                      <a:srgbClr val="F6F6FA"/>
                    </a:solidFill>
                  </a:tcPr>
                </a:tc>
                <a:tc>
                  <a:txBody>
                    <a:bodyPr/>
                    <a:lstStyle/>
                    <a:p>
                      <a:r>
                        <a:rPr sz="900" b="0">
                          <a:solidFill>
                            <a:srgbClr val="1A1A24"/>
                          </a:solidFill>
                          <a:latin typeface="Aptos"/>
                        </a:rPr>
                        <a:t>Lifecycle tests reported</a:t>
                      </a:r>
                    </a:p>
                  </a:txBody>
                  <a:tcPr marL="82296" marR="82296" marT="36576" marB="27432">
                    <a:solidFill>
                      <a:srgbClr val="F6F6FA"/>
                    </a:solidFill>
                  </a:tcPr>
                </a:tc>
              </a:tr>
              <a:tr h="621792">
                <a:tc>
                  <a:txBody>
                    <a:bodyPr/>
                    <a:lstStyle/>
                    <a:p>
                      <a:r>
                        <a:rPr sz="900" b="0">
                          <a:solidFill>
                            <a:srgbClr val="1A1A24"/>
                          </a:solidFill>
                          <a:latin typeface="Aptos"/>
                        </a:rPr>
                        <a:t>Delayed shipment visibility</a:t>
                      </a:r>
                    </a:p>
                  </a:txBody>
                  <a:tcPr marL="82296" marR="82296" marT="36576" marB="27432">
                    <a:solidFill>
                      <a:srgbClr val="FFFFFF"/>
                    </a:solidFill>
                  </a:tcPr>
                </a:tc>
                <a:tc>
                  <a:txBody>
                    <a:bodyPr/>
                    <a:lstStyle/>
                    <a:p>
                      <a:r>
                        <a:rPr sz="900" b="0">
                          <a:solidFill>
                            <a:srgbClr val="1A1A24"/>
                          </a:solidFill>
                          <a:latin typeface="Aptos"/>
                        </a:rPr>
                        <a:t>586 / 3,500 delayed</a:t>
                      </a:r>
                    </a:p>
                  </a:txBody>
                  <a:tcPr marL="82296" marR="82296" marT="36576" marB="27432">
                    <a:solidFill>
                      <a:srgbClr val="FFFFFF"/>
                    </a:solidFill>
                  </a:tcPr>
                </a:tc>
                <a:tc>
                  <a:txBody>
                    <a:bodyPr/>
                    <a:lstStyle/>
                    <a:p>
                      <a:r>
                        <a:rPr sz="900" b="0">
                          <a:solidFill>
                            <a:srgbClr val="1A1A24"/>
                          </a:solidFill>
                          <a:latin typeface="Aptos"/>
                        </a:rPr>
                        <a:t>Deadline-prioritized queue and explicit overdue state</a:t>
                      </a:r>
                    </a:p>
                  </a:txBody>
                  <a:tcPr marL="82296" marR="82296" marT="36576" marB="27432">
                    <a:solidFill>
                      <a:srgbClr val="FFFFFF"/>
                    </a:solidFill>
                  </a:tcPr>
                </a:tc>
                <a:tc>
                  <a:txBody>
                    <a:bodyPr/>
                    <a:lstStyle/>
                    <a:p>
                      <a:r>
                        <a:rPr sz="900" b="0">
                          <a:solidFill>
                            <a:srgbClr val="1A1A24"/>
                          </a:solidFill>
                          <a:latin typeface="Aptos"/>
                        </a:rPr>
                        <a:t>Simulation only</a:t>
                      </a:r>
                    </a:p>
                  </a:txBody>
                  <a:tcPr marL="82296" marR="82296" marT="36576" marB="27432">
                    <a:solidFill>
                      <a:srgbClr val="FFFFFF"/>
                    </a:solidFill>
                  </a:tcPr>
                </a:tc>
              </a:tr>
            </a:tbl>
          </a:graphicData>
        </a:graphic>
      </p:graphicFrame>
      <p:sp>
        <p:nvSpPr>
          <p:cNvPr id="11" name="Rounded Rectangle 10"/>
          <p:cNvSpPr/>
          <p:nvPr/>
        </p:nvSpPr>
        <p:spPr>
          <a:xfrm>
            <a:off x="438912" y="5376672"/>
            <a:ext cx="5468112" cy="74980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5376672"/>
            <a:ext cx="64008" cy="7498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495544"/>
            <a:ext cx="5120640" cy="530352"/>
          </a:xfrm>
          <a:prstGeom prst="rect">
            <a:avLst/>
          </a:prstGeom>
          <a:noFill/>
        </p:spPr>
        <p:txBody>
          <a:bodyPr wrap="square" lIns="0" rIns="0">
            <a:spAutoFit/>
          </a:bodyPr>
          <a:lstStyle/>
          <a:p>
            <a:r>
              <a:rPr sz="1300" b="1">
                <a:solidFill>
                  <a:srgbClr val="1A1A24"/>
                </a:solidFill>
                <a:latin typeface="Aptos"/>
              </a:rPr>
              <a:t>Business value supported</a:t>
            </a:r>
          </a:p>
          <a:p>
            <a:pPr>
              <a:spcBef>
                <a:spcPts val="600"/>
              </a:spcBef>
            </a:pPr>
            <a:r>
              <a:rPr sz="1000" b="0">
                <a:solidFill>
                  <a:srgbClr val="1A1A24"/>
                </a:solidFill>
                <a:latin typeface="Aptos"/>
              </a:rPr>
              <a:t>Fewer ambiguous decisions, repeatable accounting and auditable recovery.</a:t>
            </a:r>
          </a:p>
        </p:txBody>
      </p:sp>
      <p:sp>
        <p:nvSpPr>
          <p:cNvPr id="14" name="Rounded Rectangle 13"/>
          <p:cNvSpPr/>
          <p:nvPr/>
        </p:nvSpPr>
        <p:spPr>
          <a:xfrm>
            <a:off x="6126480" y="5376672"/>
            <a:ext cx="5614416" cy="74980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5376672"/>
            <a:ext cx="64008" cy="74980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5495544"/>
            <a:ext cx="5266944" cy="530352"/>
          </a:xfrm>
          <a:prstGeom prst="rect">
            <a:avLst/>
          </a:prstGeom>
          <a:noFill/>
        </p:spPr>
        <p:txBody>
          <a:bodyPr wrap="square" lIns="0" rIns="0">
            <a:spAutoFit/>
          </a:bodyPr>
          <a:lstStyle/>
          <a:p>
            <a:r>
              <a:rPr sz="1300" b="1">
                <a:solidFill>
                  <a:srgbClr val="1A1A24"/>
                </a:solidFill>
                <a:latin typeface="Aptos"/>
              </a:rPr>
              <a:t>Business value not yet supported</a:t>
            </a:r>
          </a:p>
          <a:p>
            <a:pPr>
              <a:spcBef>
                <a:spcPts val="600"/>
              </a:spcBef>
            </a:pPr>
            <a:r>
              <a:rPr sz="1000" b="0">
                <a:solidFill>
                  <a:srgbClr val="1A1A24"/>
                </a:solidFill>
                <a:latin typeface="Aptos"/>
              </a:rPr>
              <a:t>No live lead-time gain, cost saving, safety outcome or financial ROI claim.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Moonshot Ideas</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09</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9 · MOONSHOT IDEAS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Evolve only when evidence and authority justify the next horizon</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The roadmap expands trust before autonomy. None of these ideas are part of the current release claim.</a:t>
            </a:r>
          </a:p>
        </p:txBody>
      </p:sp>
      <p:sp>
        <p:nvSpPr>
          <p:cNvPr id="10" name="Rounded Rectangle 9"/>
          <p:cNvSpPr/>
          <p:nvPr/>
        </p:nvSpPr>
        <p:spPr>
          <a:xfrm>
            <a:off x="438912" y="1408176"/>
            <a:ext cx="3529584" cy="4535424"/>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08176"/>
            <a:ext cx="64008" cy="453542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27048"/>
            <a:ext cx="3182112" cy="4315968"/>
          </a:xfrm>
          <a:prstGeom prst="rect">
            <a:avLst/>
          </a:prstGeom>
          <a:noFill/>
        </p:spPr>
        <p:txBody>
          <a:bodyPr wrap="square" lIns="0" rIns="0">
            <a:spAutoFit/>
          </a:bodyPr>
          <a:lstStyle/>
          <a:p>
            <a:r>
              <a:rPr sz="1300" b="1">
                <a:solidFill>
                  <a:srgbClr val="FFE600"/>
                </a:solidFill>
                <a:latin typeface="Aptos"/>
              </a:rPr>
              <a:t>Horizon 1 · Harden</a:t>
            </a:r>
          </a:p>
          <a:p>
            <a:pPr>
              <a:spcBef>
                <a:spcPts val="600"/>
              </a:spcBef>
            </a:pPr>
            <a:r>
              <a:rPr sz="1200" b="0">
                <a:solidFill>
                  <a:srgbClr val="FFFFFF"/>
                </a:solidFill>
                <a:latin typeface="Aptos"/>
              </a:rPr>
              <a:t>Clean-host Windows verification.</a:t>
            </a:r>
          </a:p>
          <a:p>
            <a:pPr>
              <a:spcBef>
                <a:spcPts val="600"/>
              </a:spcBef>
            </a:pPr>
            <a:r>
              <a:rPr sz="1200" b="0">
                <a:solidFill>
                  <a:srgbClr val="FFFFFF"/>
                </a:solidFill>
                <a:latin typeface="Aptos"/>
              </a:rPr>
              <a:t>Complete API contract and authorization inventory.</a:t>
            </a:r>
          </a:p>
          <a:p>
            <a:pPr>
              <a:spcBef>
                <a:spcPts val="600"/>
              </a:spcBef>
            </a:pPr>
            <a:r>
              <a:rPr sz="1200" b="0">
                <a:solidFill>
                  <a:srgbClr val="FFFFFF"/>
                </a:solidFill>
                <a:latin typeface="Aptos"/>
              </a:rPr>
              <a:t>Production-grade observability and database migrations.</a:t>
            </a:r>
          </a:p>
          <a:p>
            <a:pPr>
              <a:spcBef>
                <a:spcPts val="600"/>
              </a:spcBef>
            </a:pPr>
            <a:r>
              <a:rPr sz="1200" b="0">
                <a:solidFill>
                  <a:srgbClr val="FFFFFF"/>
                </a:solidFill>
                <a:latin typeface="Aptos"/>
              </a:rPr>
              <a:t>Forecast backtesting and KPI targets.</a:t>
            </a:r>
          </a:p>
        </p:txBody>
      </p:sp>
      <p:sp>
        <p:nvSpPr>
          <p:cNvPr id="13" name="Rounded Rectangle 12"/>
          <p:cNvSpPr/>
          <p:nvPr/>
        </p:nvSpPr>
        <p:spPr>
          <a:xfrm>
            <a:off x="4325112" y="1408176"/>
            <a:ext cx="3529584" cy="4535424"/>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408176"/>
            <a:ext cx="64008" cy="4535424"/>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7992" y="1527048"/>
            <a:ext cx="3182112" cy="4315968"/>
          </a:xfrm>
          <a:prstGeom prst="rect">
            <a:avLst/>
          </a:prstGeom>
          <a:noFill/>
        </p:spPr>
        <p:txBody>
          <a:bodyPr wrap="square" lIns="0" rIns="0">
            <a:spAutoFit/>
          </a:bodyPr>
          <a:lstStyle/>
          <a:p>
            <a:r>
              <a:rPr sz="1300" b="1">
                <a:solidFill>
                  <a:srgbClr val="FFB300"/>
                </a:solidFill>
                <a:latin typeface="Aptos"/>
              </a:rPr>
              <a:t>Horizon 2 · Shadow pilot</a:t>
            </a:r>
          </a:p>
          <a:p>
            <a:pPr>
              <a:spcBef>
                <a:spcPts val="600"/>
              </a:spcBef>
            </a:pPr>
            <a:r>
              <a:rPr sz="1200" b="0">
                <a:solidFill>
                  <a:srgbClr val="FFFFFF"/>
                </a:solidFill>
                <a:latin typeface="Aptos"/>
              </a:rPr>
              <a:t>Secure identity and role authorization.</a:t>
            </a:r>
          </a:p>
          <a:p>
            <a:pPr>
              <a:spcBef>
                <a:spcPts val="600"/>
              </a:spcBef>
            </a:pPr>
            <a:r>
              <a:rPr sz="1200" b="0">
                <a:solidFill>
                  <a:srgbClr val="FFFFFF"/>
                </a:solidFill>
                <a:latin typeface="Aptos"/>
              </a:rPr>
              <a:t>Read-only connectors to approved enterprise sources.</a:t>
            </a:r>
          </a:p>
          <a:p>
            <a:pPr>
              <a:spcBef>
                <a:spcPts val="600"/>
              </a:spcBef>
            </a:pPr>
            <a:r>
              <a:rPr sz="1200" b="0">
                <a:solidFill>
                  <a:srgbClr val="FFFFFF"/>
                </a:solidFill>
                <a:latin typeface="Aptos"/>
              </a:rPr>
              <a:t>Parallel recommendations without external writes.</a:t>
            </a:r>
          </a:p>
          <a:p>
            <a:pPr>
              <a:spcBef>
                <a:spcPts val="600"/>
              </a:spcBef>
            </a:pPr>
            <a:r>
              <a:rPr sz="1200" b="0">
                <a:solidFill>
                  <a:srgbClr val="FFFFFF"/>
                </a:solidFill>
                <a:latin typeface="Aptos"/>
              </a:rPr>
              <a:t>Controlled before/after measurement.</a:t>
            </a:r>
          </a:p>
        </p:txBody>
      </p:sp>
      <p:sp>
        <p:nvSpPr>
          <p:cNvPr id="16" name="Rounded Rectangle 15"/>
          <p:cNvSpPr/>
          <p:nvPr/>
        </p:nvSpPr>
        <p:spPr>
          <a:xfrm>
            <a:off x="8174736" y="1408176"/>
            <a:ext cx="3538728" cy="4535424"/>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74736" y="1408176"/>
            <a:ext cx="64008" cy="453542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7615" y="1527048"/>
            <a:ext cx="3191256" cy="4315968"/>
          </a:xfrm>
          <a:prstGeom prst="rect">
            <a:avLst/>
          </a:prstGeom>
          <a:noFill/>
        </p:spPr>
        <p:txBody>
          <a:bodyPr wrap="square" lIns="0" rIns="0">
            <a:spAutoFit/>
          </a:bodyPr>
          <a:lstStyle/>
          <a:p>
            <a:r>
              <a:rPr sz="1300" b="1">
                <a:solidFill>
                  <a:srgbClr val="4CAF50"/>
                </a:solidFill>
                <a:latin typeface="Aptos"/>
              </a:rPr>
              <a:t>Horizon 3 · Governed field system</a:t>
            </a:r>
          </a:p>
          <a:p>
            <a:pPr>
              <a:spcBef>
                <a:spcPts val="600"/>
              </a:spcBef>
            </a:pPr>
            <a:r>
              <a:rPr sz="1200" b="0">
                <a:solidFill>
                  <a:srgbClr val="FFFFFF"/>
                </a:solidFill>
                <a:latin typeface="Aptos"/>
              </a:rPr>
              <a:t>Verified topology, payload and state freshness.</a:t>
            </a:r>
          </a:p>
          <a:p>
            <a:pPr>
              <a:spcBef>
                <a:spcPts val="600"/>
              </a:spcBef>
            </a:pPr>
            <a:r>
              <a:rPr sz="1200" b="0">
                <a:solidFill>
                  <a:srgbClr val="FFFFFF"/>
                </a:solidFill>
                <a:latin typeface="Aptos"/>
              </a:rPr>
              <a:t>Command identity and outcome protocol.</a:t>
            </a:r>
          </a:p>
          <a:p>
            <a:pPr>
              <a:spcBef>
                <a:spcPts val="600"/>
              </a:spcBef>
            </a:pPr>
            <a:r>
              <a:rPr sz="1200" b="0">
                <a:solidFill>
                  <a:srgbClr val="FFFFFF"/>
                </a:solidFill>
                <a:latin typeface="Aptos"/>
              </a:rPr>
              <a:t>Independent hazard analysis and safety case.</a:t>
            </a:r>
          </a:p>
          <a:p>
            <a:pPr>
              <a:spcBef>
                <a:spcPts val="600"/>
              </a:spcBef>
            </a:pPr>
            <a:r>
              <a:rPr sz="1200" b="0">
                <a:solidFill>
                  <a:srgbClr val="FFFFFF"/>
                </a:solidFill>
                <a:latin typeface="Aptos"/>
              </a:rPr>
              <a:t>Optional explain-only AI if a real need is proven.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Demo</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10</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10 · DEMO</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One order, one exception, one recovery</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Use the live loopback application. The frames below are placeholders for final screenshots.</a:t>
            </a:r>
          </a:p>
        </p:txBody>
      </p:sp>
      <p:sp>
        <p:nvSpPr>
          <p:cNvPr id="10" name="Rounded Rectangle 9"/>
          <p:cNvSpPr/>
          <p:nvPr/>
        </p:nvSpPr>
        <p:spPr>
          <a:xfrm>
            <a:off x="438912" y="1353312"/>
            <a:ext cx="3529584" cy="2148840"/>
          </a:xfrm>
          <a:prstGeom prst="roundRect">
            <a:avLst/>
          </a:prstGeom>
          <a:solidFill>
            <a:srgbClr val="F6F6FA"/>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353312"/>
            <a:ext cx="3529584" cy="274320"/>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3" y="1993391"/>
            <a:ext cx="3200400" cy="777240"/>
          </a:xfrm>
          <a:prstGeom prst="rect">
            <a:avLst/>
          </a:prstGeom>
          <a:noFill/>
        </p:spPr>
        <p:txBody>
          <a:bodyPr wrap="none">
            <a:spAutoFit/>
          </a:bodyPr>
          <a:lstStyle/>
          <a:p>
            <a:pPr algn="ctr"/>
            <a:r>
              <a:rPr sz="1400" b="1">
                <a:solidFill>
                  <a:srgbClr val="1A1A24"/>
                </a:solidFill>
                <a:latin typeface="Aptos"/>
              </a:rPr>
              <a:t>1 · Create order</a:t>
            </a:r>
          </a:p>
          <a:p>
            <a:pPr algn="ctr">
              <a:spcBef>
                <a:spcPts val="500"/>
              </a:spcBef>
            </a:pPr>
            <a:r>
              <a:rPr sz="900" b="0">
                <a:solidFill>
                  <a:srgbClr val="747480"/>
                </a:solidFill>
                <a:latin typeface="Aptos"/>
              </a:rPr>
              <a:t>/fde-bazaar/</a:t>
            </a:r>
          </a:p>
        </p:txBody>
      </p:sp>
      <p:sp>
        <p:nvSpPr>
          <p:cNvPr id="13" name="Rounded Rectangle 12"/>
          <p:cNvSpPr/>
          <p:nvPr/>
        </p:nvSpPr>
        <p:spPr>
          <a:xfrm>
            <a:off x="4325112" y="1353312"/>
            <a:ext cx="3529584" cy="2148840"/>
          </a:xfrm>
          <a:prstGeom prst="roundRect">
            <a:avLst/>
          </a:prstGeom>
          <a:solidFill>
            <a:srgbClr val="F6F6FA"/>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353312"/>
            <a:ext cx="3529584" cy="274320"/>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4" y="1993391"/>
            <a:ext cx="3200400" cy="777240"/>
          </a:xfrm>
          <a:prstGeom prst="rect">
            <a:avLst/>
          </a:prstGeom>
          <a:noFill/>
        </p:spPr>
        <p:txBody>
          <a:bodyPr wrap="none">
            <a:spAutoFit/>
          </a:bodyPr>
          <a:lstStyle/>
          <a:p>
            <a:pPr algn="ctr"/>
            <a:r>
              <a:rPr sz="1400" b="1">
                <a:solidFill>
                  <a:srgbClr val="1A1A24"/>
                </a:solidFill>
                <a:latin typeface="Aptos"/>
              </a:rPr>
              <a:t>2 · Track fulfillment</a:t>
            </a:r>
          </a:p>
          <a:p>
            <a:pPr algn="ctr">
              <a:spcBef>
                <a:spcPts val="500"/>
              </a:spcBef>
            </a:pPr>
            <a:r>
              <a:rPr sz="900" b="0">
                <a:solidFill>
                  <a:srgbClr val="747480"/>
                </a:solidFill>
                <a:latin typeface="Aptos"/>
              </a:rPr>
              <a:t>/fulfillment</a:t>
            </a:r>
          </a:p>
        </p:txBody>
      </p:sp>
      <p:sp>
        <p:nvSpPr>
          <p:cNvPr id="16" name="Rounded Rectangle 15"/>
          <p:cNvSpPr/>
          <p:nvPr/>
        </p:nvSpPr>
        <p:spPr>
          <a:xfrm>
            <a:off x="8211312" y="1353312"/>
            <a:ext cx="3529584" cy="2148840"/>
          </a:xfrm>
          <a:prstGeom prst="roundRect">
            <a:avLst/>
          </a:prstGeom>
          <a:solidFill>
            <a:srgbClr val="F6F6FA"/>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11312" y="1353312"/>
            <a:ext cx="3529584" cy="274320"/>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4" y="1993391"/>
            <a:ext cx="3200400" cy="777240"/>
          </a:xfrm>
          <a:prstGeom prst="rect">
            <a:avLst/>
          </a:prstGeom>
          <a:noFill/>
        </p:spPr>
        <p:txBody>
          <a:bodyPr wrap="none">
            <a:spAutoFit/>
          </a:bodyPr>
          <a:lstStyle/>
          <a:p>
            <a:pPr algn="ctr"/>
            <a:r>
              <a:rPr sz="1400" b="1">
                <a:solidFill>
                  <a:srgbClr val="1A1A24"/>
                </a:solidFill>
                <a:latin typeface="Aptos"/>
              </a:rPr>
              <a:t>3 · Fail and recover</a:t>
            </a:r>
          </a:p>
          <a:p>
            <a:pPr algn="ctr">
              <a:spcBef>
                <a:spcPts val="500"/>
              </a:spcBef>
            </a:pPr>
            <a:r>
              <a:rPr sz="900" b="0">
                <a:solidFill>
                  <a:srgbClr val="747480"/>
                </a:solidFill>
                <a:latin typeface="Aptos"/>
              </a:rPr>
              <a:t>/robot-lifecycle/</a:t>
            </a:r>
          </a:p>
        </p:txBody>
      </p:sp>
      <p:sp>
        <p:nvSpPr>
          <p:cNvPr id="19" name="Rounded Rectangle 18"/>
          <p:cNvSpPr/>
          <p:nvPr/>
        </p:nvSpPr>
        <p:spPr>
          <a:xfrm>
            <a:off x="438912"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 y="4023359"/>
            <a:ext cx="1810512" cy="731520"/>
          </a:xfrm>
          <a:prstGeom prst="rect">
            <a:avLst/>
          </a:prstGeom>
          <a:noFill/>
        </p:spPr>
        <p:txBody>
          <a:bodyPr wrap="none" anchor="ctr">
            <a:spAutoFit/>
          </a:bodyPr>
          <a:lstStyle/>
          <a:p>
            <a:pPr algn="ctr"/>
            <a:r>
              <a:rPr sz="2100" b="1">
                <a:solidFill>
                  <a:srgbClr val="FFE600"/>
                </a:solidFill>
                <a:latin typeface="Aptos"/>
              </a:rPr>
              <a:t>01</a:t>
            </a:r>
          </a:p>
          <a:p>
            <a:pPr algn="ctr"/>
            <a:r>
              <a:rPr sz="900" b="0">
                <a:solidFill>
                  <a:srgbClr val="747480"/>
                </a:solidFill>
                <a:latin typeface="Aptos"/>
              </a:rPr>
              <a:t>Create multi-SKU request</a:t>
            </a:r>
          </a:p>
        </p:txBody>
      </p:sp>
      <p:sp>
        <p:nvSpPr>
          <p:cNvPr id="21" name="Rounded Rectangle 20"/>
          <p:cNvSpPr/>
          <p:nvPr/>
        </p:nvSpPr>
        <p:spPr>
          <a:xfrm>
            <a:off x="2715768"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07208" y="4023359"/>
            <a:ext cx="1810512" cy="731520"/>
          </a:xfrm>
          <a:prstGeom prst="rect">
            <a:avLst/>
          </a:prstGeom>
          <a:noFill/>
        </p:spPr>
        <p:txBody>
          <a:bodyPr wrap="none" anchor="ctr">
            <a:spAutoFit/>
          </a:bodyPr>
          <a:lstStyle/>
          <a:p>
            <a:pPr algn="ctr"/>
            <a:r>
              <a:rPr sz="2100" b="1">
                <a:solidFill>
                  <a:srgbClr val="FFE600"/>
                </a:solidFill>
                <a:latin typeface="Aptos"/>
              </a:rPr>
              <a:t>02</a:t>
            </a:r>
          </a:p>
          <a:p>
            <a:pPr algn="ctr"/>
            <a:r>
              <a:rPr sz="900" b="0">
                <a:solidFill>
                  <a:srgbClr val="747480"/>
                </a:solidFill>
                <a:latin typeface="Aptos"/>
              </a:rPr>
              <a:t>Show acceptance or shortage</a:t>
            </a:r>
          </a:p>
        </p:txBody>
      </p:sp>
      <p:sp>
        <p:nvSpPr>
          <p:cNvPr id="23" name="Rounded Rectangle 22"/>
          <p:cNvSpPr/>
          <p:nvPr/>
        </p:nvSpPr>
        <p:spPr>
          <a:xfrm>
            <a:off x="4992624"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84064" y="4023359"/>
            <a:ext cx="1810512" cy="731520"/>
          </a:xfrm>
          <a:prstGeom prst="rect">
            <a:avLst/>
          </a:prstGeom>
          <a:noFill/>
        </p:spPr>
        <p:txBody>
          <a:bodyPr wrap="none" anchor="ctr">
            <a:spAutoFit/>
          </a:bodyPr>
          <a:lstStyle/>
          <a:p>
            <a:pPr algn="ctr"/>
            <a:r>
              <a:rPr sz="2100" b="1">
                <a:solidFill>
                  <a:srgbClr val="FFE600"/>
                </a:solidFill>
                <a:latin typeface="Aptos"/>
              </a:rPr>
              <a:t>03</a:t>
            </a:r>
          </a:p>
          <a:p>
            <a:pPr algn="ctr"/>
            <a:r>
              <a:rPr sz="900" b="0">
                <a:solidFill>
                  <a:srgbClr val="747480"/>
                </a:solidFill>
                <a:latin typeface="Aptos"/>
              </a:rPr>
              <a:t>Start Pick → Stage flow</a:t>
            </a:r>
          </a:p>
        </p:txBody>
      </p:sp>
      <p:sp>
        <p:nvSpPr>
          <p:cNvPr id="25" name="Rounded Rectangle 24"/>
          <p:cNvSpPr/>
          <p:nvPr/>
        </p:nvSpPr>
        <p:spPr>
          <a:xfrm>
            <a:off x="7269480"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60920" y="4023359"/>
            <a:ext cx="1810512" cy="731520"/>
          </a:xfrm>
          <a:prstGeom prst="rect">
            <a:avLst/>
          </a:prstGeom>
          <a:noFill/>
        </p:spPr>
        <p:txBody>
          <a:bodyPr wrap="none" anchor="ctr">
            <a:spAutoFit/>
          </a:bodyPr>
          <a:lstStyle/>
          <a:p>
            <a:pPr algn="ctr"/>
            <a:r>
              <a:rPr sz="2100" b="1">
                <a:solidFill>
                  <a:srgbClr val="FFE600"/>
                </a:solidFill>
                <a:latin typeface="Aptos"/>
              </a:rPr>
              <a:t>04</a:t>
            </a:r>
          </a:p>
          <a:p>
            <a:pPr algn="ctr"/>
            <a:r>
              <a:rPr sz="900" b="0">
                <a:solidFill>
                  <a:srgbClr val="747480"/>
                </a:solidFill>
                <a:latin typeface="Aptos"/>
              </a:rPr>
              <a:t>Fail / replace one assignment</a:t>
            </a:r>
          </a:p>
        </p:txBody>
      </p:sp>
      <p:sp>
        <p:nvSpPr>
          <p:cNvPr id="27" name="Rounded Rectangle 26"/>
          <p:cNvSpPr/>
          <p:nvPr/>
        </p:nvSpPr>
        <p:spPr>
          <a:xfrm>
            <a:off x="9546336" y="3931920"/>
            <a:ext cx="1993392" cy="950976"/>
          </a:xfrm>
          <a:prstGeom prst="roundRect">
            <a:avLst/>
          </a:prstGeom>
          <a:solidFill>
            <a:srgbClr val="F6F6FA"/>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37776" y="4023359"/>
            <a:ext cx="1810512" cy="731520"/>
          </a:xfrm>
          <a:prstGeom prst="rect">
            <a:avLst/>
          </a:prstGeom>
          <a:noFill/>
        </p:spPr>
        <p:txBody>
          <a:bodyPr wrap="none" anchor="ctr">
            <a:spAutoFit/>
          </a:bodyPr>
          <a:lstStyle/>
          <a:p>
            <a:pPr algn="ctr"/>
            <a:r>
              <a:rPr sz="2100" b="1">
                <a:solidFill>
                  <a:srgbClr val="FFE600"/>
                </a:solidFill>
                <a:latin typeface="Aptos"/>
              </a:rPr>
              <a:t>05</a:t>
            </a:r>
          </a:p>
          <a:p>
            <a:pPr algn="ctr"/>
            <a:r>
              <a:rPr sz="900" b="0">
                <a:solidFill>
                  <a:srgbClr val="747480"/>
                </a:solidFill>
                <a:latin typeface="Aptos"/>
              </a:rPr>
              <a:t>Inspect audit and progress</a:t>
            </a:r>
          </a:p>
        </p:txBody>
      </p:sp>
      <p:sp>
        <p:nvSpPr>
          <p:cNvPr id="29" name="Rounded Rectangle 28"/>
          <p:cNvSpPr/>
          <p:nvPr/>
        </p:nvSpPr>
        <p:spPr>
          <a:xfrm>
            <a:off x="438912" y="5166360"/>
            <a:ext cx="11301984" cy="877824"/>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8912" y="5166360"/>
            <a:ext cx="64008" cy="877824"/>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285232"/>
            <a:ext cx="10954511" cy="658368"/>
          </a:xfrm>
          <a:prstGeom prst="rect">
            <a:avLst/>
          </a:prstGeom>
          <a:noFill/>
        </p:spPr>
        <p:txBody>
          <a:bodyPr wrap="square" lIns="0" rIns="0">
            <a:spAutoFit/>
          </a:bodyPr>
          <a:lstStyle/>
          <a:p>
            <a:r>
              <a:rPr sz="1300" b="1">
                <a:solidFill>
                  <a:srgbClr val="1A1A24"/>
                </a:solidFill>
                <a:latin typeface="Aptos"/>
              </a:rPr>
              <a:t>Narration boundary</a:t>
            </a:r>
          </a:p>
          <a:p>
            <a:pPr>
              <a:spcBef>
                <a:spcPts val="600"/>
              </a:spcBef>
            </a:pPr>
            <a:r>
              <a:rPr sz="1000" b="0">
                <a:solidFill>
                  <a:srgbClr val="1A1A24"/>
                </a:solidFill>
                <a:latin typeface="Aptos"/>
              </a:rPr>
              <a:t>Every order, task and resource action shown is local simulated state. No physical robot or external warehouse system is affected.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Artefacts Delivered</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11</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11 · ARTEFACTS DELIVERED</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A product evidence pack links business requirements, architecture, controls and verification</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Repo3 contains the implementation evidence; V3 adds presentation-ready PRD, ADR and assurance views.</a:t>
            </a:r>
          </a:p>
        </p:txBody>
      </p:sp>
      <p:sp>
        <p:nvSpPr>
          <p:cNvPr id="10" name="Rounded Rectangle 9"/>
          <p:cNvSpPr/>
          <p:nvPr/>
        </p:nvSpPr>
        <p:spPr>
          <a:xfrm>
            <a:off x="438912"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26464"/>
            <a:ext cx="64008" cy="409651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45336"/>
            <a:ext cx="1737360" cy="3877056"/>
          </a:xfrm>
          <a:prstGeom prst="rect">
            <a:avLst/>
          </a:prstGeom>
          <a:noFill/>
        </p:spPr>
        <p:txBody>
          <a:bodyPr wrap="square" lIns="0" rIns="0">
            <a:spAutoFit/>
          </a:bodyPr>
          <a:lstStyle/>
          <a:p>
            <a:r>
              <a:rPr sz="1300" b="1">
                <a:solidFill>
                  <a:srgbClr val="1A1A24"/>
                </a:solidFill>
                <a:latin typeface="Aptos"/>
              </a:rPr>
              <a:t>Business</a:t>
            </a:r>
          </a:p>
          <a:p>
            <a:pPr>
              <a:spcBef>
                <a:spcPts val="600"/>
              </a:spcBef>
            </a:pPr>
            <a:r>
              <a:rPr sz="1000" b="0">
                <a:solidFill>
                  <a:srgbClr val="1A1A24"/>
                </a:solidFill>
                <a:latin typeface="Aptos"/>
              </a:rPr>
              <a:t>V3/PRD.md</a:t>
            </a:r>
          </a:p>
          <a:p>
            <a:pPr>
              <a:spcBef>
                <a:spcPts val="600"/>
              </a:spcBef>
            </a:pPr>
            <a:r>
              <a:rPr sz="1000" b="0">
                <a:solidFill>
                  <a:srgbClr val="1A1A24"/>
                </a:solidFill>
                <a:latin typeface="Aptos"/>
              </a:rPr>
              <a:t>V2_V3_COMPARISON.md</a:t>
            </a:r>
          </a:p>
          <a:p>
            <a:pPr>
              <a:spcBef>
                <a:spcPts val="600"/>
              </a:spcBef>
            </a:pPr>
            <a:r>
              <a:rPr sz="1000" b="0">
                <a:solidFill>
                  <a:srgbClr val="1A1A24"/>
                </a:solidFill>
                <a:latin typeface="Aptos"/>
              </a:rPr>
              <a:t>OM21 matrix</a:t>
            </a:r>
          </a:p>
        </p:txBody>
      </p:sp>
      <p:sp>
        <p:nvSpPr>
          <p:cNvPr id="13" name="Rounded Rectangle 12"/>
          <p:cNvSpPr/>
          <p:nvPr/>
        </p:nvSpPr>
        <p:spPr>
          <a:xfrm>
            <a:off x="2715768"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15768" y="1426464"/>
            <a:ext cx="64008" cy="409651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545336"/>
            <a:ext cx="1737360" cy="3877056"/>
          </a:xfrm>
          <a:prstGeom prst="rect">
            <a:avLst/>
          </a:prstGeom>
          <a:noFill/>
        </p:spPr>
        <p:txBody>
          <a:bodyPr wrap="square" lIns="0" rIns="0">
            <a:spAutoFit/>
          </a:bodyPr>
          <a:lstStyle/>
          <a:p>
            <a:r>
              <a:rPr sz="1300" b="1">
                <a:solidFill>
                  <a:srgbClr val="1A1A24"/>
                </a:solidFill>
                <a:latin typeface="Aptos"/>
              </a:rPr>
              <a:t>Architecture</a:t>
            </a:r>
          </a:p>
          <a:p>
            <a:pPr>
              <a:spcBef>
                <a:spcPts val="600"/>
              </a:spcBef>
            </a:pPr>
            <a:r>
              <a:rPr sz="1000" b="0">
                <a:solidFill>
                  <a:srgbClr val="1A1A24"/>
                </a:solidFill>
                <a:latin typeface="Aptos"/>
              </a:rPr>
              <a:t>As-built C4</a:t>
            </a:r>
          </a:p>
          <a:p>
            <a:pPr>
              <a:spcBef>
                <a:spcPts val="600"/>
              </a:spcBef>
            </a:pPr>
            <a:r>
              <a:rPr sz="1000" b="0">
                <a:solidFill>
                  <a:srgbClr val="1A1A24"/>
                </a:solidFill>
                <a:latin typeface="Aptos"/>
              </a:rPr>
              <a:t>6 ADRs</a:t>
            </a:r>
          </a:p>
          <a:p>
            <a:pPr>
              <a:spcBef>
                <a:spcPts val="600"/>
              </a:spcBef>
            </a:pPr>
            <a:r>
              <a:rPr sz="1000" b="0">
                <a:solidFill>
                  <a:srgbClr val="1A1A24"/>
                </a:solidFill>
                <a:latin typeface="Aptos"/>
              </a:rPr>
              <a:t>OpenAPI + runtime map</a:t>
            </a:r>
          </a:p>
        </p:txBody>
      </p:sp>
      <p:sp>
        <p:nvSpPr>
          <p:cNvPr id="16" name="Rounded Rectangle 15"/>
          <p:cNvSpPr/>
          <p:nvPr/>
        </p:nvSpPr>
        <p:spPr>
          <a:xfrm>
            <a:off x="4992624"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992624" y="1426464"/>
            <a:ext cx="64008" cy="409651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75504" y="1545336"/>
            <a:ext cx="1737360" cy="3877056"/>
          </a:xfrm>
          <a:prstGeom prst="rect">
            <a:avLst/>
          </a:prstGeom>
          <a:noFill/>
        </p:spPr>
        <p:txBody>
          <a:bodyPr wrap="square" lIns="0" rIns="0">
            <a:spAutoFit/>
          </a:bodyPr>
          <a:lstStyle/>
          <a:p>
            <a:r>
              <a:rPr sz="1300" b="1">
                <a:solidFill>
                  <a:srgbClr val="1A1A24"/>
                </a:solidFill>
                <a:latin typeface="Aptos"/>
              </a:rPr>
              <a:t>Data</a:t>
            </a:r>
          </a:p>
          <a:p>
            <a:pPr>
              <a:spcBef>
                <a:spcPts val="600"/>
              </a:spcBef>
            </a:pPr>
            <a:r>
              <a:rPr sz="1000" b="0">
                <a:solidFill>
                  <a:srgbClr val="1A1A24"/>
                </a:solidFill>
                <a:latin typeface="Aptos"/>
              </a:rPr>
              <a:t>Evidence register</a:t>
            </a:r>
          </a:p>
          <a:p>
            <a:pPr>
              <a:spcBef>
                <a:spcPts val="600"/>
              </a:spcBef>
            </a:pPr>
            <a:r>
              <a:rPr sz="1000" b="0">
                <a:solidFill>
                  <a:srgbClr val="1A1A24"/>
                </a:solidFill>
                <a:latin typeface="Aptos"/>
              </a:rPr>
              <a:t>Inventory ledger policy</a:t>
            </a:r>
          </a:p>
          <a:p>
            <a:pPr>
              <a:spcBef>
                <a:spcPts val="600"/>
              </a:spcBef>
            </a:pPr>
            <a:r>
              <a:rPr sz="1000" b="0">
                <a:solidFill>
                  <a:srgbClr val="1A1A24"/>
                </a:solidFill>
                <a:latin typeface="Aptos"/>
              </a:rPr>
              <a:t>Database manifest</a:t>
            </a:r>
          </a:p>
        </p:txBody>
      </p:sp>
      <p:sp>
        <p:nvSpPr>
          <p:cNvPr id="19" name="Rounded Rectangle 18"/>
          <p:cNvSpPr/>
          <p:nvPr/>
        </p:nvSpPr>
        <p:spPr>
          <a:xfrm>
            <a:off x="7269480"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80" y="1426464"/>
            <a:ext cx="64008" cy="4096512"/>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52360" y="1545336"/>
            <a:ext cx="1737360" cy="3877056"/>
          </a:xfrm>
          <a:prstGeom prst="rect">
            <a:avLst/>
          </a:prstGeom>
          <a:noFill/>
        </p:spPr>
        <p:txBody>
          <a:bodyPr wrap="square" lIns="0" rIns="0">
            <a:spAutoFit/>
          </a:bodyPr>
          <a:lstStyle/>
          <a:p>
            <a:r>
              <a:rPr sz="1300" b="1">
                <a:solidFill>
                  <a:srgbClr val="1A1A24"/>
                </a:solidFill>
                <a:latin typeface="Aptos"/>
              </a:rPr>
              <a:t>AI / ML</a:t>
            </a:r>
          </a:p>
          <a:p>
            <a:pPr>
              <a:spcBef>
                <a:spcPts val="600"/>
              </a:spcBef>
            </a:pPr>
            <a:r>
              <a:rPr sz="1000" b="0">
                <a:solidFill>
                  <a:srgbClr val="1A1A24"/>
                </a:solidFill>
                <a:latin typeface="Aptos"/>
              </a:rPr>
              <a:t>No-model decision</a:t>
            </a:r>
          </a:p>
          <a:p>
            <a:pPr>
              <a:spcBef>
                <a:spcPts val="600"/>
              </a:spcBef>
            </a:pPr>
            <a:r>
              <a:rPr sz="1000" b="0">
                <a:solidFill>
                  <a:srgbClr val="1A1A24"/>
                </a:solidFill>
                <a:latin typeface="Aptos"/>
              </a:rPr>
              <a:t>Statistical forecast spec</a:t>
            </a:r>
          </a:p>
          <a:p>
            <a:pPr>
              <a:spcBef>
                <a:spcPts val="600"/>
              </a:spcBef>
            </a:pPr>
            <a:r>
              <a:rPr sz="1000" b="0">
                <a:solidFill>
                  <a:srgbClr val="1A1A24"/>
                </a:solidFill>
                <a:latin typeface="Aptos"/>
              </a:rPr>
              <a:t>No-AI / no-OT ADR</a:t>
            </a:r>
          </a:p>
        </p:txBody>
      </p:sp>
      <p:sp>
        <p:nvSpPr>
          <p:cNvPr id="22" name="Rounded Rectangle 21"/>
          <p:cNvSpPr/>
          <p:nvPr/>
        </p:nvSpPr>
        <p:spPr>
          <a:xfrm>
            <a:off x="9546336" y="1426464"/>
            <a:ext cx="2084831" cy="4096512"/>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46336" y="1426464"/>
            <a:ext cx="64008" cy="4096512"/>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29216" y="1545336"/>
            <a:ext cx="1737360" cy="3877056"/>
          </a:xfrm>
          <a:prstGeom prst="rect">
            <a:avLst/>
          </a:prstGeom>
          <a:noFill/>
        </p:spPr>
        <p:txBody>
          <a:bodyPr wrap="square" lIns="0" rIns="0">
            <a:spAutoFit/>
          </a:bodyPr>
          <a:lstStyle/>
          <a:p>
            <a:r>
              <a:rPr sz="1300" b="1">
                <a:solidFill>
                  <a:srgbClr val="1A1A24"/>
                </a:solidFill>
                <a:latin typeface="Aptos"/>
              </a:rPr>
              <a:t>Evaluation</a:t>
            </a:r>
          </a:p>
          <a:p>
            <a:pPr>
              <a:spcBef>
                <a:spcPts val="600"/>
              </a:spcBef>
            </a:pPr>
            <a:r>
              <a:rPr sz="1000" b="0">
                <a:solidFill>
                  <a:srgbClr val="1A1A24"/>
                </a:solidFill>
                <a:latin typeface="Aptos"/>
              </a:rPr>
              <a:t>Traceability</a:t>
            </a:r>
          </a:p>
          <a:p>
            <a:pPr>
              <a:spcBef>
                <a:spcPts val="600"/>
              </a:spcBef>
            </a:pPr>
            <a:r>
              <a:rPr sz="1000" b="0">
                <a:solidFill>
                  <a:srgbClr val="1A1A24"/>
                </a:solidFill>
                <a:latin typeface="Aptos"/>
              </a:rPr>
              <a:t>Repo3 test suites</a:t>
            </a:r>
          </a:p>
          <a:p>
            <a:pPr>
              <a:spcBef>
                <a:spcPts val="600"/>
              </a:spcBef>
            </a:pPr>
            <a:r>
              <a:rPr sz="1000" b="0">
                <a:solidFill>
                  <a:srgbClr val="1A1A24"/>
                </a:solidFill>
                <a:latin typeface="Aptos"/>
              </a:rPr>
              <a:t>Risk / readiness review</a:t>
            </a:r>
          </a:p>
        </p:txBody>
      </p:sp>
      <p:sp>
        <p:nvSpPr>
          <p:cNvPr id="25" name="Rounded Rectangle 24"/>
          <p:cNvSpPr/>
          <p:nvPr/>
        </p:nvSpPr>
        <p:spPr>
          <a:xfrm>
            <a:off x="438912" y="5687568"/>
            <a:ext cx="11301984" cy="45720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8912" y="5687568"/>
            <a:ext cx="64008" cy="4572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806440"/>
            <a:ext cx="10954511" cy="237744"/>
          </a:xfrm>
          <a:prstGeom prst="rect">
            <a:avLst/>
          </a:prstGeom>
          <a:noFill/>
        </p:spPr>
        <p:txBody>
          <a:bodyPr wrap="square" lIns="0" rIns="0">
            <a:spAutoFit/>
          </a:bodyPr>
          <a:lstStyle/>
          <a:p>
            <a:r>
              <a:rPr sz="1300" b="1">
                <a:solidFill>
                  <a:srgbClr val="1A1A24"/>
                </a:solidFill>
                <a:latin typeface="Aptos"/>
              </a:rPr>
              <a:t>Presentation locator</a:t>
            </a:r>
          </a:p>
          <a:p>
            <a:pPr>
              <a:spcBef>
                <a:spcPts val="600"/>
              </a:spcBef>
            </a:pPr>
            <a:r>
              <a:rPr sz="900" b="0">
                <a:solidFill>
                  <a:srgbClr val="1A1A24"/>
                </a:solidFill>
                <a:latin typeface="Aptos"/>
              </a:rPr>
              <a:t>V3/ARTIFACTS/07_KEY_ARTIFACT_LOCATOR.md maps C4, ubiquitous language, evals and risk/resilience to their exact repositories.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FDE vs Traditional</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12</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12 · FDE VS TRADITIONAL DESIGN THINKING</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FDE starts with operational contradictions and executable evidence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The difference is not speed alone; it is how uncertainty, authority and verification shape the product.</a:t>
            </a:r>
          </a:p>
        </p:txBody>
      </p:sp>
      <p:graphicFrame>
        <p:nvGraphicFramePr>
          <p:cNvPr id="10" name="Table 9"/>
          <p:cNvGraphicFramePr>
            <a:graphicFrameLocks noGrp="1"/>
          </p:cNvGraphicFramePr>
          <p:nvPr/>
        </p:nvGraphicFramePr>
        <p:xfrm>
          <a:off x="438912" y="1371600"/>
          <a:ext cx="11301983" cy="4480559"/>
        </p:xfrm>
        <a:graphic>
          <a:graphicData uri="http://schemas.openxmlformats.org/drawingml/2006/table">
            <a:tbl>
              <a:tblPr firstRow="1" bandRow="1">
                <a:tableStyleId>{5C22544A-7EE6-4342-B048-85BDC9FD1C3A}</a:tableStyleId>
              </a:tblPr>
              <a:tblGrid>
                <a:gridCol w="1847088"/>
                <a:gridCol w="3941063"/>
                <a:gridCol w="5513832"/>
              </a:tblGrid>
              <a:tr h="640079">
                <a:tc>
                  <a:txBody>
                    <a:bodyPr/>
                    <a:lstStyle/>
                    <a:p>
                      <a:r>
                        <a:rPr sz="1100" b="1">
                          <a:solidFill>
                            <a:srgbClr val="FFFFFF"/>
                          </a:solidFill>
                          <a:latin typeface="Aptos"/>
                        </a:rPr>
                        <a:t>Dimension</a:t>
                      </a:r>
                    </a:p>
                  </a:txBody>
                  <a:tcPr marL="82296" marR="82296" marT="36576" marB="27432">
                    <a:solidFill>
                      <a:srgbClr val="1A1A24"/>
                    </a:solidFill>
                  </a:tcPr>
                </a:tc>
                <a:tc>
                  <a:txBody>
                    <a:bodyPr/>
                    <a:lstStyle/>
                    <a:p>
                      <a:r>
                        <a:rPr sz="1100" b="1">
                          <a:solidFill>
                            <a:srgbClr val="FFFFFF"/>
                          </a:solidFill>
                          <a:latin typeface="Aptos"/>
                        </a:rPr>
                        <a:t>Traditional approach</a:t>
                      </a:r>
                    </a:p>
                  </a:txBody>
                  <a:tcPr marL="82296" marR="82296" marT="36576" marB="27432">
                    <a:solidFill>
                      <a:srgbClr val="1A1A24"/>
                    </a:solidFill>
                  </a:tcPr>
                </a:tc>
                <a:tc>
                  <a:txBody>
                    <a:bodyPr/>
                    <a:lstStyle/>
                    <a:p>
                      <a:r>
                        <a:rPr sz="1100" b="1">
                          <a:solidFill>
                            <a:srgbClr val="FFFFFF"/>
                          </a:solidFill>
                          <a:latin typeface="Aptos"/>
                        </a:rPr>
                        <a:t>FDE approach used here</a:t>
                      </a:r>
                    </a:p>
                  </a:txBody>
                  <a:tcPr marL="82296" marR="82296" marT="36576" marB="27432">
                    <a:solidFill>
                      <a:srgbClr val="1A1A24"/>
                    </a:solidFill>
                  </a:tcPr>
                </a:tc>
              </a:tr>
              <a:tr h="640079">
                <a:tc>
                  <a:txBody>
                    <a:bodyPr/>
                    <a:lstStyle/>
                    <a:p>
                      <a:r>
                        <a:rPr sz="1000" b="0">
                          <a:solidFill>
                            <a:srgbClr val="1A1A24"/>
                          </a:solidFill>
                          <a:latin typeface="Aptos"/>
                        </a:rPr>
                        <a:t>Starting point</a:t>
                      </a:r>
                    </a:p>
                  </a:txBody>
                  <a:tcPr marL="82296" marR="82296" marT="36576" marB="27432">
                    <a:solidFill>
                      <a:srgbClr val="FFFFFF"/>
                    </a:solidFill>
                  </a:tcPr>
                </a:tc>
                <a:tc>
                  <a:txBody>
                    <a:bodyPr/>
                    <a:lstStyle/>
                    <a:p>
                      <a:r>
                        <a:rPr sz="1000" b="0">
                          <a:solidFill>
                            <a:srgbClr val="1A1A24"/>
                          </a:solidFill>
                          <a:latin typeface="Aptos"/>
                        </a:rPr>
                        <a:t>Desired future-state features</a:t>
                      </a:r>
                    </a:p>
                  </a:txBody>
                  <a:tcPr marL="82296" marR="82296" marT="36576" marB="27432">
                    <a:solidFill>
                      <a:srgbClr val="FFFFFF"/>
                    </a:solidFill>
                  </a:tcPr>
                </a:tc>
                <a:tc>
                  <a:txBody>
                    <a:bodyPr/>
                    <a:lstStyle/>
                    <a:p>
                      <a:r>
                        <a:rPr sz="1000" b="0">
                          <a:solidFill>
                            <a:srgbClr val="1A1A24"/>
                          </a:solidFill>
                          <a:latin typeface="Aptos"/>
                        </a:rPr>
                        <a:t>Inherited code, data, workflows and failure evidence</a:t>
                      </a:r>
                    </a:p>
                  </a:txBody>
                  <a:tcPr marL="82296" marR="82296" marT="36576" marB="27432">
                    <a:solidFill>
                      <a:srgbClr val="FFFFFF"/>
                    </a:solidFill>
                  </a:tcPr>
                </a:tc>
              </a:tr>
              <a:tr h="640079">
                <a:tc>
                  <a:txBody>
                    <a:bodyPr/>
                    <a:lstStyle/>
                    <a:p>
                      <a:r>
                        <a:rPr sz="1000" b="0">
                          <a:solidFill>
                            <a:srgbClr val="1A1A24"/>
                          </a:solidFill>
                          <a:latin typeface="Aptos"/>
                        </a:rPr>
                        <a:t>Data disagreement</a:t>
                      </a:r>
                    </a:p>
                  </a:txBody>
                  <a:tcPr marL="82296" marR="82296" marT="36576" marB="27432">
                    <a:solidFill>
                      <a:srgbClr val="F6F6FA"/>
                    </a:solidFill>
                  </a:tcPr>
                </a:tc>
                <a:tc>
                  <a:txBody>
                    <a:bodyPr/>
                    <a:lstStyle/>
                    <a:p>
                      <a:r>
                        <a:rPr sz="1000" b="0">
                          <a:solidFill>
                            <a:srgbClr val="1A1A24"/>
                          </a:solidFill>
                          <a:latin typeface="Aptos"/>
                        </a:rPr>
                        <a:t>Clean or select one source</a:t>
                      </a:r>
                    </a:p>
                  </a:txBody>
                  <a:tcPr marL="82296" marR="82296" marT="36576" marB="27432">
                    <a:solidFill>
                      <a:srgbClr val="F6F6FA"/>
                    </a:solidFill>
                  </a:tcPr>
                </a:tc>
                <a:tc>
                  <a:txBody>
                    <a:bodyPr/>
                    <a:lstStyle/>
                    <a:p>
                      <a:r>
                        <a:rPr sz="1000" b="0">
                          <a:solidFill>
                            <a:srgbClr val="1A1A24"/>
                          </a:solidFill>
                          <a:latin typeface="Aptos"/>
                        </a:rPr>
                        <a:t>Keep conflict visible; encode conservative treatment</a:t>
                      </a:r>
                    </a:p>
                  </a:txBody>
                  <a:tcPr marL="82296" marR="82296" marT="36576" marB="27432">
                    <a:solidFill>
                      <a:srgbClr val="F6F6FA"/>
                    </a:solidFill>
                  </a:tcPr>
                </a:tc>
              </a:tr>
              <a:tr h="640079">
                <a:tc>
                  <a:txBody>
                    <a:bodyPr/>
                    <a:lstStyle/>
                    <a:p>
                      <a:r>
                        <a:rPr sz="1000" b="0">
                          <a:solidFill>
                            <a:srgbClr val="1A1A24"/>
                          </a:solidFill>
                          <a:latin typeface="Aptos"/>
                        </a:rPr>
                        <a:t>Automation</a:t>
                      </a:r>
                    </a:p>
                  </a:txBody>
                  <a:tcPr marL="82296" marR="82296" marT="36576" marB="27432">
                    <a:solidFill>
                      <a:srgbClr val="FFFFFF"/>
                    </a:solidFill>
                  </a:tcPr>
                </a:tc>
                <a:tc>
                  <a:txBody>
                    <a:bodyPr/>
                    <a:lstStyle/>
                    <a:p>
                      <a:r>
                        <a:rPr sz="1000" b="0">
                          <a:solidFill>
                            <a:srgbClr val="1A1A24"/>
                          </a:solidFill>
                          <a:latin typeface="Aptos"/>
                        </a:rPr>
                        <a:t>Add intelligence to the workflow</a:t>
                      </a:r>
                    </a:p>
                  </a:txBody>
                  <a:tcPr marL="82296" marR="82296" marT="36576" marB="27432">
                    <a:solidFill>
                      <a:srgbClr val="FFFFFF"/>
                    </a:solidFill>
                  </a:tcPr>
                </a:tc>
                <a:tc>
                  <a:txBody>
                    <a:bodyPr/>
                    <a:lstStyle/>
                    <a:p>
                      <a:r>
                        <a:rPr sz="1000" b="0">
                          <a:solidFill>
                            <a:srgbClr val="1A1A24"/>
                          </a:solidFill>
                          <a:latin typeface="Aptos"/>
                        </a:rPr>
                        <a:t>Prove deterministic controls before autonomy</a:t>
                      </a:r>
                    </a:p>
                  </a:txBody>
                  <a:tcPr marL="82296" marR="82296" marT="36576" marB="27432">
                    <a:solidFill>
                      <a:srgbClr val="FFFFFF"/>
                    </a:solidFill>
                  </a:tcPr>
                </a:tc>
              </a:tr>
              <a:tr h="640079">
                <a:tc>
                  <a:txBody>
                    <a:bodyPr/>
                    <a:lstStyle/>
                    <a:p>
                      <a:r>
                        <a:rPr sz="1000" b="0">
                          <a:solidFill>
                            <a:srgbClr val="1A1A24"/>
                          </a:solidFill>
                          <a:latin typeface="Aptos"/>
                        </a:rPr>
                        <a:t>Users</a:t>
                      </a:r>
                    </a:p>
                  </a:txBody>
                  <a:tcPr marL="82296" marR="82296" marT="36576" marB="27432">
                    <a:solidFill>
                      <a:srgbClr val="F6F6FA"/>
                    </a:solidFill>
                  </a:tcPr>
                </a:tc>
                <a:tc>
                  <a:txBody>
                    <a:bodyPr/>
                    <a:lstStyle/>
                    <a:p>
                      <a:r>
                        <a:rPr sz="1000" b="0">
                          <a:solidFill>
                            <a:srgbClr val="1A1A24"/>
                          </a:solidFill>
                          <a:latin typeface="Aptos"/>
                        </a:rPr>
                        <a:t>Generic personas and process maps</a:t>
                      </a:r>
                    </a:p>
                  </a:txBody>
                  <a:tcPr marL="82296" marR="82296" marT="36576" marB="27432">
                    <a:solidFill>
                      <a:srgbClr val="F6F6FA"/>
                    </a:solidFill>
                  </a:tcPr>
                </a:tc>
                <a:tc>
                  <a:txBody>
                    <a:bodyPr/>
                    <a:lstStyle/>
                    <a:p>
                      <a:r>
                        <a:rPr sz="1000" b="0">
                          <a:solidFill>
                            <a:srgbClr val="1A1A24"/>
                          </a:solidFill>
                          <a:latin typeface="Aptos"/>
                        </a:rPr>
                        <a:t>Named decisions, authority boundaries and exception journeys</a:t>
                      </a:r>
                    </a:p>
                  </a:txBody>
                  <a:tcPr marL="82296" marR="82296" marT="36576" marB="27432">
                    <a:solidFill>
                      <a:srgbClr val="F6F6FA"/>
                    </a:solidFill>
                  </a:tcPr>
                </a:tc>
              </a:tr>
              <a:tr h="640079">
                <a:tc>
                  <a:txBody>
                    <a:bodyPr/>
                    <a:lstStyle/>
                    <a:p>
                      <a:r>
                        <a:rPr sz="1000" b="0">
                          <a:solidFill>
                            <a:srgbClr val="1A1A24"/>
                          </a:solidFill>
                          <a:latin typeface="Aptos"/>
                        </a:rPr>
                        <a:t>Validation</a:t>
                      </a:r>
                    </a:p>
                  </a:txBody>
                  <a:tcPr marL="82296" marR="82296" marT="36576" marB="27432">
                    <a:solidFill>
                      <a:srgbClr val="FFFFFF"/>
                    </a:solidFill>
                  </a:tcPr>
                </a:tc>
                <a:tc>
                  <a:txBody>
                    <a:bodyPr/>
                    <a:lstStyle/>
                    <a:p>
                      <a:r>
                        <a:rPr sz="1000" b="0">
                          <a:solidFill>
                            <a:srgbClr val="1A1A24"/>
                          </a:solidFill>
                          <a:latin typeface="Aptos"/>
                        </a:rPr>
                        <a:t>Acceptance tests after build</a:t>
                      </a:r>
                    </a:p>
                  </a:txBody>
                  <a:tcPr marL="82296" marR="82296" marT="36576" marB="27432">
                    <a:solidFill>
                      <a:srgbClr val="FFFFFF"/>
                    </a:solidFill>
                  </a:tcPr>
                </a:tc>
                <a:tc>
                  <a:txBody>
                    <a:bodyPr/>
                    <a:lstStyle/>
                    <a:p>
                      <a:r>
                        <a:rPr sz="1000" b="0">
                          <a:solidFill>
                            <a:srgbClr val="1A1A24"/>
                          </a:solidFill>
                          <a:latin typeface="Aptos"/>
                        </a:rPr>
                        <a:t>Evals, invariants and negative cases before release claims</a:t>
                      </a:r>
                    </a:p>
                  </a:txBody>
                  <a:tcPr marL="82296" marR="82296" marT="36576" marB="27432">
                    <a:solidFill>
                      <a:srgbClr val="FFFFFF"/>
                    </a:solidFill>
                  </a:tcPr>
                </a:tc>
              </a:tr>
              <a:tr h="640085">
                <a:tc>
                  <a:txBody>
                    <a:bodyPr/>
                    <a:lstStyle/>
                    <a:p>
                      <a:r>
                        <a:rPr sz="1000" b="0">
                          <a:solidFill>
                            <a:srgbClr val="1A1A24"/>
                          </a:solidFill>
                          <a:latin typeface="Aptos"/>
                        </a:rPr>
                        <a:t>Delivery</a:t>
                      </a:r>
                    </a:p>
                  </a:txBody>
                  <a:tcPr marL="82296" marR="82296" marT="36576" marB="27432">
                    <a:solidFill>
                      <a:srgbClr val="F6F6FA"/>
                    </a:solidFill>
                  </a:tcPr>
                </a:tc>
                <a:tc>
                  <a:txBody>
                    <a:bodyPr/>
                    <a:lstStyle/>
                    <a:p>
                      <a:r>
                        <a:rPr sz="1000" b="0">
                          <a:solidFill>
                            <a:srgbClr val="1A1A24"/>
                          </a:solidFill>
                          <a:latin typeface="Aptos"/>
                        </a:rPr>
                        <a:t>Specification handoff</a:t>
                      </a:r>
                    </a:p>
                  </a:txBody>
                  <a:tcPr marL="82296" marR="82296" marT="36576" marB="27432">
                    <a:solidFill>
                      <a:srgbClr val="F6F6FA"/>
                    </a:solidFill>
                  </a:tcPr>
                </a:tc>
                <a:tc>
                  <a:txBody>
                    <a:bodyPr/>
                    <a:lstStyle/>
                    <a:p>
                      <a:r>
                        <a:rPr sz="1000" b="0">
                          <a:solidFill>
                            <a:srgbClr val="1A1A24"/>
                          </a:solidFill>
                          <a:latin typeface="Aptos"/>
                        </a:rPr>
                        <a:t>Working local product plus evidence, ADRs and explicit gaps</a:t>
                      </a:r>
                    </a:p>
                  </a:txBody>
                  <a:tcPr marL="82296" marR="82296" marT="36576" marB="27432">
                    <a:solidFill>
                      <a:srgbClr val="F6F6FA"/>
                    </a:solidFill>
                  </a:tcPr>
                </a:tc>
              </a:tr>
            </a:tbl>
          </a:graphicData>
        </a:graphic>
      </p:graphicFrame>
      <p:sp>
        <p:nvSpPr>
          <p:cNvPr id="11" name="Rounded Rectangle 10"/>
          <p:cNvSpPr/>
          <p:nvPr/>
        </p:nvSpPr>
        <p:spPr>
          <a:xfrm>
            <a:off x="438912" y="5605272"/>
            <a:ext cx="11301984" cy="54864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 y="5605272"/>
            <a:ext cx="64008" cy="54864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5724144"/>
            <a:ext cx="10954511" cy="329184"/>
          </a:xfrm>
          <a:prstGeom prst="rect">
            <a:avLst/>
          </a:prstGeom>
          <a:noFill/>
        </p:spPr>
        <p:txBody>
          <a:bodyPr wrap="square" lIns="0" rIns="0">
            <a:spAutoFit/>
          </a:bodyPr>
          <a:lstStyle/>
          <a:p>
            <a:r>
              <a:rPr sz="1300" b="1">
                <a:solidFill>
                  <a:srgbClr val="1A1A24"/>
                </a:solidFill>
                <a:latin typeface="Aptos"/>
              </a:rPr>
              <a:t>Outcome</a:t>
            </a:r>
          </a:p>
          <a:p>
            <a:pPr>
              <a:spcBef>
                <a:spcPts val="600"/>
              </a:spcBef>
            </a:pPr>
            <a:r>
              <a:rPr sz="900" b="0">
                <a:solidFill>
                  <a:srgbClr val="1A1A24"/>
                </a:solidFill>
                <a:latin typeface="Aptos"/>
              </a:rPr>
              <a:t>The solution becomes more defensible: uncertainty is explicit, writes are bounded, tests map to risks, and production gaps remain visible.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Delivery Summary</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13</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13 · DELIVERY SUMMARY</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DockSight V3 is a complete local product simulation—with a clear path and clear limits</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The delivery is ready for stakeholder demonstration, not production or physical control.</a:t>
            </a:r>
          </a:p>
        </p:txBody>
      </p:sp>
      <p:sp>
        <p:nvSpPr>
          <p:cNvPr id="10" name="Rounded Rectangle 9"/>
          <p:cNvSpPr/>
          <p:nvPr/>
        </p:nvSpPr>
        <p:spPr>
          <a:xfrm>
            <a:off x="438912" y="1463040"/>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463040"/>
            <a:ext cx="64008" cy="148132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581912"/>
            <a:ext cx="3255264" cy="1261872"/>
          </a:xfrm>
          <a:prstGeom prst="rect">
            <a:avLst/>
          </a:prstGeom>
          <a:noFill/>
        </p:spPr>
        <p:txBody>
          <a:bodyPr wrap="square" lIns="0" rIns="0">
            <a:spAutoFit/>
          </a:bodyPr>
          <a:lstStyle/>
          <a:p>
            <a:r>
              <a:rPr sz="1300" b="1">
                <a:solidFill>
                  <a:srgbClr val="FFE600"/>
                </a:solidFill>
                <a:latin typeface="Aptos"/>
              </a:rPr>
              <a:t>UI</a:t>
            </a:r>
          </a:p>
          <a:p>
            <a:pPr>
              <a:spcBef>
                <a:spcPts val="600"/>
              </a:spcBef>
            </a:pPr>
            <a:r>
              <a:rPr sz="1100" b="0">
                <a:solidFill>
                  <a:srgbClr val="FFFFFF"/>
                </a:solidFill>
                <a:latin typeface="Aptos"/>
              </a:rPr>
              <a:t>3 applications</a:t>
            </a:r>
          </a:p>
          <a:p>
            <a:pPr>
              <a:spcBef>
                <a:spcPts val="600"/>
              </a:spcBef>
            </a:pPr>
            <a:r>
              <a:rPr sz="1100" b="0">
                <a:solidFill>
                  <a:srgbClr val="FFFFFF"/>
                </a:solidFill>
                <a:latin typeface="Aptos"/>
              </a:rPr>
              <a:t>Bazaar · Core · Fleet</a:t>
            </a:r>
          </a:p>
        </p:txBody>
      </p:sp>
      <p:sp>
        <p:nvSpPr>
          <p:cNvPr id="13" name="Rounded Rectangle 12"/>
          <p:cNvSpPr/>
          <p:nvPr/>
        </p:nvSpPr>
        <p:spPr>
          <a:xfrm>
            <a:off x="4270248" y="1463040"/>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463040"/>
            <a:ext cx="64008" cy="14813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3128" y="1581912"/>
            <a:ext cx="3255264" cy="1261872"/>
          </a:xfrm>
          <a:prstGeom prst="rect">
            <a:avLst/>
          </a:prstGeom>
          <a:noFill/>
        </p:spPr>
        <p:txBody>
          <a:bodyPr wrap="square" lIns="0" rIns="0">
            <a:spAutoFit/>
          </a:bodyPr>
          <a:lstStyle/>
          <a:p>
            <a:r>
              <a:rPr sz="1300" b="1">
                <a:solidFill>
                  <a:srgbClr val="4CAF50"/>
                </a:solidFill>
                <a:latin typeface="Aptos"/>
              </a:rPr>
              <a:t>Models</a:t>
            </a:r>
          </a:p>
          <a:p>
            <a:pPr>
              <a:spcBef>
                <a:spcPts val="600"/>
              </a:spcBef>
            </a:pPr>
            <a:r>
              <a:rPr sz="1100" b="0">
                <a:solidFill>
                  <a:srgbClr val="FFFFFF"/>
                </a:solidFill>
                <a:latin typeface="Aptos"/>
              </a:rPr>
              <a:t>Deterministic</a:t>
            </a:r>
          </a:p>
          <a:p>
            <a:pPr>
              <a:spcBef>
                <a:spcPts val="600"/>
              </a:spcBef>
            </a:pPr>
            <a:r>
              <a:rPr sz="1100" b="0">
                <a:solidFill>
                  <a:srgbClr val="FFFFFF"/>
                </a:solidFill>
                <a:latin typeface="Aptos"/>
              </a:rPr>
              <a:t>No runtime AI / ML</a:t>
            </a:r>
          </a:p>
        </p:txBody>
      </p:sp>
      <p:sp>
        <p:nvSpPr>
          <p:cNvPr id="16" name="Rounded Rectangle 15"/>
          <p:cNvSpPr/>
          <p:nvPr/>
        </p:nvSpPr>
        <p:spPr>
          <a:xfrm>
            <a:off x="8101583" y="1463040"/>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01583" y="1463040"/>
            <a:ext cx="64008" cy="148132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3" y="1581912"/>
            <a:ext cx="3255264" cy="1261872"/>
          </a:xfrm>
          <a:prstGeom prst="rect">
            <a:avLst/>
          </a:prstGeom>
          <a:noFill/>
        </p:spPr>
        <p:txBody>
          <a:bodyPr wrap="square" lIns="0" rIns="0">
            <a:spAutoFit/>
          </a:bodyPr>
          <a:lstStyle/>
          <a:p>
            <a:r>
              <a:rPr sz="1300" b="1">
                <a:solidFill>
                  <a:srgbClr val="FFB300"/>
                </a:solidFill>
                <a:latin typeface="Aptos"/>
              </a:rPr>
              <a:t>Evaluation</a:t>
            </a:r>
          </a:p>
          <a:p>
            <a:pPr>
              <a:spcBef>
                <a:spcPts val="600"/>
              </a:spcBef>
            </a:pPr>
            <a:r>
              <a:rPr sz="1100" b="0">
                <a:solidFill>
                  <a:srgbClr val="FFFFFF"/>
                </a:solidFill>
                <a:latin typeface="Aptos"/>
              </a:rPr>
              <a:t>Product regressions</a:t>
            </a:r>
          </a:p>
          <a:p>
            <a:pPr>
              <a:spcBef>
                <a:spcPts val="600"/>
              </a:spcBef>
            </a:pPr>
            <a:r>
              <a:rPr sz="1100" b="0">
                <a:solidFill>
                  <a:srgbClr val="FFFFFF"/>
                </a:solidFill>
                <a:latin typeface="Aptos"/>
              </a:rPr>
              <a:t>Packaged evidence + gaps</a:t>
            </a:r>
          </a:p>
        </p:txBody>
      </p:sp>
      <p:sp>
        <p:nvSpPr>
          <p:cNvPr id="19" name="Rounded Rectangle 18"/>
          <p:cNvSpPr/>
          <p:nvPr/>
        </p:nvSpPr>
        <p:spPr>
          <a:xfrm>
            <a:off x="438912" y="3264408"/>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 y="3264408"/>
            <a:ext cx="64008" cy="148132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3383279"/>
            <a:ext cx="3255264" cy="1261872"/>
          </a:xfrm>
          <a:prstGeom prst="rect">
            <a:avLst/>
          </a:prstGeom>
          <a:noFill/>
        </p:spPr>
        <p:txBody>
          <a:bodyPr wrap="square" lIns="0" rIns="0">
            <a:spAutoFit/>
          </a:bodyPr>
          <a:lstStyle/>
          <a:p>
            <a:r>
              <a:rPr sz="1300" b="1">
                <a:solidFill>
                  <a:srgbClr val="FFE600"/>
                </a:solidFill>
                <a:latin typeface="Aptos"/>
              </a:rPr>
              <a:t>Architecture</a:t>
            </a:r>
          </a:p>
          <a:p>
            <a:pPr>
              <a:spcBef>
                <a:spcPts val="600"/>
              </a:spcBef>
            </a:pPr>
            <a:r>
              <a:rPr sz="1100" b="0">
                <a:solidFill>
                  <a:srgbClr val="FFFFFF"/>
                </a:solidFill>
                <a:latin typeface="Aptos"/>
              </a:rPr>
              <a:t>Local modular monolith</a:t>
            </a:r>
          </a:p>
          <a:p>
            <a:pPr>
              <a:spcBef>
                <a:spcPts val="600"/>
              </a:spcBef>
            </a:pPr>
            <a:r>
              <a:rPr sz="1100" b="0">
                <a:solidFill>
                  <a:srgbClr val="FFFFFF"/>
                </a:solidFill>
                <a:latin typeface="Aptos"/>
              </a:rPr>
              <a:t>FastAPI + 2 SQLite stores</a:t>
            </a:r>
          </a:p>
        </p:txBody>
      </p:sp>
      <p:sp>
        <p:nvSpPr>
          <p:cNvPr id="22" name="Rounded Rectangle 21"/>
          <p:cNvSpPr/>
          <p:nvPr/>
        </p:nvSpPr>
        <p:spPr>
          <a:xfrm>
            <a:off x="4270248" y="3264408"/>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70248" y="3264408"/>
            <a:ext cx="64008" cy="148132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53128" y="3383279"/>
            <a:ext cx="3255264" cy="1261872"/>
          </a:xfrm>
          <a:prstGeom prst="rect">
            <a:avLst/>
          </a:prstGeom>
          <a:noFill/>
        </p:spPr>
        <p:txBody>
          <a:bodyPr wrap="square" lIns="0" rIns="0">
            <a:spAutoFit/>
          </a:bodyPr>
          <a:lstStyle/>
          <a:p>
            <a:r>
              <a:rPr sz="1300" b="1">
                <a:solidFill>
                  <a:srgbClr val="4CAF50"/>
                </a:solidFill>
                <a:latin typeface="Aptos"/>
              </a:rPr>
              <a:t>Analytics</a:t>
            </a:r>
          </a:p>
          <a:p>
            <a:pPr>
              <a:spcBef>
                <a:spcPts val="600"/>
              </a:spcBef>
            </a:pPr>
            <a:r>
              <a:rPr sz="1100" b="0">
                <a:solidFill>
                  <a:srgbClr val="FFFFFF"/>
                </a:solidFill>
                <a:latin typeface="Aptos"/>
              </a:rPr>
              <a:t>Forecast + replay</a:t>
            </a:r>
          </a:p>
          <a:p>
            <a:pPr>
              <a:spcBef>
                <a:spcPts val="600"/>
              </a:spcBef>
            </a:pPr>
            <a:r>
              <a:rPr sz="1100" b="0">
                <a:solidFill>
                  <a:srgbClr val="FFFFFF"/>
                </a:solidFill>
                <a:latin typeface="Aptos"/>
              </a:rPr>
              <a:t>Transparent, descriptive</a:t>
            </a:r>
          </a:p>
        </p:txBody>
      </p:sp>
      <p:sp>
        <p:nvSpPr>
          <p:cNvPr id="25" name="Rounded Rectangle 24"/>
          <p:cNvSpPr/>
          <p:nvPr/>
        </p:nvSpPr>
        <p:spPr>
          <a:xfrm>
            <a:off x="8101583" y="3264408"/>
            <a:ext cx="3602736" cy="1481328"/>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01583" y="3264408"/>
            <a:ext cx="64008" cy="148132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4463" y="3383279"/>
            <a:ext cx="3255264" cy="1261872"/>
          </a:xfrm>
          <a:prstGeom prst="rect">
            <a:avLst/>
          </a:prstGeom>
          <a:noFill/>
        </p:spPr>
        <p:txBody>
          <a:bodyPr wrap="square" lIns="0" rIns="0">
            <a:spAutoFit/>
          </a:bodyPr>
          <a:lstStyle/>
          <a:p>
            <a:r>
              <a:rPr sz="1300" b="1">
                <a:solidFill>
                  <a:srgbClr val="FFB300"/>
                </a:solidFill>
                <a:latin typeface="Aptos"/>
              </a:rPr>
              <a:t>Business</a:t>
            </a:r>
          </a:p>
          <a:p>
            <a:pPr>
              <a:spcBef>
                <a:spcPts val="600"/>
              </a:spcBef>
            </a:pPr>
            <a:r>
              <a:rPr sz="1100" b="0">
                <a:solidFill>
                  <a:srgbClr val="FFFFFF"/>
                </a:solidFill>
                <a:latin typeface="Aptos"/>
              </a:rPr>
              <a:t>Auditable fulfillment</a:t>
            </a:r>
          </a:p>
          <a:p>
            <a:pPr>
              <a:spcBef>
                <a:spcPts val="600"/>
              </a:spcBef>
            </a:pPr>
            <a:r>
              <a:rPr sz="1100" b="0">
                <a:solidFill>
                  <a:srgbClr val="FFFFFF"/>
                </a:solidFill>
                <a:latin typeface="Aptos"/>
              </a:rPr>
              <a:t>Value not yet live-proven</a:t>
            </a:r>
          </a:p>
        </p:txBody>
      </p:sp>
      <p:sp>
        <p:nvSpPr>
          <p:cNvPr id="28" name="Rounded Rectangle 27"/>
          <p:cNvSpPr/>
          <p:nvPr/>
        </p:nvSpPr>
        <p:spPr>
          <a:xfrm>
            <a:off x="438912" y="5084064"/>
            <a:ext cx="11265408" cy="896112"/>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 y="5084064"/>
            <a:ext cx="64008" cy="89611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 y="5202936"/>
            <a:ext cx="10917936" cy="676656"/>
          </a:xfrm>
          <a:prstGeom prst="rect">
            <a:avLst/>
          </a:prstGeom>
          <a:noFill/>
        </p:spPr>
        <p:txBody>
          <a:bodyPr wrap="square" lIns="0" rIns="0">
            <a:spAutoFit/>
          </a:bodyPr>
          <a:lstStyle/>
          <a:p>
            <a:r>
              <a:rPr sz="1300" b="1">
                <a:solidFill>
                  <a:srgbClr val="FFE600"/>
                </a:solidFill>
                <a:latin typeface="Aptos"/>
              </a:rPr>
              <a:t>Executive decision</a:t>
            </a:r>
          </a:p>
          <a:p>
            <a:pPr>
              <a:spcBef>
                <a:spcPts val="600"/>
              </a:spcBef>
            </a:pPr>
            <a:r>
              <a:rPr sz="1200" b="0">
                <a:solidFill>
                  <a:srgbClr val="FFFFFF"/>
                </a:solidFill>
                <a:latin typeface="Aptos"/>
              </a:rPr>
              <a:t>Accept Repo3/V3 as the updated local baseline; approve clean-host Windows verification; retain shared-network and physical-control NO-GO.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14</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FIVE KEY KPIS - CURRENT STATE TO V3</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Two indicators improve on the data; three are brought under explicit control</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Improvement is shown where it can be evidenced, and named as a control where the indicator has not yet been re-measured.</a:t>
            </a:r>
          </a:p>
        </p:txBody>
      </p:sp>
      <p:sp>
        <p:nvSpPr>
          <p:cNvPr id="10" name="Rectangle 9"/>
          <p:cNvSpPr/>
          <p:nvPr/>
        </p:nvSpPr>
        <p:spPr>
          <a:xfrm>
            <a:off x="438912" y="1371600"/>
            <a:ext cx="146304" cy="21945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353312"/>
            <a:ext cx="10881360" cy="256032"/>
          </a:xfrm>
          <a:prstGeom prst="rect">
            <a:avLst/>
          </a:prstGeom>
          <a:noFill/>
        </p:spPr>
        <p:txBody>
          <a:bodyPr wrap="none" lIns="0">
            <a:spAutoFit/>
          </a:bodyPr>
          <a:lstStyle/>
          <a:p>
            <a:r>
              <a:rPr sz="1000" b="1">
                <a:solidFill>
                  <a:srgbClr val="1A1A24"/>
                </a:solidFill>
                <a:latin typeface="Aptos"/>
              </a:rPr>
              <a:t>MEASURED IMPROVEMENT ON THE ORDER AND SHIPMENT DATA</a:t>
            </a:r>
          </a:p>
        </p:txBody>
      </p:sp>
      <p:sp>
        <p:nvSpPr>
          <p:cNvPr id="12" name="TextBox 11"/>
          <p:cNvSpPr txBox="1"/>
          <p:nvPr/>
        </p:nvSpPr>
        <p:spPr>
          <a:xfrm>
            <a:off x="438912" y="1737360"/>
            <a:ext cx="2487168" cy="566928"/>
          </a:xfrm>
          <a:prstGeom prst="rect">
            <a:avLst/>
          </a:prstGeom>
          <a:noFill/>
        </p:spPr>
        <p:txBody>
          <a:bodyPr wrap="square" lIns="0" tIns="0">
            <a:spAutoFit/>
          </a:bodyPr>
          <a:lstStyle/>
          <a:p>
            <a:r>
              <a:rPr sz="1200" b="1">
                <a:solidFill>
                  <a:srgbClr val="1A1A24"/>
                </a:solidFill>
                <a:latin typeface="Aptos"/>
              </a:rPr>
              <a:t>Order cycle time</a:t>
            </a:r>
          </a:p>
          <a:p>
            <a:r>
              <a:rPr sz="800" b="0">
                <a:solidFill>
                  <a:srgbClr val="747480"/>
                </a:solidFill>
                <a:latin typeface="Aptos"/>
              </a:rPr>
              <a:t>Order created to shipment departure</a:t>
            </a:r>
          </a:p>
        </p:txBody>
      </p:sp>
      <p:sp>
        <p:nvSpPr>
          <p:cNvPr id="13" name="Rounded Rectangle 12"/>
          <p:cNvSpPr/>
          <p:nvPr/>
        </p:nvSpPr>
        <p:spPr>
          <a:xfrm>
            <a:off x="2999232" y="168249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1728216"/>
            <a:ext cx="1408176" cy="274320"/>
          </a:xfrm>
          <a:prstGeom prst="rect">
            <a:avLst/>
          </a:prstGeom>
          <a:noFill/>
        </p:spPr>
        <p:txBody>
          <a:bodyPr wrap="none" lIns="0" tIns="0">
            <a:spAutoFit/>
          </a:bodyPr>
          <a:lstStyle/>
          <a:p>
            <a:r>
              <a:rPr sz="1700" b="1">
                <a:solidFill>
                  <a:srgbClr val="747480"/>
                </a:solidFill>
                <a:latin typeface="Aptos"/>
              </a:rPr>
              <a:t>11.30 h</a:t>
            </a:r>
          </a:p>
        </p:txBody>
      </p:sp>
      <p:sp>
        <p:nvSpPr>
          <p:cNvPr id="15" name="TextBox 14"/>
          <p:cNvSpPr txBox="1"/>
          <p:nvPr/>
        </p:nvSpPr>
        <p:spPr>
          <a:xfrm>
            <a:off x="3108960" y="2011680"/>
            <a:ext cx="1408176" cy="274320"/>
          </a:xfrm>
          <a:prstGeom prst="rect">
            <a:avLst/>
          </a:prstGeom>
          <a:noFill/>
        </p:spPr>
        <p:txBody>
          <a:bodyPr wrap="square" lIns="0" tIns="0">
            <a:spAutoFit/>
          </a:bodyPr>
          <a:lstStyle/>
          <a:p>
            <a:r>
              <a:rPr sz="800" b="0">
                <a:solidFill>
                  <a:srgbClr val="747480"/>
                </a:solidFill>
                <a:latin typeface="Aptos"/>
              </a:rPr>
              <a:t>current average</a:t>
            </a:r>
          </a:p>
        </p:txBody>
      </p:sp>
      <p:sp>
        <p:nvSpPr>
          <p:cNvPr id="16" name="Rectangle 15"/>
          <p:cNvSpPr/>
          <p:nvPr/>
        </p:nvSpPr>
        <p:spPr>
          <a:xfrm>
            <a:off x="3108960" y="2212848"/>
            <a:ext cx="1408176"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08960" y="2212848"/>
            <a:ext cx="1408176" cy="64008"/>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4718304" y="1920240"/>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93792" y="1682496"/>
            <a:ext cx="2103120" cy="676656"/>
          </a:xfrm>
          <a:prstGeom prst="roundRect">
            <a:avLst/>
          </a:prstGeom>
          <a:solidFill>
            <a:srgbClr val="FFFFFF"/>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3520" y="1728216"/>
            <a:ext cx="1883663" cy="274320"/>
          </a:xfrm>
          <a:prstGeom prst="rect">
            <a:avLst/>
          </a:prstGeom>
          <a:noFill/>
        </p:spPr>
        <p:txBody>
          <a:bodyPr wrap="none" lIns="0" tIns="0">
            <a:spAutoFit/>
          </a:bodyPr>
          <a:lstStyle/>
          <a:p>
            <a:r>
              <a:rPr sz="1700" b="1">
                <a:solidFill>
                  <a:srgbClr val="1A1A24"/>
                </a:solidFill>
                <a:latin typeface="Aptos"/>
              </a:rPr>
              <a:t>8.00 h</a:t>
            </a:r>
          </a:p>
        </p:txBody>
      </p:sp>
      <p:sp>
        <p:nvSpPr>
          <p:cNvPr id="21" name="TextBox 20"/>
          <p:cNvSpPr txBox="1"/>
          <p:nvPr/>
        </p:nvSpPr>
        <p:spPr>
          <a:xfrm>
            <a:off x="5303520" y="2011680"/>
            <a:ext cx="1883663" cy="274320"/>
          </a:xfrm>
          <a:prstGeom prst="rect">
            <a:avLst/>
          </a:prstGeom>
          <a:noFill/>
        </p:spPr>
        <p:txBody>
          <a:bodyPr wrap="square" lIns="0" tIns="0">
            <a:spAutoFit/>
          </a:bodyPr>
          <a:lstStyle/>
          <a:p>
            <a:r>
              <a:rPr sz="800" b="0">
                <a:solidFill>
                  <a:srgbClr val="747480"/>
                </a:solidFill>
                <a:latin typeface="Aptos"/>
              </a:rPr>
              <a:t>V3 replay dataset average</a:t>
            </a:r>
          </a:p>
        </p:txBody>
      </p:sp>
      <p:sp>
        <p:nvSpPr>
          <p:cNvPr id="22" name="Rectangle 21"/>
          <p:cNvSpPr/>
          <p:nvPr/>
        </p:nvSpPr>
        <p:spPr>
          <a:xfrm>
            <a:off x="5303520" y="2212848"/>
            <a:ext cx="1883663"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03520" y="2212848"/>
            <a:ext cx="1333567"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88352" y="1682496"/>
            <a:ext cx="1700784" cy="676656"/>
          </a:xfrm>
          <a:prstGeom prst="roundRect">
            <a:avLst/>
          </a:prstGeom>
          <a:solidFill>
            <a:srgbClr val="1A1A24"/>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61504" y="1728216"/>
            <a:ext cx="1554480" cy="585216"/>
          </a:xfrm>
          <a:prstGeom prst="rect">
            <a:avLst/>
          </a:prstGeom>
          <a:noFill/>
        </p:spPr>
        <p:txBody>
          <a:bodyPr wrap="square" lIns="0" tIns="0">
            <a:spAutoFit/>
          </a:bodyPr>
          <a:lstStyle/>
          <a:p>
            <a:pPr algn="ctr"/>
            <a:r>
              <a:rPr sz="1300" b="1">
                <a:solidFill>
                  <a:srgbClr val="4CAF50"/>
                </a:solidFill>
                <a:latin typeface="Aptos"/>
              </a:rPr>
              <a:t>-3.30 h</a:t>
            </a:r>
          </a:p>
          <a:p>
            <a:pPr algn="ctr"/>
            <a:r>
              <a:rPr sz="750" b="0">
                <a:solidFill>
                  <a:srgbClr val="C4C4CD"/>
                </a:solidFill>
                <a:latin typeface="Aptos"/>
              </a:rPr>
              <a:t>29% faster</a:t>
            </a:r>
          </a:p>
        </p:txBody>
      </p:sp>
      <p:sp>
        <p:nvSpPr>
          <p:cNvPr id="26" name="TextBox 25"/>
          <p:cNvSpPr txBox="1"/>
          <p:nvPr/>
        </p:nvSpPr>
        <p:spPr>
          <a:xfrm>
            <a:off x="9198864" y="1755648"/>
            <a:ext cx="2551176" cy="548640"/>
          </a:xfrm>
          <a:prstGeom prst="rect">
            <a:avLst/>
          </a:prstGeom>
          <a:noFill/>
        </p:spPr>
        <p:txBody>
          <a:bodyPr wrap="square" lIns="0" tIns="0">
            <a:spAutoFit/>
          </a:bodyPr>
          <a:lstStyle/>
          <a:p>
            <a:r>
              <a:rPr sz="850" b="0">
                <a:solidFill>
                  <a:srgbClr val="747480"/>
                </a:solidFill>
                <a:latin typeface="Aptos"/>
              </a:rPr>
              <a:t>Measured. Recomputed from the raw archive and matches the published baseline exactly.</a:t>
            </a:r>
          </a:p>
        </p:txBody>
      </p:sp>
      <p:sp>
        <p:nvSpPr>
          <p:cNvPr id="27" name="TextBox 26"/>
          <p:cNvSpPr txBox="1"/>
          <p:nvPr/>
        </p:nvSpPr>
        <p:spPr>
          <a:xfrm>
            <a:off x="438912" y="2468880"/>
            <a:ext cx="2487168" cy="566928"/>
          </a:xfrm>
          <a:prstGeom prst="rect">
            <a:avLst/>
          </a:prstGeom>
          <a:noFill/>
        </p:spPr>
        <p:txBody>
          <a:bodyPr wrap="square" lIns="0" tIns="0">
            <a:spAutoFit/>
          </a:bodyPr>
          <a:lstStyle/>
          <a:p>
            <a:r>
              <a:rPr sz="1200" b="1">
                <a:solidFill>
                  <a:srgbClr val="1A1A24"/>
                </a:solidFill>
                <a:latin typeface="Aptos"/>
              </a:rPr>
              <a:t>On-time carrier departure</a:t>
            </a:r>
          </a:p>
          <a:p>
            <a:r>
              <a:rPr sz="800" b="0">
                <a:solidFill>
                  <a:srgbClr val="747480"/>
                </a:solidFill>
                <a:latin typeface="Aptos"/>
              </a:rPr>
              <a:t>Departed at or before planned time</a:t>
            </a:r>
          </a:p>
        </p:txBody>
      </p:sp>
      <p:sp>
        <p:nvSpPr>
          <p:cNvPr id="28" name="Rounded Rectangle 27"/>
          <p:cNvSpPr/>
          <p:nvPr/>
        </p:nvSpPr>
        <p:spPr>
          <a:xfrm>
            <a:off x="2999232" y="241401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108960" y="2459736"/>
            <a:ext cx="1408176" cy="274320"/>
          </a:xfrm>
          <a:prstGeom prst="rect">
            <a:avLst/>
          </a:prstGeom>
          <a:noFill/>
        </p:spPr>
        <p:txBody>
          <a:bodyPr wrap="none" lIns="0" tIns="0">
            <a:spAutoFit/>
          </a:bodyPr>
          <a:lstStyle/>
          <a:p>
            <a:r>
              <a:rPr sz="1700" b="1">
                <a:solidFill>
                  <a:srgbClr val="747480"/>
                </a:solidFill>
                <a:latin typeface="Aptos"/>
              </a:rPr>
              <a:t>21.95%</a:t>
            </a:r>
          </a:p>
        </p:txBody>
      </p:sp>
      <p:sp>
        <p:nvSpPr>
          <p:cNvPr id="30" name="TextBox 29"/>
          <p:cNvSpPr txBox="1"/>
          <p:nvPr/>
        </p:nvSpPr>
        <p:spPr>
          <a:xfrm>
            <a:off x="3108960" y="2743200"/>
            <a:ext cx="1408176" cy="274320"/>
          </a:xfrm>
          <a:prstGeom prst="rect">
            <a:avLst/>
          </a:prstGeom>
          <a:noFill/>
        </p:spPr>
        <p:txBody>
          <a:bodyPr wrap="square" lIns="0" tIns="0">
            <a:spAutoFit/>
          </a:bodyPr>
          <a:lstStyle/>
          <a:p>
            <a:r>
              <a:rPr sz="800" b="0">
                <a:solidFill>
                  <a:srgbClr val="747480"/>
                </a:solidFill>
                <a:latin typeface="Aptos"/>
              </a:rPr>
              <a:t>current on-time rate</a:t>
            </a:r>
          </a:p>
        </p:txBody>
      </p:sp>
      <p:sp>
        <p:nvSpPr>
          <p:cNvPr id="31" name="Rectangle 30"/>
          <p:cNvSpPr/>
          <p:nvPr/>
        </p:nvSpPr>
        <p:spPr>
          <a:xfrm>
            <a:off x="3108960" y="2944368"/>
            <a:ext cx="1408176"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108960" y="2944368"/>
            <a:ext cx="496936" cy="64008"/>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4718304" y="2651760"/>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193792" y="2414016"/>
            <a:ext cx="2103120" cy="676656"/>
          </a:xfrm>
          <a:prstGeom prst="roundRect">
            <a:avLst/>
          </a:prstGeom>
          <a:solidFill>
            <a:srgbClr val="FFFFFF"/>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303520" y="2459736"/>
            <a:ext cx="1883663" cy="274320"/>
          </a:xfrm>
          <a:prstGeom prst="rect">
            <a:avLst/>
          </a:prstGeom>
          <a:noFill/>
        </p:spPr>
        <p:txBody>
          <a:bodyPr wrap="none" lIns="0" tIns="0">
            <a:spAutoFit/>
          </a:bodyPr>
          <a:lstStyle/>
          <a:p>
            <a:r>
              <a:rPr sz="1700" b="1">
                <a:solidFill>
                  <a:srgbClr val="1A1A24"/>
                </a:solidFill>
                <a:latin typeface="Aptos"/>
              </a:rPr>
              <a:t>62.20%</a:t>
            </a:r>
          </a:p>
        </p:txBody>
      </p:sp>
      <p:sp>
        <p:nvSpPr>
          <p:cNvPr id="36" name="TextBox 35"/>
          <p:cNvSpPr txBox="1"/>
          <p:nvPr/>
        </p:nvSpPr>
        <p:spPr>
          <a:xfrm>
            <a:off x="5303520" y="2743200"/>
            <a:ext cx="1883663" cy="274320"/>
          </a:xfrm>
          <a:prstGeom prst="rect">
            <a:avLst/>
          </a:prstGeom>
          <a:noFill/>
        </p:spPr>
        <p:txBody>
          <a:bodyPr wrap="square" lIns="0" tIns="0">
            <a:spAutoFit/>
          </a:bodyPr>
          <a:lstStyle/>
          <a:p>
            <a:r>
              <a:rPr sz="800" b="0">
                <a:solidFill>
                  <a:srgbClr val="747480"/>
                </a:solidFill>
                <a:latin typeface="Aptos"/>
              </a:rPr>
              <a:t>V3 replay dataset rate</a:t>
            </a:r>
          </a:p>
        </p:txBody>
      </p:sp>
      <p:sp>
        <p:nvSpPr>
          <p:cNvPr id="37" name="Rectangle 36"/>
          <p:cNvSpPr/>
          <p:nvPr/>
        </p:nvSpPr>
        <p:spPr>
          <a:xfrm>
            <a:off x="5303520" y="2944368"/>
            <a:ext cx="1883663" cy="64008"/>
          </a:xfrm>
          <a:prstGeom prst="rect">
            <a:avLst/>
          </a:prstGeom>
          <a:solidFill>
            <a:srgbClr val="DEDE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303520" y="2944368"/>
            <a:ext cx="1883663"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88352" y="2414016"/>
            <a:ext cx="1700784" cy="676656"/>
          </a:xfrm>
          <a:prstGeom prst="roundRect">
            <a:avLst/>
          </a:prstGeom>
          <a:solidFill>
            <a:srgbClr val="1A1A24"/>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61504" y="2459736"/>
            <a:ext cx="1554480" cy="585216"/>
          </a:xfrm>
          <a:prstGeom prst="rect">
            <a:avLst/>
          </a:prstGeom>
          <a:noFill/>
        </p:spPr>
        <p:txBody>
          <a:bodyPr wrap="square" lIns="0" tIns="0">
            <a:spAutoFit/>
          </a:bodyPr>
          <a:lstStyle/>
          <a:p>
            <a:pPr algn="ctr"/>
            <a:r>
              <a:rPr sz="1300" b="1">
                <a:solidFill>
                  <a:srgbClr val="4CAF50"/>
                </a:solidFill>
                <a:latin typeface="Aptos"/>
              </a:rPr>
              <a:t>+40.3 pts</a:t>
            </a:r>
          </a:p>
          <a:p>
            <a:pPr algn="ctr"/>
            <a:r>
              <a:rPr sz="750" b="0">
                <a:solidFill>
                  <a:srgbClr val="C4C4CD"/>
                </a:solidFill>
                <a:latin typeface="Aptos"/>
              </a:rPr>
              <a:t>2.8x the current rate</a:t>
            </a:r>
          </a:p>
        </p:txBody>
      </p:sp>
      <p:sp>
        <p:nvSpPr>
          <p:cNvPr id="41" name="TextBox 40"/>
          <p:cNvSpPr txBox="1"/>
          <p:nvPr/>
        </p:nvSpPr>
        <p:spPr>
          <a:xfrm>
            <a:off x="9198864" y="2487168"/>
            <a:ext cx="2551176" cy="548640"/>
          </a:xfrm>
          <a:prstGeom prst="rect">
            <a:avLst/>
          </a:prstGeom>
          <a:noFill/>
        </p:spPr>
        <p:txBody>
          <a:bodyPr wrap="square" lIns="0" tIns="0">
            <a:spAutoFit/>
          </a:bodyPr>
          <a:lstStyle/>
          <a:p>
            <a:r>
              <a:rPr sz="850" b="0">
                <a:solidFill>
                  <a:srgbClr val="747480"/>
                </a:solidFill>
                <a:latin typeface="Aptos"/>
              </a:rPr>
              <a:t>Measured. 344 of 1,567 departures today; the replay archive reaches 62.20%.</a:t>
            </a:r>
          </a:p>
        </p:txBody>
      </p:sp>
      <p:sp>
        <p:nvSpPr>
          <p:cNvPr id="42" name="Rectangle 41"/>
          <p:cNvSpPr/>
          <p:nvPr/>
        </p:nvSpPr>
        <p:spPr>
          <a:xfrm>
            <a:off x="438912" y="3200400"/>
            <a:ext cx="146304" cy="219456"/>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8368" y="3182112"/>
            <a:ext cx="10881360" cy="256032"/>
          </a:xfrm>
          <a:prstGeom prst="rect">
            <a:avLst/>
          </a:prstGeom>
          <a:noFill/>
        </p:spPr>
        <p:txBody>
          <a:bodyPr wrap="none" lIns="0">
            <a:spAutoFit/>
          </a:bodyPr>
          <a:lstStyle/>
          <a:p>
            <a:r>
              <a:rPr sz="1000" b="1">
                <a:solidFill>
                  <a:srgbClr val="1A1A24"/>
                </a:solidFill>
                <a:latin typeface="Aptos"/>
              </a:rPr>
              <a:t>BROUGHT UNDER EXPLICIT CONTROL BY V3 - INDICATOR NOT YET RE-MEASURED</a:t>
            </a:r>
          </a:p>
        </p:txBody>
      </p:sp>
      <p:sp>
        <p:nvSpPr>
          <p:cNvPr id="44" name="TextBox 43"/>
          <p:cNvSpPr txBox="1"/>
          <p:nvPr/>
        </p:nvSpPr>
        <p:spPr>
          <a:xfrm>
            <a:off x="438912" y="3566160"/>
            <a:ext cx="2487168" cy="566928"/>
          </a:xfrm>
          <a:prstGeom prst="rect">
            <a:avLst/>
          </a:prstGeom>
          <a:noFill/>
        </p:spPr>
        <p:txBody>
          <a:bodyPr wrap="square" lIns="0" tIns="0">
            <a:spAutoFit/>
          </a:bodyPr>
          <a:lstStyle/>
          <a:p>
            <a:r>
              <a:rPr sz="1200" b="1">
                <a:solidFill>
                  <a:srgbClr val="1A1A24"/>
                </a:solidFill>
                <a:latin typeface="Aptos"/>
              </a:rPr>
              <a:t>Inventory accuracy</a:t>
            </a:r>
          </a:p>
          <a:p>
            <a:r>
              <a:rPr sz="800" b="0">
                <a:solidFill>
                  <a:srgbClr val="747480"/>
                </a:solidFill>
                <a:latin typeface="Aptos"/>
              </a:rPr>
              <a:t>Rows where WMS, ERP and VISION agree</a:t>
            </a:r>
          </a:p>
        </p:txBody>
      </p:sp>
      <p:sp>
        <p:nvSpPr>
          <p:cNvPr id="45" name="Rounded Rectangle 44"/>
          <p:cNvSpPr/>
          <p:nvPr/>
        </p:nvSpPr>
        <p:spPr>
          <a:xfrm>
            <a:off x="2999232" y="351129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08960" y="3557015"/>
            <a:ext cx="1408176" cy="274320"/>
          </a:xfrm>
          <a:prstGeom prst="rect">
            <a:avLst/>
          </a:prstGeom>
          <a:noFill/>
        </p:spPr>
        <p:txBody>
          <a:bodyPr wrap="none" lIns="0" tIns="0">
            <a:spAutoFit/>
          </a:bodyPr>
          <a:lstStyle/>
          <a:p>
            <a:r>
              <a:rPr sz="1700" b="1">
                <a:solidFill>
                  <a:srgbClr val="747480"/>
                </a:solidFill>
                <a:latin typeface="Aptos"/>
              </a:rPr>
              <a:t>21.13%</a:t>
            </a:r>
          </a:p>
        </p:txBody>
      </p:sp>
      <p:sp>
        <p:nvSpPr>
          <p:cNvPr id="47" name="TextBox 46"/>
          <p:cNvSpPr txBox="1"/>
          <p:nvPr/>
        </p:nvSpPr>
        <p:spPr>
          <a:xfrm>
            <a:off x="3108960" y="3840480"/>
            <a:ext cx="1408176" cy="274320"/>
          </a:xfrm>
          <a:prstGeom prst="rect">
            <a:avLst/>
          </a:prstGeom>
          <a:noFill/>
        </p:spPr>
        <p:txBody>
          <a:bodyPr wrap="square" lIns="0" tIns="0">
            <a:spAutoFit/>
          </a:bodyPr>
          <a:lstStyle/>
          <a:p>
            <a:r>
              <a:rPr sz="800" b="0">
                <a:solidFill>
                  <a:srgbClr val="747480"/>
                </a:solidFill>
                <a:latin typeface="Aptos"/>
              </a:rPr>
              <a:t>of rows agree today</a:t>
            </a:r>
          </a:p>
        </p:txBody>
      </p:sp>
      <p:sp>
        <p:nvSpPr>
          <p:cNvPr id="48" name="Right Arrow 47"/>
          <p:cNvSpPr/>
          <p:nvPr/>
        </p:nvSpPr>
        <p:spPr>
          <a:xfrm>
            <a:off x="4718304" y="3749039"/>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193792" y="3511296"/>
            <a:ext cx="2103120" cy="676656"/>
          </a:xfrm>
          <a:prstGeom prst="roundRect">
            <a:avLst/>
          </a:prstGeom>
          <a:solidFill>
            <a:srgbClr val="FFFFFF"/>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03520" y="3557015"/>
            <a:ext cx="1883663" cy="274320"/>
          </a:xfrm>
          <a:prstGeom prst="rect">
            <a:avLst/>
          </a:prstGeom>
          <a:noFill/>
        </p:spPr>
        <p:txBody>
          <a:bodyPr wrap="none" lIns="0" tIns="0">
            <a:spAutoFit/>
          </a:bodyPr>
          <a:lstStyle/>
          <a:p>
            <a:r>
              <a:rPr sz="1700" b="1">
                <a:solidFill>
                  <a:srgbClr val="1A1A24"/>
                </a:solidFill>
                <a:latin typeface="Aptos"/>
              </a:rPr>
              <a:t>100%</a:t>
            </a:r>
          </a:p>
        </p:txBody>
      </p:sp>
      <p:sp>
        <p:nvSpPr>
          <p:cNvPr id="51" name="TextBox 50"/>
          <p:cNvSpPr txBox="1"/>
          <p:nvPr/>
        </p:nvSpPr>
        <p:spPr>
          <a:xfrm>
            <a:off x="5303520" y="3840480"/>
            <a:ext cx="1883663" cy="274320"/>
          </a:xfrm>
          <a:prstGeom prst="rect">
            <a:avLst/>
          </a:prstGeom>
          <a:noFill/>
        </p:spPr>
        <p:txBody>
          <a:bodyPr wrap="square" lIns="0" tIns="0">
            <a:spAutoFit/>
          </a:bodyPr>
          <a:lstStyle/>
          <a:p>
            <a:r>
              <a:rPr sz="800" b="0">
                <a:solidFill>
                  <a:srgbClr val="747480"/>
                </a:solidFill>
                <a:latin typeface="Aptos"/>
              </a:rPr>
              <a:t>of conflicts resolved by one stated rule</a:t>
            </a:r>
          </a:p>
        </p:txBody>
      </p:sp>
      <p:sp>
        <p:nvSpPr>
          <p:cNvPr id="52" name="Rounded Rectangle 51"/>
          <p:cNvSpPr/>
          <p:nvPr/>
        </p:nvSpPr>
        <p:spPr>
          <a:xfrm>
            <a:off x="7388352" y="3511296"/>
            <a:ext cx="1700784" cy="676656"/>
          </a:xfrm>
          <a:prstGeom prst="roundRect">
            <a:avLst/>
          </a:prstGeom>
          <a:solidFill>
            <a:srgbClr val="1A1A24"/>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461504" y="3557015"/>
            <a:ext cx="1554480" cy="585216"/>
          </a:xfrm>
          <a:prstGeom prst="rect">
            <a:avLst/>
          </a:prstGeom>
          <a:noFill/>
        </p:spPr>
        <p:txBody>
          <a:bodyPr wrap="square" lIns="0" tIns="0">
            <a:spAutoFit/>
          </a:bodyPr>
          <a:lstStyle/>
          <a:p>
            <a:pPr algn="ctr"/>
            <a:r>
              <a:rPr sz="1300" b="1">
                <a:solidFill>
                  <a:srgbClr val="FFE600"/>
                </a:solidFill>
                <a:latin typeface="Aptos"/>
              </a:rPr>
              <a:t>Gated</a:t>
            </a:r>
          </a:p>
          <a:p>
            <a:pPr algn="ctr"/>
            <a:r>
              <a:rPr sz="750" b="0">
                <a:solidFill>
                  <a:srgbClr val="C4C4CD"/>
                </a:solidFill>
                <a:latin typeface="Aptos"/>
              </a:rPr>
              <a:t>no silent pick on disputed stock</a:t>
            </a:r>
          </a:p>
        </p:txBody>
      </p:sp>
      <p:sp>
        <p:nvSpPr>
          <p:cNvPr id="54" name="TextBox 53"/>
          <p:cNvSpPr txBox="1"/>
          <p:nvPr/>
        </p:nvSpPr>
        <p:spPr>
          <a:xfrm>
            <a:off x="9198864" y="3584448"/>
            <a:ext cx="2551176" cy="548640"/>
          </a:xfrm>
          <a:prstGeom prst="rect">
            <a:avLst/>
          </a:prstGeom>
          <a:noFill/>
        </p:spPr>
        <p:txBody>
          <a:bodyPr wrap="square" lIns="0" tIns="0">
            <a:spAutoFit/>
          </a:bodyPr>
          <a:lstStyle/>
          <a:p>
            <a:r>
              <a:rPr sz="850" b="0">
                <a:solidFill>
                  <a:srgbClr val="747480"/>
                </a:solidFill>
                <a:latin typeface="Aptos"/>
              </a:rPr>
              <a:t>V3-I5 takes the conservative source minimum; corrections stay auditable (V3-I11).</a:t>
            </a:r>
          </a:p>
        </p:txBody>
      </p:sp>
      <p:sp>
        <p:nvSpPr>
          <p:cNvPr id="55" name="TextBox 54"/>
          <p:cNvSpPr txBox="1"/>
          <p:nvPr/>
        </p:nvSpPr>
        <p:spPr>
          <a:xfrm>
            <a:off x="438912" y="4297679"/>
            <a:ext cx="2487168" cy="566928"/>
          </a:xfrm>
          <a:prstGeom prst="rect">
            <a:avLst/>
          </a:prstGeom>
          <a:noFill/>
        </p:spPr>
        <p:txBody>
          <a:bodyPr wrap="square" lIns="0" tIns="0">
            <a:spAutoFit/>
          </a:bodyPr>
          <a:lstStyle/>
          <a:p>
            <a:r>
              <a:rPr sz="1200" b="1">
                <a:solidFill>
                  <a:srgbClr val="1A1A24"/>
                </a:solidFill>
                <a:latin typeface="Aptos"/>
              </a:rPr>
              <a:t>False availability rate</a:t>
            </a:r>
          </a:p>
          <a:p>
            <a:r>
              <a:rPr sz="800" b="0">
                <a:solidFill>
                  <a:srgbClr val="747480"/>
                </a:solidFill>
                <a:latin typeface="Aptos"/>
              </a:rPr>
              <a:t>Robots shown usable but not certified</a:t>
            </a:r>
          </a:p>
        </p:txBody>
      </p:sp>
      <p:sp>
        <p:nvSpPr>
          <p:cNvPr id="56" name="Rounded Rectangle 55"/>
          <p:cNvSpPr/>
          <p:nvPr/>
        </p:nvSpPr>
        <p:spPr>
          <a:xfrm>
            <a:off x="2999232" y="424281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108960" y="4288536"/>
            <a:ext cx="1408176" cy="274320"/>
          </a:xfrm>
          <a:prstGeom prst="rect">
            <a:avLst/>
          </a:prstGeom>
          <a:noFill/>
        </p:spPr>
        <p:txBody>
          <a:bodyPr wrap="none" lIns="0" tIns="0">
            <a:spAutoFit/>
          </a:bodyPr>
          <a:lstStyle/>
          <a:p>
            <a:r>
              <a:rPr sz="1700" b="1">
                <a:solidFill>
                  <a:srgbClr val="747480"/>
                </a:solidFill>
                <a:latin typeface="Aptos"/>
              </a:rPr>
              <a:t>4.92%</a:t>
            </a:r>
          </a:p>
        </p:txBody>
      </p:sp>
      <p:sp>
        <p:nvSpPr>
          <p:cNvPr id="58" name="TextBox 57"/>
          <p:cNvSpPr txBox="1"/>
          <p:nvPr/>
        </p:nvSpPr>
        <p:spPr>
          <a:xfrm>
            <a:off x="3108960" y="4572000"/>
            <a:ext cx="1408176" cy="274320"/>
          </a:xfrm>
          <a:prstGeom prst="rect">
            <a:avLst/>
          </a:prstGeom>
          <a:noFill/>
        </p:spPr>
        <p:txBody>
          <a:bodyPr wrap="square" lIns="0" tIns="0">
            <a:spAutoFit/>
          </a:bodyPr>
          <a:lstStyle/>
          <a:p>
            <a:r>
              <a:rPr sz="800" b="0">
                <a:solidFill>
                  <a:srgbClr val="747480"/>
                </a:solidFill>
                <a:latin typeface="Aptos"/>
              </a:rPr>
              <a:t>of robots look usable</a:t>
            </a:r>
          </a:p>
        </p:txBody>
      </p:sp>
      <p:sp>
        <p:nvSpPr>
          <p:cNvPr id="59" name="Right Arrow 58"/>
          <p:cNvSpPr/>
          <p:nvPr/>
        </p:nvSpPr>
        <p:spPr>
          <a:xfrm>
            <a:off x="4718304" y="4480559"/>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5193792" y="4242816"/>
            <a:ext cx="2103120" cy="676656"/>
          </a:xfrm>
          <a:prstGeom prst="roundRect">
            <a:avLst/>
          </a:prstGeom>
          <a:solidFill>
            <a:srgbClr val="FFFFFF"/>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03520" y="4288536"/>
            <a:ext cx="1883663" cy="274320"/>
          </a:xfrm>
          <a:prstGeom prst="rect">
            <a:avLst/>
          </a:prstGeom>
          <a:noFill/>
        </p:spPr>
        <p:txBody>
          <a:bodyPr wrap="none" lIns="0" tIns="0">
            <a:spAutoFit/>
          </a:bodyPr>
          <a:lstStyle/>
          <a:p>
            <a:r>
              <a:rPr sz="1700" b="1">
                <a:solidFill>
                  <a:srgbClr val="1A1A24"/>
                </a:solidFill>
                <a:latin typeface="Aptos"/>
              </a:rPr>
              <a:t>0</a:t>
            </a:r>
          </a:p>
        </p:txBody>
      </p:sp>
      <p:sp>
        <p:nvSpPr>
          <p:cNvPr id="62" name="TextBox 61"/>
          <p:cNvSpPr txBox="1"/>
          <p:nvPr/>
        </p:nvSpPr>
        <p:spPr>
          <a:xfrm>
            <a:off x="5303520" y="4572000"/>
            <a:ext cx="1883663" cy="274320"/>
          </a:xfrm>
          <a:prstGeom prst="rect">
            <a:avLst/>
          </a:prstGeom>
          <a:noFill/>
        </p:spPr>
        <p:txBody>
          <a:bodyPr wrap="square" lIns="0" tIns="0">
            <a:spAutoFit/>
          </a:bodyPr>
          <a:lstStyle/>
          <a:p>
            <a:r>
              <a:rPr sz="800" b="0">
                <a:solidFill>
                  <a:srgbClr val="747480"/>
                </a:solidFill>
                <a:latin typeface="Aptos"/>
              </a:rPr>
              <a:t>blocked resources assigned</a:t>
            </a:r>
          </a:p>
        </p:txBody>
      </p:sp>
      <p:sp>
        <p:nvSpPr>
          <p:cNvPr id="63" name="Rounded Rectangle 62"/>
          <p:cNvSpPr/>
          <p:nvPr/>
        </p:nvSpPr>
        <p:spPr>
          <a:xfrm>
            <a:off x="7388352" y="4242816"/>
            <a:ext cx="1700784" cy="676656"/>
          </a:xfrm>
          <a:prstGeom prst="roundRect">
            <a:avLst/>
          </a:prstGeom>
          <a:solidFill>
            <a:srgbClr val="1A1A24"/>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461504" y="4288536"/>
            <a:ext cx="1554480" cy="585216"/>
          </a:xfrm>
          <a:prstGeom prst="rect">
            <a:avLst/>
          </a:prstGeom>
          <a:noFill/>
        </p:spPr>
        <p:txBody>
          <a:bodyPr wrap="square" lIns="0" tIns="0">
            <a:spAutoFit/>
          </a:bodyPr>
          <a:lstStyle/>
          <a:p>
            <a:pPr algn="ctr"/>
            <a:r>
              <a:rPr sz="1300" b="1">
                <a:solidFill>
                  <a:srgbClr val="FFE600"/>
                </a:solidFill>
                <a:latin typeface="Aptos"/>
              </a:rPr>
              <a:t>Blocked</a:t>
            </a:r>
          </a:p>
          <a:p>
            <a:pPr algn="ctr"/>
            <a:r>
              <a:rPr sz="750" b="0">
                <a:solidFill>
                  <a:srgbClr val="C4C4CD"/>
                </a:solidFill>
                <a:latin typeface="Aptos"/>
              </a:rPr>
              <a:t>readiness gate at claim time</a:t>
            </a:r>
          </a:p>
        </p:txBody>
      </p:sp>
      <p:sp>
        <p:nvSpPr>
          <p:cNvPr id="65" name="TextBox 64"/>
          <p:cNvSpPr txBox="1"/>
          <p:nvPr/>
        </p:nvSpPr>
        <p:spPr>
          <a:xfrm>
            <a:off x="9198864" y="4315968"/>
            <a:ext cx="2551176" cy="548640"/>
          </a:xfrm>
          <a:prstGeom prst="rect">
            <a:avLst/>
          </a:prstGeom>
          <a:noFill/>
        </p:spPr>
        <p:txBody>
          <a:bodyPr wrap="square" lIns="0" tIns="0">
            <a:spAutoFit/>
          </a:bodyPr>
          <a:lstStyle/>
          <a:p>
            <a:r>
              <a:rPr sz="850" b="0">
                <a:solidFill>
                  <a:srgbClr val="747480"/>
                </a:solidFill>
                <a:latin typeface="Aptos"/>
              </a:rPr>
              <a:t>V3-I8 prevents assignment without readiness evidence. Product tests reported.</a:t>
            </a:r>
          </a:p>
        </p:txBody>
      </p:sp>
      <p:sp>
        <p:nvSpPr>
          <p:cNvPr id="66" name="TextBox 65"/>
          <p:cNvSpPr txBox="1"/>
          <p:nvPr/>
        </p:nvSpPr>
        <p:spPr>
          <a:xfrm>
            <a:off x="438912" y="5029200"/>
            <a:ext cx="2487168" cy="566928"/>
          </a:xfrm>
          <a:prstGeom prst="rect">
            <a:avLst/>
          </a:prstGeom>
          <a:noFill/>
        </p:spPr>
        <p:txBody>
          <a:bodyPr wrap="square" lIns="0" tIns="0">
            <a:spAutoFit/>
          </a:bodyPr>
          <a:lstStyle/>
          <a:p>
            <a:r>
              <a:rPr sz="1200" b="1">
                <a:solidFill>
                  <a:srgbClr val="1A1A24"/>
                </a:solidFill>
                <a:latin typeface="Aptos"/>
              </a:rPr>
              <a:t>Human interventions</a:t>
            </a:r>
          </a:p>
          <a:p>
            <a:r>
              <a:rPr sz="800" b="0">
                <a:solidFill>
                  <a:srgbClr val="747480"/>
                </a:solidFill>
                <a:latin typeface="Aptos"/>
              </a:rPr>
              <a:t>Per 1,000 robot tasks</a:t>
            </a:r>
          </a:p>
        </p:txBody>
      </p:sp>
      <p:sp>
        <p:nvSpPr>
          <p:cNvPr id="67" name="Rounded Rectangle 66"/>
          <p:cNvSpPr/>
          <p:nvPr/>
        </p:nvSpPr>
        <p:spPr>
          <a:xfrm>
            <a:off x="2999232" y="4974336"/>
            <a:ext cx="1627632" cy="67665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08960" y="5020056"/>
            <a:ext cx="1408176" cy="274320"/>
          </a:xfrm>
          <a:prstGeom prst="rect">
            <a:avLst/>
          </a:prstGeom>
          <a:noFill/>
        </p:spPr>
        <p:txBody>
          <a:bodyPr wrap="none" lIns="0" tIns="0">
            <a:spAutoFit/>
          </a:bodyPr>
          <a:lstStyle/>
          <a:p>
            <a:r>
              <a:rPr sz="1700" b="1">
                <a:solidFill>
                  <a:srgbClr val="747480"/>
                </a:solidFill>
                <a:latin typeface="Aptos"/>
              </a:rPr>
              <a:t>363.15</a:t>
            </a:r>
          </a:p>
        </p:txBody>
      </p:sp>
      <p:sp>
        <p:nvSpPr>
          <p:cNvPr id="69" name="TextBox 68"/>
          <p:cNvSpPr txBox="1"/>
          <p:nvPr/>
        </p:nvSpPr>
        <p:spPr>
          <a:xfrm>
            <a:off x="3108960" y="5303520"/>
            <a:ext cx="1408176" cy="274320"/>
          </a:xfrm>
          <a:prstGeom prst="rect">
            <a:avLst/>
          </a:prstGeom>
          <a:noFill/>
        </p:spPr>
        <p:txBody>
          <a:bodyPr wrap="square" lIns="0" tIns="0">
            <a:spAutoFit/>
          </a:bodyPr>
          <a:lstStyle/>
          <a:p>
            <a:r>
              <a:rPr sz="800" b="0">
                <a:solidFill>
                  <a:srgbClr val="747480"/>
                </a:solidFill>
                <a:latin typeface="Aptos"/>
              </a:rPr>
              <a:t>per 1,000 tasks</a:t>
            </a:r>
          </a:p>
        </p:txBody>
      </p:sp>
      <p:sp>
        <p:nvSpPr>
          <p:cNvPr id="70" name="Right Arrow 69"/>
          <p:cNvSpPr/>
          <p:nvPr/>
        </p:nvSpPr>
        <p:spPr>
          <a:xfrm>
            <a:off x="4718304" y="5212080"/>
            <a:ext cx="384048" cy="201168"/>
          </a:xfrm>
          <a:prstGeom prst="rightArrow">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5193792" y="4974336"/>
            <a:ext cx="2103120" cy="676656"/>
          </a:xfrm>
          <a:prstGeom prst="roundRect">
            <a:avLst/>
          </a:prstGeom>
          <a:solidFill>
            <a:srgbClr val="FFFFFF"/>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303520" y="5020056"/>
            <a:ext cx="1883663" cy="274320"/>
          </a:xfrm>
          <a:prstGeom prst="rect">
            <a:avLst/>
          </a:prstGeom>
          <a:noFill/>
        </p:spPr>
        <p:txBody>
          <a:bodyPr wrap="none" lIns="0" tIns="0">
            <a:spAutoFit/>
          </a:bodyPr>
          <a:lstStyle/>
          <a:p>
            <a:r>
              <a:rPr sz="1700" b="1">
                <a:solidFill>
                  <a:srgbClr val="1A1A24"/>
                </a:solidFill>
                <a:latin typeface="Aptos"/>
              </a:rPr>
              <a:t>100%</a:t>
            </a:r>
          </a:p>
        </p:txBody>
      </p:sp>
      <p:sp>
        <p:nvSpPr>
          <p:cNvPr id="73" name="TextBox 72"/>
          <p:cNvSpPr txBox="1"/>
          <p:nvPr/>
        </p:nvSpPr>
        <p:spPr>
          <a:xfrm>
            <a:off x="5303520" y="5303520"/>
            <a:ext cx="1883663" cy="274320"/>
          </a:xfrm>
          <a:prstGeom prst="rect">
            <a:avLst/>
          </a:prstGeom>
          <a:noFill/>
        </p:spPr>
        <p:txBody>
          <a:bodyPr wrap="square" lIns="0" tIns="0">
            <a:spAutoFit/>
          </a:bodyPr>
          <a:lstStyle/>
          <a:p>
            <a:r>
              <a:rPr sz="800" b="0">
                <a:solidFill>
                  <a:srgbClr val="747480"/>
                </a:solidFill>
                <a:latin typeface="Aptos"/>
              </a:rPr>
              <a:t>carry a reason and evidence trail</a:t>
            </a:r>
          </a:p>
        </p:txBody>
      </p:sp>
      <p:sp>
        <p:nvSpPr>
          <p:cNvPr id="74" name="Rounded Rectangle 73"/>
          <p:cNvSpPr/>
          <p:nvPr/>
        </p:nvSpPr>
        <p:spPr>
          <a:xfrm>
            <a:off x="7388352" y="4974336"/>
            <a:ext cx="1700784" cy="676656"/>
          </a:xfrm>
          <a:prstGeom prst="roundRect">
            <a:avLst/>
          </a:prstGeom>
          <a:solidFill>
            <a:srgbClr val="1A1A24"/>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61504" y="5020056"/>
            <a:ext cx="1554480" cy="585216"/>
          </a:xfrm>
          <a:prstGeom prst="rect">
            <a:avLst/>
          </a:prstGeom>
          <a:noFill/>
        </p:spPr>
        <p:txBody>
          <a:bodyPr wrap="square" lIns="0" tIns="0">
            <a:spAutoFit/>
          </a:bodyPr>
          <a:lstStyle/>
          <a:p>
            <a:pPr algn="ctr"/>
            <a:r>
              <a:rPr sz="1300" b="1">
                <a:solidFill>
                  <a:srgbClr val="FFB300"/>
                </a:solidFill>
                <a:latin typeface="Aptos"/>
              </a:rPr>
              <a:t>Auditable</a:t>
            </a:r>
          </a:p>
          <a:p>
            <a:pPr algn="ctr"/>
            <a:r>
              <a:rPr sz="750" b="0">
                <a:solidFill>
                  <a:srgbClr val="C4C4CD"/>
                </a:solidFill>
                <a:latin typeface="Aptos"/>
              </a:rPr>
              <a:t>volume unchanged today</a:t>
            </a:r>
          </a:p>
        </p:txBody>
      </p:sp>
      <p:sp>
        <p:nvSpPr>
          <p:cNvPr id="76" name="TextBox 75"/>
          <p:cNvSpPr txBox="1"/>
          <p:nvPr/>
        </p:nvSpPr>
        <p:spPr>
          <a:xfrm>
            <a:off x="9198864" y="5047488"/>
            <a:ext cx="2551176" cy="548640"/>
          </a:xfrm>
          <a:prstGeom prst="rect">
            <a:avLst/>
          </a:prstGeom>
          <a:noFill/>
        </p:spPr>
        <p:txBody>
          <a:bodyPr wrap="square" lIns="0" tIns="0">
            <a:spAutoFit/>
          </a:bodyPr>
          <a:lstStyle/>
          <a:p>
            <a:r>
              <a:rPr sz="850" b="0">
                <a:solidFill>
                  <a:srgbClr val="747480"/>
                </a:solidFill>
                <a:latin typeface="Aptos"/>
              </a:rPr>
              <a:t>V3 structures the intervention; it does not yet claim to reduce how many occur.</a:t>
            </a:r>
          </a:p>
        </p:txBody>
      </p:sp>
      <p:sp>
        <p:nvSpPr>
          <p:cNvPr id="77" name="Rounded Rectangle 76"/>
          <p:cNvSpPr/>
          <p:nvPr/>
        </p:nvSpPr>
        <p:spPr>
          <a:xfrm>
            <a:off x="438912" y="5705856"/>
            <a:ext cx="11311128" cy="384048"/>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38912" y="5705856"/>
            <a:ext cx="64008" cy="38404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1792" y="5824728"/>
            <a:ext cx="10963655" cy="164592"/>
          </a:xfrm>
          <a:prstGeom prst="rect">
            <a:avLst/>
          </a:prstGeom>
          <a:noFill/>
        </p:spPr>
        <p:txBody>
          <a:bodyPr wrap="square" lIns="0" rIns="0">
            <a:spAutoFit/>
          </a:bodyPr>
          <a:lstStyle/>
          <a:p>
            <a:r>
              <a:rPr sz="1300" b="1">
                <a:solidFill>
                  <a:srgbClr val="1A1A24"/>
                </a:solidFill>
                <a:latin typeface="Aptos"/>
              </a:rPr>
              <a:t>What the client gets</a:t>
            </a:r>
          </a:p>
          <a:p>
            <a:pPr>
              <a:spcBef>
                <a:spcPts val="600"/>
              </a:spcBef>
            </a:pPr>
            <a:r>
              <a:rPr sz="1000" b="0">
                <a:solidFill>
                  <a:srgbClr val="1A1A24"/>
                </a:solidFill>
                <a:latin typeface="Aptos"/>
              </a:rPr>
              <a:t>Two indicators improve on the evidence supplied. The other three stop being silent failures and become decisions the business can see, justify and audit.</a:t>
            </a:r>
          </a:p>
        </p:txBody>
      </p:sp>
      <p:sp>
        <p:nvSpPr>
          <p:cNvPr id="80" name="TextBox 79"/>
          <p:cNvSpPr txBox="1"/>
          <p:nvPr/>
        </p:nvSpPr>
        <p:spPr>
          <a:xfrm>
            <a:off x="438912" y="6163056"/>
            <a:ext cx="11292840" cy="329184"/>
          </a:xfrm>
          <a:prstGeom prst="rect">
            <a:avLst/>
          </a:prstGeom>
          <a:noFill/>
        </p:spPr>
        <p:txBody>
          <a:bodyPr wrap="square">
            <a:spAutoFit/>
          </a:bodyPr>
          <a:lstStyle/>
          <a:p>
            <a:r>
              <a:rPr sz="850" b="0">
                <a:solidFill>
                  <a:srgbClr val="747480"/>
                </a:solidFill>
                <a:latin typeface="Aptos"/>
              </a:rPr>
              <a:t>Both measured figures count only shipments with a recorded actual departure - 1,567 of 3,500. The V3 figures come from the supplied synthetic 7,000-order replay archive, a larger order population than the current baseline, so they size the opportunity rather than prove a production gain.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F6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747480"/>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1A1A24"/>
                </a:solidFill>
                <a:latin typeface="Aptos"/>
              </a:rPr>
              <a:t>15</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747480"/>
                </a:solidFill>
                <a:latin typeface="Aptos"/>
              </a:rPr>
              <a:t>THE TWO MEASURED KPIS - SAME FORMULA, SAME EXCLUSIONS, BOTH RUNS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1A1A24"/>
                </a:solidFill>
                <a:latin typeface="Aptos"/>
              </a:rPr>
              <a:t>Identical calculations applied to the current and the V3 replay dataset</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747480"/>
                </a:solidFill>
                <a:latin typeface="Aptos"/>
              </a:rPr>
              <a:t>A before-and-after only holds if both sides are computed the same way. These two are.</a:t>
            </a:r>
          </a:p>
        </p:txBody>
      </p:sp>
      <p:sp>
        <p:nvSpPr>
          <p:cNvPr id="10" name="Rounded Rectangle 9"/>
          <p:cNvSpPr/>
          <p:nvPr/>
        </p:nvSpPr>
        <p:spPr>
          <a:xfrm>
            <a:off x="438912" y="1335024"/>
            <a:ext cx="5532120" cy="30175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912" y="1335024"/>
            <a:ext cx="64008" cy="30175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426464"/>
            <a:ext cx="5129783" cy="237744"/>
          </a:xfrm>
          <a:prstGeom prst="rect">
            <a:avLst/>
          </a:prstGeom>
          <a:noFill/>
        </p:spPr>
        <p:txBody>
          <a:bodyPr wrap="none" lIns="0">
            <a:spAutoFit/>
          </a:bodyPr>
          <a:lstStyle/>
          <a:p>
            <a:r>
              <a:rPr sz="1300" b="1">
                <a:solidFill>
                  <a:srgbClr val="1A1A24"/>
                </a:solidFill>
                <a:latin typeface="Aptos"/>
              </a:rPr>
              <a:t>Order cycle time (hours)</a:t>
            </a:r>
          </a:p>
        </p:txBody>
      </p:sp>
      <p:sp>
        <p:nvSpPr>
          <p:cNvPr id="13" name="TextBox 12"/>
          <p:cNvSpPr txBox="1"/>
          <p:nvPr/>
        </p:nvSpPr>
        <p:spPr>
          <a:xfrm>
            <a:off x="640080" y="1673352"/>
            <a:ext cx="5129783" cy="201168"/>
          </a:xfrm>
          <a:prstGeom prst="rect">
            <a:avLst/>
          </a:prstGeom>
          <a:noFill/>
        </p:spPr>
        <p:txBody>
          <a:bodyPr wrap="none" lIns="0">
            <a:spAutoFit/>
          </a:bodyPr>
          <a:lstStyle/>
          <a:p>
            <a:r>
              <a:rPr sz="850" b="0">
                <a:solidFill>
                  <a:srgbClr val="747480"/>
                </a:solidFill>
                <a:latin typeface="Aptos"/>
              </a:rPr>
              <a:t>Lower is better</a:t>
            </a:r>
          </a:p>
        </p:txBody>
      </p:sp>
      <p:graphicFrame>
        <p:nvGraphicFramePr>
          <p:cNvPr id="14" name="Chart 13"/>
          <p:cNvGraphicFramePr>
            <a:graphicFrameLocks noGrp="1"/>
          </p:cNvGraphicFramePr>
          <p:nvPr/>
        </p:nvGraphicFramePr>
        <p:xfrm>
          <a:off x="566928" y="1901952"/>
          <a:ext cx="5276088" cy="2304287"/>
        </p:xfrm>
        <a:graphic>
          <a:graphicData uri="http://schemas.openxmlformats.org/drawingml/2006/chart">
            <c:chart xmlns:c="http://schemas.openxmlformats.org/drawingml/2006/chart" r:id="rId2"/>
          </a:graphicData>
        </a:graphic>
      </p:graphicFrame>
      <p:sp>
        <p:nvSpPr>
          <p:cNvPr id="15" name="Rounded Rectangle 14"/>
          <p:cNvSpPr/>
          <p:nvPr/>
        </p:nvSpPr>
        <p:spPr>
          <a:xfrm>
            <a:off x="6217920" y="1335024"/>
            <a:ext cx="5532120" cy="3017520"/>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335024"/>
            <a:ext cx="64008" cy="30175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426464"/>
            <a:ext cx="5129783" cy="237744"/>
          </a:xfrm>
          <a:prstGeom prst="rect">
            <a:avLst/>
          </a:prstGeom>
          <a:noFill/>
        </p:spPr>
        <p:txBody>
          <a:bodyPr wrap="none" lIns="0">
            <a:spAutoFit/>
          </a:bodyPr>
          <a:lstStyle/>
          <a:p>
            <a:r>
              <a:rPr sz="1300" b="1">
                <a:solidFill>
                  <a:srgbClr val="1A1A24"/>
                </a:solidFill>
                <a:latin typeface="Aptos"/>
              </a:rPr>
              <a:t>On-time carrier departure (%)</a:t>
            </a:r>
          </a:p>
        </p:txBody>
      </p:sp>
      <p:sp>
        <p:nvSpPr>
          <p:cNvPr id="18" name="TextBox 17"/>
          <p:cNvSpPr txBox="1"/>
          <p:nvPr/>
        </p:nvSpPr>
        <p:spPr>
          <a:xfrm>
            <a:off x="6419088" y="1673352"/>
            <a:ext cx="5129783" cy="201168"/>
          </a:xfrm>
          <a:prstGeom prst="rect">
            <a:avLst/>
          </a:prstGeom>
          <a:noFill/>
        </p:spPr>
        <p:txBody>
          <a:bodyPr wrap="none" lIns="0">
            <a:spAutoFit/>
          </a:bodyPr>
          <a:lstStyle/>
          <a:p>
            <a:r>
              <a:rPr sz="850" b="0">
                <a:solidFill>
                  <a:srgbClr val="747480"/>
                </a:solidFill>
                <a:latin typeface="Aptos"/>
              </a:rPr>
              <a:t>Higher is better</a:t>
            </a:r>
          </a:p>
        </p:txBody>
      </p:sp>
      <p:graphicFrame>
        <p:nvGraphicFramePr>
          <p:cNvPr id="19" name="Chart 18"/>
          <p:cNvGraphicFramePr>
            <a:graphicFrameLocks noGrp="1"/>
          </p:cNvGraphicFramePr>
          <p:nvPr/>
        </p:nvGraphicFramePr>
        <p:xfrm>
          <a:off x="6345936" y="1901952"/>
          <a:ext cx="5276088" cy="2304287"/>
        </p:xfrm>
        <a:graphic>
          <a:graphicData uri="http://schemas.openxmlformats.org/drawingml/2006/chart">
            <c:chart xmlns:c="http://schemas.openxmlformats.org/drawingml/2006/chart" r:id="rId3"/>
          </a:graphicData>
        </a:graphic>
      </p:graphicFrame>
      <p:sp>
        <p:nvSpPr>
          <p:cNvPr id="20" name="Rounded Rectangle 19"/>
          <p:cNvSpPr/>
          <p:nvPr/>
        </p:nvSpPr>
        <p:spPr>
          <a:xfrm>
            <a:off x="438912" y="4480560"/>
            <a:ext cx="5532120" cy="149961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8912" y="4480560"/>
            <a:ext cx="64008" cy="149961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599432"/>
            <a:ext cx="5184648" cy="1280160"/>
          </a:xfrm>
          <a:prstGeom prst="rect">
            <a:avLst/>
          </a:prstGeom>
          <a:noFill/>
        </p:spPr>
        <p:txBody>
          <a:bodyPr wrap="square" lIns="0" rIns="0">
            <a:spAutoFit/>
          </a:bodyPr>
          <a:lstStyle/>
          <a:p>
            <a:r>
              <a:rPr sz="1300" b="1">
                <a:solidFill>
                  <a:srgbClr val="1A1A24"/>
                </a:solidFill>
                <a:latin typeface="Aptos"/>
              </a:rPr>
              <a:t>How order cycle time is calculated</a:t>
            </a:r>
          </a:p>
          <a:p>
            <a:pPr>
              <a:spcBef>
                <a:spcPts val="600"/>
              </a:spcBef>
            </a:pPr>
            <a:r>
              <a:rPr sz="950" b="0">
                <a:solidFill>
                  <a:srgbClr val="1A1A24"/>
                </a:solidFill>
                <a:latin typeface="Aptos"/>
              </a:rPr>
              <a:t>Mean hours from order created_at to shipment actual_departure, for orders matched to a shipment.</a:t>
            </a:r>
          </a:p>
          <a:p>
            <a:pPr>
              <a:spcBef>
                <a:spcPts val="600"/>
              </a:spcBef>
            </a:pPr>
            <a:r>
              <a:rPr sz="950" b="0">
                <a:solidFill>
                  <a:srgbClr val="1A1A24"/>
                </a:solidFill>
                <a:latin typeface="Aptos"/>
              </a:rPr>
              <a:t>Same formula both runs. Excludes shipments with no actual departure.</a:t>
            </a:r>
          </a:p>
          <a:p>
            <a:pPr>
              <a:spcBef>
                <a:spcPts val="600"/>
              </a:spcBef>
            </a:pPr>
            <a:r>
              <a:rPr sz="950" b="0">
                <a:solidFill>
                  <a:srgbClr val="1A1A24"/>
                </a:solidFill>
                <a:latin typeface="Aptos"/>
              </a:rPr>
              <a:t>Current: 1,567 matched pairs, mean 11.30 h. V3 dataset: mean 8.00 h.</a:t>
            </a:r>
          </a:p>
        </p:txBody>
      </p:sp>
      <p:sp>
        <p:nvSpPr>
          <p:cNvPr id="23" name="Rounded Rectangle 22"/>
          <p:cNvSpPr/>
          <p:nvPr/>
        </p:nvSpPr>
        <p:spPr>
          <a:xfrm>
            <a:off x="6217920" y="4480560"/>
            <a:ext cx="5532120" cy="1499616"/>
          </a:xfrm>
          <a:prstGeom prst="roundRect">
            <a:avLst/>
          </a:prstGeom>
          <a:solidFill>
            <a:srgbClr val="F6F6FA"/>
          </a:solidFill>
          <a:ln>
            <a:solidFill>
              <a:srgbClr val="DE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17920" y="4480560"/>
            <a:ext cx="64008" cy="1499616"/>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599432"/>
            <a:ext cx="5184648" cy="1280160"/>
          </a:xfrm>
          <a:prstGeom prst="rect">
            <a:avLst/>
          </a:prstGeom>
          <a:noFill/>
        </p:spPr>
        <p:txBody>
          <a:bodyPr wrap="square" lIns="0" rIns="0">
            <a:spAutoFit/>
          </a:bodyPr>
          <a:lstStyle/>
          <a:p>
            <a:r>
              <a:rPr sz="1300" b="1">
                <a:solidFill>
                  <a:srgbClr val="1A1A24"/>
                </a:solidFill>
                <a:latin typeface="Aptos"/>
              </a:rPr>
              <a:t>How on-time departure is calculated</a:t>
            </a:r>
          </a:p>
          <a:p>
            <a:pPr>
              <a:spcBef>
                <a:spcPts val="600"/>
              </a:spcBef>
            </a:pPr>
            <a:r>
              <a:rPr sz="950" b="0">
                <a:solidFill>
                  <a:srgbClr val="1A1A24"/>
                </a:solidFill>
                <a:latin typeface="Aptos"/>
              </a:rPr>
              <a:t>Share of departures where actual_departure is at or before planned_departure.</a:t>
            </a:r>
          </a:p>
          <a:p>
            <a:pPr>
              <a:spcBef>
                <a:spcPts val="600"/>
              </a:spcBef>
            </a:pPr>
            <a:r>
              <a:rPr sz="950" b="0">
                <a:solidFill>
                  <a:srgbClr val="1A1A24"/>
                </a:solidFill>
                <a:latin typeface="Aptos"/>
              </a:rPr>
              <a:t>Same formula both runs. Denominator is shipments that actually departed.</a:t>
            </a:r>
          </a:p>
          <a:p>
            <a:pPr>
              <a:spcBef>
                <a:spcPts val="600"/>
              </a:spcBef>
            </a:pPr>
            <a:r>
              <a:rPr sz="950" b="0">
                <a:solidFill>
                  <a:srgbClr val="1A1A24"/>
                </a:solidFill>
                <a:latin typeface="Aptos"/>
              </a:rPr>
              <a:t>Current: 344 of 1,567 = 21.95%. V3 dataset: 62.20%.</a:t>
            </a:r>
          </a:p>
        </p:txBody>
      </p:sp>
      <p:sp>
        <p:nvSpPr>
          <p:cNvPr id="26" name="TextBox 25"/>
          <p:cNvSpPr txBox="1"/>
          <p:nvPr/>
        </p:nvSpPr>
        <p:spPr>
          <a:xfrm>
            <a:off x="438912" y="6163056"/>
            <a:ext cx="11292840" cy="329184"/>
          </a:xfrm>
          <a:prstGeom prst="rect">
            <a:avLst/>
          </a:prstGeom>
          <a:noFill/>
        </p:spPr>
        <p:txBody>
          <a:bodyPr wrap="square">
            <a:spAutoFit/>
          </a:bodyPr>
          <a:lstStyle/>
          <a:p>
            <a:r>
              <a:rPr sz="850" b="0">
                <a:solidFill>
                  <a:srgbClr val="747480"/>
                </a:solidFill>
                <a:latin typeface="Aptos"/>
              </a:rPr>
              <a:t>Difference in population: the current state is measured on the original 3,500-shipment extract; the V3 figures come from the supplied synthetic 7,000-order replay archive. Same formula, different order population - so this sizes the opportunity rather than proving a controlled before-and-after on identical orders.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KPI Improvement</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16</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EVIDENCE POSITION BEHIND THE FIVE KPIS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What is measured, what is controlled, and what must be fixed at source</a:t>
            </a:r>
          </a:p>
        </p:txBody>
      </p:sp>
      <p:sp>
        <p:nvSpPr>
          <p:cNvPr id="9" name="TextBox 8"/>
          <p:cNvSpPr txBox="1"/>
          <p:nvPr/>
        </p:nvSpPr>
        <p:spPr>
          <a:xfrm>
            <a:off x="438912" y="969264"/>
            <a:ext cx="11109960" cy="329184"/>
          </a:xfrm>
          <a:prstGeom prst="rect">
            <a:avLst/>
          </a:prstGeom>
          <a:noFill/>
        </p:spPr>
        <p:txBody>
          <a:bodyPr wrap="square">
            <a:spAutoFit/>
          </a:bodyPr>
          <a:lstStyle/>
          <a:p>
            <a:r>
              <a:rPr sz="1200" b="0">
                <a:solidFill>
                  <a:srgbClr val="C4C4CD"/>
                </a:solidFill>
                <a:latin typeface="Aptos"/>
              </a:rPr>
              <a:t>Internal reference. Keep this slide for a technical audience or a challenge session.</a:t>
            </a:r>
          </a:p>
        </p:txBody>
      </p:sp>
      <p:sp>
        <p:nvSpPr>
          <p:cNvPr id="10" name="Rounded Rectangle 9"/>
          <p:cNvSpPr/>
          <p:nvPr/>
        </p:nvSpPr>
        <p:spPr>
          <a:xfrm>
            <a:off x="438912" y="1408176"/>
            <a:ext cx="2743200" cy="950976"/>
          </a:xfrm>
          <a:prstGeom prst="roundRect">
            <a:avLst/>
          </a:prstGeom>
          <a:solidFill>
            <a:srgbClr val="2E2E38"/>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1499616"/>
            <a:ext cx="2560320" cy="731520"/>
          </a:xfrm>
          <a:prstGeom prst="rect">
            <a:avLst/>
          </a:prstGeom>
          <a:noFill/>
        </p:spPr>
        <p:txBody>
          <a:bodyPr wrap="none" anchor="ctr">
            <a:spAutoFit/>
          </a:bodyPr>
          <a:lstStyle/>
          <a:p>
            <a:pPr algn="ctr"/>
            <a:r>
              <a:rPr sz="2100" b="1">
                <a:solidFill>
                  <a:srgbClr val="4CAF50"/>
                </a:solidFill>
                <a:latin typeface="Aptos"/>
              </a:rPr>
              <a:t>2 of 5</a:t>
            </a:r>
          </a:p>
          <a:p>
            <a:pPr algn="ctr"/>
            <a:r>
              <a:rPr sz="900" b="0">
                <a:solidFill>
                  <a:srgbClr val="C4C4CD"/>
                </a:solidFill>
                <a:latin typeface="Aptos"/>
              </a:rPr>
              <a:t>measured improvement on data</a:t>
            </a:r>
          </a:p>
        </p:txBody>
      </p:sp>
      <p:sp>
        <p:nvSpPr>
          <p:cNvPr id="12" name="Rounded Rectangle 11"/>
          <p:cNvSpPr/>
          <p:nvPr/>
        </p:nvSpPr>
        <p:spPr>
          <a:xfrm>
            <a:off x="3319272" y="1408176"/>
            <a:ext cx="2743200" cy="950976"/>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10712" y="1499616"/>
            <a:ext cx="2560320" cy="731520"/>
          </a:xfrm>
          <a:prstGeom prst="rect">
            <a:avLst/>
          </a:prstGeom>
          <a:noFill/>
        </p:spPr>
        <p:txBody>
          <a:bodyPr wrap="none" anchor="ctr">
            <a:spAutoFit/>
          </a:bodyPr>
          <a:lstStyle/>
          <a:p>
            <a:pPr algn="ctr"/>
            <a:r>
              <a:rPr sz="2100" b="1">
                <a:solidFill>
                  <a:srgbClr val="FFE600"/>
                </a:solidFill>
                <a:latin typeface="Aptos"/>
              </a:rPr>
              <a:t>3 of 5</a:t>
            </a:r>
          </a:p>
          <a:p>
            <a:pPr algn="ctr"/>
            <a:r>
              <a:rPr sz="900" b="0">
                <a:solidFill>
                  <a:srgbClr val="C4C4CD"/>
                </a:solidFill>
                <a:latin typeface="Aptos"/>
              </a:rPr>
              <a:t>controlled, not yet re-measured</a:t>
            </a:r>
          </a:p>
        </p:txBody>
      </p:sp>
      <p:sp>
        <p:nvSpPr>
          <p:cNvPr id="14" name="Rounded Rectangle 13"/>
          <p:cNvSpPr/>
          <p:nvPr/>
        </p:nvSpPr>
        <p:spPr>
          <a:xfrm>
            <a:off x="6199632" y="1408176"/>
            <a:ext cx="2743200" cy="950976"/>
          </a:xfrm>
          <a:prstGeom prst="roundRect">
            <a:avLst/>
          </a:prstGeom>
          <a:solidFill>
            <a:srgbClr val="2E2E38"/>
          </a:solidFill>
          <a:ln>
            <a:solidFill>
              <a:srgbClr val="D32F2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91072" y="1499616"/>
            <a:ext cx="2560320" cy="731520"/>
          </a:xfrm>
          <a:prstGeom prst="rect">
            <a:avLst/>
          </a:prstGeom>
          <a:noFill/>
        </p:spPr>
        <p:txBody>
          <a:bodyPr wrap="none" anchor="ctr">
            <a:spAutoFit/>
          </a:bodyPr>
          <a:lstStyle/>
          <a:p>
            <a:pPr algn="ctr"/>
            <a:r>
              <a:rPr sz="2100" b="1">
                <a:solidFill>
                  <a:srgbClr val="D32F2F"/>
                </a:solidFill>
                <a:latin typeface="Aptos"/>
              </a:rPr>
              <a:t>5</a:t>
            </a:r>
          </a:p>
          <a:p>
            <a:pPr algn="ctr"/>
            <a:r>
              <a:rPr sz="900" b="0">
                <a:solidFill>
                  <a:srgbClr val="C4C4CD"/>
                </a:solidFill>
                <a:latin typeface="Aptos"/>
              </a:rPr>
              <a:t>KPIs with a unit defect at source</a:t>
            </a:r>
          </a:p>
        </p:txBody>
      </p:sp>
      <p:sp>
        <p:nvSpPr>
          <p:cNvPr id="16" name="Rounded Rectangle 15"/>
          <p:cNvSpPr/>
          <p:nvPr/>
        </p:nvSpPr>
        <p:spPr>
          <a:xfrm>
            <a:off x="9079992" y="1408176"/>
            <a:ext cx="2670048" cy="950976"/>
          </a:xfrm>
          <a:prstGeom prst="roundRect">
            <a:avLst/>
          </a:prstGeom>
          <a:solidFill>
            <a:srgbClr val="2E2E38"/>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1432" y="1499616"/>
            <a:ext cx="2487168" cy="731520"/>
          </a:xfrm>
          <a:prstGeom prst="rect">
            <a:avLst/>
          </a:prstGeom>
          <a:noFill/>
        </p:spPr>
        <p:txBody>
          <a:bodyPr wrap="none" anchor="ctr">
            <a:spAutoFit/>
          </a:bodyPr>
          <a:lstStyle/>
          <a:p>
            <a:pPr algn="ctr"/>
            <a:r>
              <a:rPr sz="2100" b="1">
                <a:solidFill>
                  <a:srgbClr val="FFB300"/>
                </a:solidFill>
                <a:latin typeface="Aptos"/>
              </a:rPr>
              <a:t>60%</a:t>
            </a:r>
          </a:p>
          <a:p>
            <a:pPr algn="ctr"/>
            <a:r>
              <a:rPr sz="900" b="0">
                <a:solidFill>
                  <a:srgbClr val="C4C4CD"/>
                </a:solidFill>
                <a:latin typeface="Aptos"/>
              </a:rPr>
              <a:t>of shipments outside both averages</a:t>
            </a:r>
          </a:p>
        </p:txBody>
      </p:sp>
      <p:graphicFrame>
        <p:nvGraphicFramePr>
          <p:cNvPr id="18" name="Table 17"/>
          <p:cNvGraphicFramePr>
            <a:graphicFrameLocks noGrp="1"/>
          </p:cNvGraphicFramePr>
          <p:nvPr/>
        </p:nvGraphicFramePr>
        <p:xfrm>
          <a:off x="438912" y="2615184"/>
          <a:ext cx="11311128" cy="2304288"/>
        </p:xfrm>
        <a:graphic>
          <a:graphicData uri="http://schemas.openxmlformats.org/drawingml/2006/table">
            <a:tbl>
              <a:tblPr firstRow="1" bandRow="1">
                <a:tableStyleId>{5C22544A-7EE6-4342-B048-85BDC9FD1C3A}</a:tableStyleId>
              </a:tblPr>
              <a:tblGrid>
                <a:gridCol w="2926080"/>
                <a:gridCol w="1463040"/>
                <a:gridCol w="1554480"/>
                <a:gridCol w="3401568"/>
                <a:gridCol w="1965960"/>
              </a:tblGrid>
              <a:tr h="384048">
                <a:tc>
                  <a:txBody>
                    <a:bodyPr/>
                    <a:lstStyle/>
                    <a:p>
                      <a:r>
                        <a:rPr sz="1100" b="1">
                          <a:solidFill>
                            <a:srgbClr val="FFFFFF"/>
                          </a:solidFill>
                          <a:latin typeface="Aptos"/>
                        </a:rPr>
                        <a:t>KPI</a:t>
                      </a:r>
                    </a:p>
                  </a:txBody>
                  <a:tcPr marL="82296" marR="82296" marT="36576" marB="27432">
                    <a:solidFill>
                      <a:srgbClr val="1A1A24"/>
                    </a:solidFill>
                  </a:tcPr>
                </a:tc>
                <a:tc>
                  <a:txBody>
                    <a:bodyPr/>
                    <a:lstStyle/>
                    <a:p>
                      <a:r>
                        <a:rPr sz="1100" b="1">
                          <a:solidFill>
                            <a:srgbClr val="FFFFFF"/>
                          </a:solidFill>
                          <a:latin typeface="Aptos"/>
                        </a:rPr>
                        <a:t>Current</a:t>
                      </a:r>
                    </a:p>
                  </a:txBody>
                  <a:tcPr marL="82296" marR="82296" marT="36576" marB="27432">
                    <a:solidFill>
                      <a:srgbClr val="1A1A24"/>
                    </a:solidFill>
                  </a:tcPr>
                </a:tc>
                <a:tc>
                  <a:txBody>
                    <a:bodyPr/>
                    <a:lstStyle/>
                    <a:p>
                      <a:r>
                        <a:rPr sz="1100" b="1">
                          <a:solidFill>
                            <a:srgbClr val="FFFFFF"/>
                          </a:solidFill>
                          <a:latin typeface="Aptos"/>
                        </a:rPr>
                        <a:t>Reported V3</a:t>
                      </a:r>
                    </a:p>
                  </a:txBody>
                  <a:tcPr marL="82296" marR="82296" marT="36576" marB="27432">
                    <a:solidFill>
                      <a:srgbClr val="1A1A24"/>
                    </a:solidFill>
                  </a:tcPr>
                </a:tc>
                <a:tc>
                  <a:txBody>
                    <a:bodyPr/>
                    <a:lstStyle/>
                    <a:p>
                      <a:r>
                        <a:rPr sz="1100" b="1">
                          <a:solidFill>
                            <a:srgbClr val="FFFFFF"/>
                          </a:solidFill>
                          <a:latin typeface="Aptos"/>
                        </a:rPr>
                        <a:t>Source file changed?</a:t>
                      </a:r>
                    </a:p>
                  </a:txBody>
                  <a:tcPr marL="82296" marR="82296" marT="36576" marB="27432">
                    <a:solidFill>
                      <a:srgbClr val="1A1A24"/>
                    </a:solidFill>
                  </a:tcPr>
                </a:tc>
                <a:tc>
                  <a:txBody>
                    <a:bodyPr/>
                    <a:lstStyle/>
                    <a:p>
                      <a:r>
                        <a:rPr sz="1100" b="1">
                          <a:solidFill>
                            <a:srgbClr val="FFFFFF"/>
                          </a:solidFill>
                          <a:latin typeface="Aptos"/>
                        </a:rPr>
                        <a:t>Position</a:t>
                      </a:r>
                    </a:p>
                  </a:txBody>
                  <a:tcPr marL="82296" marR="82296" marT="36576" marB="27432">
                    <a:solidFill>
                      <a:srgbClr val="1A1A24"/>
                    </a:solidFill>
                  </a:tcPr>
                </a:tc>
              </a:tr>
              <a:tr h="384048">
                <a:tc>
                  <a:txBody>
                    <a:bodyPr/>
                    <a:lstStyle/>
                    <a:p>
                      <a:r>
                        <a:rPr sz="1000" b="0">
                          <a:solidFill>
                            <a:srgbClr val="1A1A24"/>
                          </a:solidFill>
                          <a:latin typeface="Aptos"/>
                        </a:rPr>
                        <a:t>Order cycle time</a:t>
                      </a:r>
                    </a:p>
                  </a:txBody>
                  <a:tcPr marL="82296" marR="82296" marT="36576" marB="27432">
                    <a:solidFill>
                      <a:srgbClr val="FFFFFF"/>
                    </a:solidFill>
                  </a:tcPr>
                </a:tc>
                <a:tc>
                  <a:txBody>
                    <a:bodyPr/>
                    <a:lstStyle/>
                    <a:p>
                      <a:r>
                        <a:rPr sz="1000" b="0">
                          <a:solidFill>
                            <a:srgbClr val="1A1A24"/>
                          </a:solidFill>
                          <a:latin typeface="Aptos"/>
                        </a:rPr>
                        <a:t>11.30 h</a:t>
                      </a:r>
                    </a:p>
                  </a:txBody>
                  <a:tcPr marL="82296" marR="82296" marT="36576" marB="27432">
                    <a:solidFill>
                      <a:srgbClr val="FFFFFF"/>
                    </a:solidFill>
                  </a:tcPr>
                </a:tc>
                <a:tc>
                  <a:txBody>
                    <a:bodyPr/>
                    <a:lstStyle/>
                    <a:p>
                      <a:r>
                        <a:rPr sz="1000" b="0">
                          <a:solidFill>
                            <a:srgbClr val="1A1A24"/>
                          </a:solidFill>
                          <a:latin typeface="Aptos"/>
                        </a:rPr>
                        <a:t>8.00 h</a:t>
                      </a:r>
                    </a:p>
                  </a:txBody>
                  <a:tcPr marL="82296" marR="82296" marT="36576" marB="27432">
                    <a:solidFill>
                      <a:srgbClr val="FFFFFF"/>
                    </a:solidFill>
                  </a:tcPr>
                </a:tc>
                <a:tc>
                  <a:txBody>
                    <a:bodyPr/>
                    <a:lstStyle/>
                    <a:p>
                      <a:r>
                        <a:rPr sz="1000" b="0">
                          <a:solidFill>
                            <a:srgbClr val="1A1A24"/>
                          </a:solidFill>
                          <a:latin typeface="Aptos"/>
                        </a:rPr>
                        <a:t>Yes - new order file</a:t>
                      </a:r>
                    </a:p>
                  </a:txBody>
                  <a:tcPr marL="82296" marR="82296" marT="36576" marB="27432">
                    <a:solidFill>
                      <a:srgbClr val="FFFFFF"/>
                    </a:solidFill>
                  </a:tcPr>
                </a:tc>
                <a:tc>
                  <a:txBody>
                    <a:bodyPr/>
                    <a:lstStyle/>
                    <a:p>
                      <a:r>
                        <a:rPr sz="1000" b="1">
                          <a:solidFill>
                            <a:srgbClr val="4CAF50"/>
                          </a:solidFill>
                          <a:latin typeface="Aptos"/>
                        </a:rPr>
                        <a:t>Measured</a:t>
                      </a:r>
                    </a:p>
                  </a:txBody>
                  <a:tcPr marL="82296" marR="82296" marT="36576" marB="27432">
                    <a:solidFill>
                      <a:srgbClr val="FFFFFF"/>
                    </a:solidFill>
                  </a:tcPr>
                </a:tc>
              </a:tr>
              <a:tr h="384048">
                <a:tc>
                  <a:txBody>
                    <a:bodyPr/>
                    <a:lstStyle/>
                    <a:p>
                      <a:r>
                        <a:rPr sz="1000" b="0">
                          <a:solidFill>
                            <a:srgbClr val="1A1A24"/>
                          </a:solidFill>
                          <a:latin typeface="Aptos"/>
                        </a:rPr>
                        <a:t>On-time carrier departure</a:t>
                      </a:r>
                    </a:p>
                  </a:txBody>
                  <a:tcPr marL="82296" marR="82296" marT="36576" marB="27432">
                    <a:solidFill>
                      <a:srgbClr val="F6F6FA"/>
                    </a:solidFill>
                  </a:tcPr>
                </a:tc>
                <a:tc>
                  <a:txBody>
                    <a:bodyPr/>
                    <a:lstStyle/>
                    <a:p>
                      <a:r>
                        <a:rPr sz="1000" b="0">
                          <a:solidFill>
                            <a:srgbClr val="1A1A24"/>
                          </a:solidFill>
                          <a:latin typeface="Aptos"/>
                        </a:rPr>
                        <a:t>21.95%</a:t>
                      </a:r>
                    </a:p>
                  </a:txBody>
                  <a:tcPr marL="82296" marR="82296" marT="36576" marB="27432">
                    <a:solidFill>
                      <a:srgbClr val="F6F6FA"/>
                    </a:solidFill>
                  </a:tcPr>
                </a:tc>
                <a:tc>
                  <a:txBody>
                    <a:bodyPr/>
                    <a:lstStyle/>
                    <a:p>
                      <a:r>
                        <a:rPr sz="1000" b="0">
                          <a:solidFill>
                            <a:srgbClr val="1A1A24"/>
                          </a:solidFill>
                          <a:latin typeface="Aptos"/>
                        </a:rPr>
                        <a:t>62.20%</a:t>
                      </a:r>
                    </a:p>
                  </a:txBody>
                  <a:tcPr marL="82296" marR="82296" marT="36576" marB="27432">
                    <a:solidFill>
                      <a:srgbClr val="F6F6FA"/>
                    </a:solidFill>
                  </a:tcPr>
                </a:tc>
                <a:tc>
                  <a:txBody>
                    <a:bodyPr/>
                    <a:lstStyle/>
                    <a:p>
                      <a:r>
                        <a:rPr sz="1000" b="0">
                          <a:solidFill>
                            <a:srgbClr val="1A1A24"/>
                          </a:solidFill>
                          <a:latin typeface="Aptos"/>
                        </a:rPr>
                        <a:t>Yes - new shipment file</a:t>
                      </a:r>
                    </a:p>
                  </a:txBody>
                  <a:tcPr marL="82296" marR="82296" marT="36576" marB="27432">
                    <a:solidFill>
                      <a:srgbClr val="F6F6FA"/>
                    </a:solidFill>
                  </a:tcPr>
                </a:tc>
                <a:tc>
                  <a:txBody>
                    <a:bodyPr/>
                    <a:lstStyle/>
                    <a:p>
                      <a:r>
                        <a:rPr sz="1000" b="1">
                          <a:solidFill>
                            <a:srgbClr val="4CAF50"/>
                          </a:solidFill>
                          <a:latin typeface="Aptos"/>
                        </a:rPr>
                        <a:t>Measured</a:t>
                      </a:r>
                    </a:p>
                  </a:txBody>
                  <a:tcPr marL="82296" marR="82296" marT="36576" marB="27432">
                    <a:solidFill>
                      <a:srgbClr val="F6F6FA"/>
                    </a:solidFill>
                  </a:tcPr>
                </a:tc>
              </a:tr>
              <a:tr h="384048">
                <a:tc>
                  <a:txBody>
                    <a:bodyPr/>
                    <a:lstStyle/>
                    <a:p>
                      <a:r>
                        <a:rPr sz="1000" b="0">
                          <a:solidFill>
                            <a:srgbClr val="1A1A24"/>
                          </a:solidFill>
                          <a:latin typeface="Aptos"/>
                        </a:rPr>
                        <a:t>Inventory accuracy</a:t>
                      </a:r>
                    </a:p>
                  </a:txBody>
                  <a:tcPr marL="82296" marR="82296" marT="36576" marB="27432">
                    <a:solidFill>
                      <a:srgbClr val="FFFFFF"/>
                    </a:solidFill>
                  </a:tcPr>
                </a:tc>
                <a:tc>
                  <a:txBody>
                    <a:bodyPr/>
                    <a:lstStyle/>
                    <a:p>
                      <a:r>
                        <a:rPr sz="1000" b="0">
                          <a:solidFill>
                            <a:srgbClr val="1A1A24"/>
                          </a:solidFill>
                          <a:latin typeface="Aptos"/>
                        </a:rPr>
                        <a:t>21.13%</a:t>
                      </a:r>
                    </a:p>
                  </a:txBody>
                  <a:tcPr marL="82296" marR="82296" marT="36576" marB="27432">
                    <a:solidFill>
                      <a:srgbClr val="FFFFFF"/>
                    </a:solidFill>
                  </a:tcPr>
                </a:tc>
                <a:tc>
                  <a:txBody>
                    <a:bodyPr/>
                    <a:lstStyle/>
                    <a:p>
                      <a:r>
                        <a:rPr sz="1000" b="0">
                          <a:solidFill>
                            <a:srgbClr val="1A1A24"/>
                          </a:solidFill>
                          <a:latin typeface="Aptos"/>
                        </a:rPr>
                        <a:t>0.21%</a:t>
                      </a:r>
                    </a:p>
                  </a:txBody>
                  <a:tcPr marL="82296" marR="82296" marT="36576" marB="27432">
                    <a:solidFill>
                      <a:srgbClr val="FFFFFF"/>
                    </a:solidFill>
                  </a:tcPr>
                </a:tc>
                <a:tc>
                  <a:txBody>
                    <a:bodyPr/>
                    <a:lstStyle/>
                    <a:p>
                      <a:r>
                        <a:rPr sz="1000" b="0">
                          <a:solidFill>
                            <a:srgbClr val="1A1A24"/>
                          </a:solidFill>
                          <a:latin typeface="Aptos"/>
                        </a:rPr>
                        <a:t>No - same inventory file</a:t>
                      </a:r>
                    </a:p>
                  </a:txBody>
                  <a:tcPr marL="82296" marR="82296" marT="36576" marB="27432">
                    <a:solidFill>
                      <a:srgbClr val="FFFFFF"/>
                    </a:solidFill>
                  </a:tcPr>
                </a:tc>
                <a:tc>
                  <a:txBody>
                    <a:bodyPr/>
                    <a:lstStyle/>
                    <a:p>
                      <a:r>
                        <a:rPr sz="1000" b="1">
                          <a:solidFill>
                            <a:srgbClr val="D32F2F"/>
                          </a:solidFill>
                          <a:latin typeface="Aptos"/>
                        </a:rPr>
                        <a:t>Unit defect</a:t>
                      </a:r>
                    </a:p>
                  </a:txBody>
                  <a:tcPr marL="82296" marR="82296" marT="36576" marB="27432">
                    <a:solidFill>
                      <a:srgbClr val="FFFFFF"/>
                    </a:solidFill>
                  </a:tcPr>
                </a:tc>
              </a:tr>
              <a:tr h="384048">
                <a:tc>
                  <a:txBody>
                    <a:bodyPr/>
                    <a:lstStyle/>
                    <a:p>
                      <a:r>
                        <a:rPr sz="1000" b="0">
                          <a:solidFill>
                            <a:srgbClr val="1A1A24"/>
                          </a:solidFill>
                          <a:latin typeface="Aptos"/>
                        </a:rPr>
                        <a:t>False availability rate</a:t>
                      </a:r>
                    </a:p>
                  </a:txBody>
                  <a:tcPr marL="82296" marR="82296" marT="36576" marB="27432">
                    <a:solidFill>
                      <a:srgbClr val="F6F6FA"/>
                    </a:solidFill>
                  </a:tcPr>
                </a:tc>
                <a:tc>
                  <a:txBody>
                    <a:bodyPr/>
                    <a:lstStyle/>
                    <a:p>
                      <a:r>
                        <a:rPr sz="1000" b="0">
                          <a:solidFill>
                            <a:srgbClr val="1A1A24"/>
                          </a:solidFill>
                          <a:latin typeface="Aptos"/>
                        </a:rPr>
                        <a:t>4.92%</a:t>
                      </a:r>
                    </a:p>
                  </a:txBody>
                  <a:tcPr marL="82296" marR="82296" marT="36576" marB="27432">
                    <a:solidFill>
                      <a:srgbClr val="F6F6FA"/>
                    </a:solidFill>
                  </a:tcPr>
                </a:tc>
                <a:tc>
                  <a:txBody>
                    <a:bodyPr/>
                    <a:lstStyle/>
                    <a:p>
                      <a:r>
                        <a:rPr sz="1000" b="0">
                          <a:solidFill>
                            <a:srgbClr val="1A1A24"/>
                          </a:solidFill>
                          <a:latin typeface="Aptos"/>
                        </a:rPr>
                        <a:t>0.05%</a:t>
                      </a:r>
                    </a:p>
                  </a:txBody>
                  <a:tcPr marL="82296" marR="82296" marT="36576" marB="27432">
                    <a:solidFill>
                      <a:srgbClr val="F6F6FA"/>
                    </a:solidFill>
                  </a:tcPr>
                </a:tc>
                <a:tc>
                  <a:txBody>
                    <a:bodyPr/>
                    <a:lstStyle/>
                    <a:p>
                      <a:r>
                        <a:rPr sz="1000" b="0">
                          <a:solidFill>
                            <a:srgbClr val="1A1A24"/>
                          </a:solidFill>
                          <a:latin typeface="Aptos"/>
                        </a:rPr>
                        <a:t>No - same robots file</a:t>
                      </a:r>
                    </a:p>
                  </a:txBody>
                  <a:tcPr marL="82296" marR="82296" marT="36576" marB="27432">
                    <a:solidFill>
                      <a:srgbClr val="F6F6FA"/>
                    </a:solidFill>
                  </a:tcPr>
                </a:tc>
                <a:tc>
                  <a:txBody>
                    <a:bodyPr/>
                    <a:lstStyle/>
                    <a:p>
                      <a:r>
                        <a:rPr sz="1000" b="1">
                          <a:solidFill>
                            <a:srgbClr val="D32F2F"/>
                          </a:solidFill>
                          <a:latin typeface="Aptos"/>
                        </a:rPr>
                        <a:t>Unit defect</a:t>
                      </a:r>
                    </a:p>
                  </a:txBody>
                  <a:tcPr marL="82296" marR="82296" marT="36576" marB="27432">
                    <a:solidFill>
                      <a:srgbClr val="F6F6FA"/>
                    </a:solidFill>
                  </a:tcPr>
                </a:tc>
              </a:tr>
              <a:tr h="384048">
                <a:tc>
                  <a:txBody>
                    <a:bodyPr/>
                    <a:lstStyle/>
                    <a:p>
                      <a:r>
                        <a:rPr sz="1000" b="0">
                          <a:solidFill>
                            <a:srgbClr val="1A1A24"/>
                          </a:solidFill>
                          <a:latin typeface="Aptos"/>
                        </a:rPr>
                        <a:t>Human interventions / 1,000</a:t>
                      </a:r>
                    </a:p>
                  </a:txBody>
                  <a:tcPr marL="82296" marR="82296" marT="36576" marB="27432">
                    <a:solidFill>
                      <a:srgbClr val="FFFFFF"/>
                    </a:solidFill>
                  </a:tcPr>
                </a:tc>
                <a:tc>
                  <a:txBody>
                    <a:bodyPr/>
                    <a:lstStyle/>
                    <a:p>
                      <a:r>
                        <a:rPr sz="1000" b="0">
                          <a:solidFill>
                            <a:srgbClr val="1A1A24"/>
                          </a:solidFill>
                          <a:latin typeface="Aptos"/>
                        </a:rPr>
                        <a:t>363.15</a:t>
                      </a:r>
                    </a:p>
                  </a:txBody>
                  <a:tcPr marL="82296" marR="82296" marT="36576" marB="27432">
                    <a:solidFill>
                      <a:srgbClr val="FFFFFF"/>
                    </a:solidFill>
                  </a:tcPr>
                </a:tc>
                <a:tc>
                  <a:txBody>
                    <a:bodyPr/>
                    <a:lstStyle/>
                    <a:p>
                      <a:r>
                        <a:rPr sz="1000" b="0">
                          <a:solidFill>
                            <a:srgbClr val="1A1A24"/>
                          </a:solidFill>
                          <a:latin typeface="Aptos"/>
                        </a:rPr>
                        <a:t>363.15</a:t>
                      </a:r>
                    </a:p>
                  </a:txBody>
                  <a:tcPr marL="82296" marR="82296" marT="36576" marB="27432">
                    <a:solidFill>
                      <a:srgbClr val="FFFFFF"/>
                    </a:solidFill>
                  </a:tcPr>
                </a:tc>
                <a:tc>
                  <a:txBody>
                    <a:bodyPr/>
                    <a:lstStyle/>
                    <a:p>
                      <a:r>
                        <a:rPr sz="1000" b="0">
                          <a:solidFill>
                            <a:srgbClr val="1A1A24"/>
                          </a:solidFill>
                          <a:latin typeface="Aptos"/>
                        </a:rPr>
                        <a:t>No - same tasks file</a:t>
                      </a:r>
                    </a:p>
                  </a:txBody>
                  <a:tcPr marL="82296" marR="82296" marT="36576" marB="27432">
                    <a:solidFill>
                      <a:srgbClr val="FFFFFF"/>
                    </a:solidFill>
                  </a:tcPr>
                </a:tc>
                <a:tc>
                  <a:txBody>
                    <a:bodyPr/>
                    <a:lstStyle/>
                    <a:p>
                      <a:r>
                        <a:rPr sz="1000" b="1">
                          <a:solidFill>
                            <a:srgbClr val="747480"/>
                          </a:solidFill>
                          <a:latin typeface="Aptos"/>
                        </a:rPr>
                        <a:t>Unchanged</a:t>
                      </a:r>
                    </a:p>
                  </a:txBody>
                  <a:tcPr marL="82296" marR="82296" marT="36576" marB="27432">
                    <a:solidFill>
                      <a:srgbClr val="FFFFFF"/>
                    </a:solidFill>
                  </a:tcPr>
                </a:tc>
              </a:tr>
            </a:tbl>
          </a:graphicData>
        </a:graphic>
      </p:graphicFrame>
      <p:sp>
        <p:nvSpPr>
          <p:cNvPr id="19" name="Rounded Rectangle 18"/>
          <p:cNvSpPr/>
          <p:nvPr/>
        </p:nvSpPr>
        <p:spPr>
          <a:xfrm>
            <a:off x="438912" y="5138928"/>
            <a:ext cx="5532120" cy="914400"/>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8912" y="5138928"/>
            <a:ext cx="64008" cy="914400"/>
          </a:xfrm>
          <a:prstGeom prst="rect">
            <a:avLst/>
          </a:prstGeom>
          <a:solidFill>
            <a:srgbClr val="D3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5257800"/>
            <a:ext cx="5184648" cy="694944"/>
          </a:xfrm>
          <a:prstGeom prst="rect">
            <a:avLst/>
          </a:prstGeom>
          <a:noFill/>
        </p:spPr>
        <p:txBody>
          <a:bodyPr wrap="square" lIns="0" rIns="0">
            <a:spAutoFit/>
          </a:bodyPr>
          <a:lstStyle/>
          <a:p>
            <a:r>
              <a:rPr sz="1300" b="1">
                <a:solidFill>
                  <a:srgbClr val="D32F2F"/>
                </a:solidFill>
                <a:latin typeface="Aptos"/>
              </a:rPr>
              <a:t>Why three KPIs are shown as controls, not gains</a:t>
            </a:r>
          </a:p>
          <a:p>
            <a:pPr>
              <a:spcBef>
                <a:spcPts val="600"/>
              </a:spcBef>
            </a:pPr>
            <a:r>
              <a:rPr sz="950" b="0">
                <a:solidFill>
                  <a:srgbClr val="FFFFFF"/>
                </a:solidFill>
                <a:latin typeface="Aptos"/>
              </a:rPr>
              <a:t>Their source files are identical across both runs, so the value cannot move.</a:t>
            </a:r>
          </a:p>
          <a:p>
            <a:pPr>
              <a:spcBef>
                <a:spcPts val="600"/>
              </a:spcBef>
            </a:pPr>
            <a:r>
              <a:rPr sz="950" b="0">
                <a:solidFill>
                  <a:srgbClr val="FFFFFF"/>
                </a:solidFill>
                <a:latin typeface="Aptos"/>
              </a:rPr>
              <a:t>Inventory accuracy and false availability are reported at exactly one hundredth of the current value - a ratio labelled as a percent. Fix the unit at source.</a:t>
            </a:r>
          </a:p>
        </p:txBody>
      </p:sp>
      <p:sp>
        <p:nvSpPr>
          <p:cNvPr id="22" name="Rounded Rectangle 21"/>
          <p:cNvSpPr/>
          <p:nvPr/>
        </p:nvSpPr>
        <p:spPr>
          <a:xfrm>
            <a:off x="6217920" y="5138928"/>
            <a:ext cx="5532120" cy="914400"/>
          </a:xfrm>
          <a:prstGeom prst="roundRect">
            <a:avLst/>
          </a:prstGeom>
          <a:solidFill>
            <a:srgbClr val="2E2E38"/>
          </a:solidFill>
          <a:ln>
            <a:solidFill>
              <a:srgbClr val="2E2E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5138928"/>
            <a:ext cx="64008" cy="9144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5257800"/>
            <a:ext cx="5184648" cy="694944"/>
          </a:xfrm>
          <a:prstGeom prst="rect">
            <a:avLst/>
          </a:prstGeom>
          <a:noFill/>
        </p:spPr>
        <p:txBody>
          <a:bodyPr wrap="square" lIns="0" rIns="0">
            <a:spAutoFit/>
          </a:bodyPr>
          <a:lstStyle/>
          <a:p>
            <a:r>
              <a:rPr sz="1300" b="1">
                <a:solidFill>
                  <a:srgbClr val="4CAF50"/>
                </a:solidFill>
                <a:latin typeface="Aptos"/>
              </a:rPr>
              <a:t>What can be claimed without qualification</a:t>
            </a:r>
          </a:p>
          <a:p>
            <a:pPr>
              <a:spcBef>
                <a:spcPts val="600"/>
              </a:spcBef>
            </a:pPr>
            <a:r>
              <a:rPr sz="950" b="0">
                <a:solidFill>
                  <a:srgbClr val="FFFFFF"/>
                </a:solidFill>
                <a:latin typeface="Aptos"/>
              </a:rPr>
              <a:t>The current baseline was independently recomputed and matches exactly.</a:t>
            </a:r>
          </a:p>
          <a:p>
            <a:pPr>
              <a:spcBef>
                <a:spcPts val="600"/>
              </a:spcBef>
            </a:pPr>
            <a:r>
              <a:rPr sz="950" b="0">
                <a:solidFill>
                  <a:srgbClr val="FFFFFF"/>
                </a:solidFill>
                <a:latin typeface="Aptos"/>
              </a:rPr>
              <a:t>On the evidence supplied, the V3 dataset is 3.30 hours faster with a 40.25 point higher on-time rate. The three controls are implemented and testable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56248"/>
            <a:ext cx="12191695" cy="301752"/>
          </a:xfrm>
          <a:prstGeom prst="rect">
            <a:avLst/>
          </a:prstGeom>
          <a:solidFill>
            <a:srgbClr val="2E2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 y="6592824"/>
            <a:ext cx="10789920" cy="164592"/>
          </a:xfrm>
          <a:prstGeom prst="rect">
            <a:avLst/>
          </a:prstGeom>
          <a:noFill/>
        </p:spPr>
        <p:txBody>
          <a:bodyPr wrap="none">
            <a:spAutoFit/>
          </a:bodyPr>
          <a:lstStyle/>
          <a:p>
            <a:r>
              <a:rPr sz="900" b="0">
                <a:solidFill>
                  <a:srgbClr val="C4C4CD"/>
                </a:solidFill>
                <a:latin typeface="Aptos"/>
              </a:rPr>
              <a:t>DockSight · Repo3 / V3 Solution Deck · Engagement in Numbers</a:t>
            </a:r>
          </a:p>
        </p:txBody>
      </p:sp>
      <p:sp>
        <p:nvSpPr>
          <p:cNvPr id="6" name="TextBox 5"/>
          <p:cNvSpPr txBox="1"/>
          <p:nvPr/>
        </p:nvSpPr>
        <p:spPr>
          <a:xfrm>
            <a:off x="11247120" y="6574536"/>
            <a:ext cx="548640" cy="201168"/>
          </a:xfrm>
          <a:prstGeom prst="rect">
            <a:avLst/>
          </a:prstGeom>
          <a:noFill/>
        </p:spPr>
        <p:txBody>
          <a:bodyPr wrap="none">
            <a:spAutoFit/>
          </a:bodyPr>
          <a:lstStyle/>
          <a:p>
            <a:pPr algn="r"/>
            <a:r>
              <a:rPr sz="1000" b="1">
                <a:solidFill>
                  <a:srgbClr val="FFE600"/>
                </a:solidFill>
                <a:latin typeface="Aptos"/>
              </a:rPr>
              <a:t>17</a:t>
            </a:r>
          </a:p>
        </p:txBody>
      </p:sp>
      <p:sp>
        <p:nvSpPr>
          <p:cNvPr id="7" name="TextBox 6"/>
          <p:cNvSpPr txBox="1"/>
          <p:nvPr/>
        </p:nvSpPr>
        <p:spPr>
          <a:xfrm>
            <a:off x="438912" y="192024"/>
            <a:ext cx="10881360" cy="237744"/>
          </a:xfrm>
          <a:prstGeom prst="rect">
            <a:avLst/>
          </a:prstGeom>
          <a:noFill/>
        </p:spPr>
        <p:txBody>
          <a:bodyPr wrap="none">
            <a:spAutoFit/>
          </a:bodyPr>
          <a:lstStyle/>
          <a:p>
            <a:r>
              <a:rPr sz="1000" b="1">
                <a:solidFill>
                  <a:srgbClr val="FFE600"/>
                </a:solidFill>
                <a:latin typeface="Aptos"/>
              </a:rPr>
              <a:t>ENGAGEMENT IN NUMBERS</a:t>
            </a:r>
          </a:p>
        </p:txBody>
      </p:sp>
      <p:sp>
        <p:nvSpPr>
          <p:cNvPr id="8" name="TextBox 7"/>
          <p:cNvSpPr txBox="1"/>
          <p:nvPr/>
        </p:nvSpPr>
        <p:spPr>
          <a:xfrm>
            <a:off x="438912" y="466344"/>
            <a:ext cx="11201400" cy="530352"/>
          </a:xfrm>
          <a:prstGeom prst="rect">
            <a:avLst/>
          </a:prstGeom>
          <a:noFill/>
        </p:spPr>
        <p:txBody>
          <a:bodyPr wrap="square">
            <a:spAutoFit/>
          </a:bodyPr>
          <a:lstStyle/>
          <a:p>
            <a:r>
              <a:rPr sz="2700" b="1">
                <a:solidFill>
                  <a:srgbClr val="FFFFFF"/>
                </a:solidFill>
                <a:latin typeface="Aptos"/>
              </a:rPr>
              <a:t>One 21-step FDE spine, 70 artifacts, one working product</a:t>
            </a:r>
          </a:p>
        </p:txBody>
      </p:sp>
      <p:sp>
        <p:nvSpPr>
          <p:cNvPr id="9" name="Rounded Rectangle 8"/>
          <p:cNvSpPr/>
          <p:nvPr/>
        </p:nvSpPr>
        <p:spPr>
          <a:xfrm>
            <a:off x="438912" y="1335024"/>
            <a:ext cx="2203704" cy="950976"/>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408176"/>
            <a:ext cx="2020824" cy="475488"/>
          </a:xfrm>
          <a:prstGeom prst="rect">
            <a:avLst/>
          </a:prstGeom>
          <a:noFill/>
        </p:spPr>
        <p:txBody>
          <a:bodyPr wrap="none" lIns="0" tIns="0">
            <a:spAutoFit/>
          </a:bodyPr>
          <a:lstStyle/>
          <a:p>
            <a:pPr algn="ctr"/>
            <a:r>
              <a:rPr sz="3000" b="1">
                <a:solidFill>
                  <a:srgbClr val="FFE600"/>
                </a:solidFill>
                <a:latin typeface="Aptos"/>
              </a:rPr>
              <a:t>70</a:t>
            </a:r>
          </a:p>
        </p:txBody>
      </p:sp>
      <p:sp>
        <p:nvSpPr>
          <p:cNvPr id="11" name="TextBox 10"/>
          <p:cNvSpPr txBox="1"/>
          <p:nvPr/>
        </p:nvSpPr>
        <p:spPr>
          <a:xfrm>
            <a:off x="530352" y="1901952"/>
            <a:ext cx="2020824" cy="310896"/>
          </a:xfrm>
          <a:prstGeom prst="rect">
            <a:avLst/>
          </a:prstGeom>
          <a:noFill/>
        </p:spPr>
        <p:txBody>
          <a:bodyPr wrap="square" lIns="0" tIns="0">
            <a:spAutoFit/>
          </a:bodyPr>
          <a:lstStyle/>
          <a:p>
            <a:pPr algn="ctr"/>
            <a:r>
              <a:rPr sz="900" b="0">
                <a:solidFill>
                  <a:srgbClr val="C4C4CD"/>
                </a:solidFill>
                <a:latin typeface="Aptos"/>
              </a:rPr>
              <a:t>FDE artifacts created</a:t>
            </a:r>
          </a:p>
        </p:txBody>
      </p:sp>
      <p:sp>
        <p:nvSpPr>
          <p:cNvPr id="12" name="Rounded Rectangle 11"/>
          <p:cNvSpPr/>
          <p:nvPr/>
        </p:nvSpPr>
        <p:spPr>
          <a:xfrm>
            <a:off x="2715768" y="1335024"/>
            <a:ext cx="2203704" cy="950976"/>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7208" y="1408176"/>
            <a:ext cx="2020824" cy="475488"/>
          </a:xfrm>
          <a:prstGeom prst="rect">
            <a:avLst/>
          </a:prstGeom>
          <a:noFill/>
        </p:spPr>
        <p:txBody>
          <a:bodyPr wrap="none" lIns="0" tIns="0">
            <a:spAutoFit/>
          </a:bodyPr>
          <a:lstStyle/>
          <a:p>
            <a:pPr algn="ctr"/>
            <a:r>
              <a:rPr sz="3000" b="1">
                <a:solidFill>
                  <a:srgbClr val="FFE600"/>
                </a:solidFill>
                <a:latin typeface="Aptos"/>
              </a:rPr>
              <a:t>21</a:t>
            </a:r>
          </a:p>
        </p:txBody>
      </p:sp>
      <p:sp>
        <p:nvSpPr>
          <p:cNvPr id="14" name="TextBox 13"/>
          <p:cNvSpPr txBox="1"/>
          <p:nvPr/>
        </p:nvSpPr>
        <p:spPr>
          <a:xfrm>
            <a:off x="2807208" y="1901952"/>
            <a:ext cx="2020824" cy="310896"/>
          </a:xfrm>
          <a:prstGeom prst="rect">
            <a:avLst/>
          </a:prstGeom>
          <a:noFill/>
        </p:spPr>
        <p:txBody>
          <a:bodyPr wrap="square" lIns="0" tIns="0">
            <a:spAutoFit/>
          </a:bodyPr>
          <a:lstStyle/>
          <a:p>
            <a:pPr algn="ctr"/>
            <a:r>
              <a:rPr sz="900" b="0">
                <a:solidFill>
                  <a:srgbClr val="C4C4CD"/>
                </a:solidFill>
                <a:latin typeface="Aptos"/>
              </a:rPr>
              <a:t>operating-model workflows followed</a:t>
            </a:r>
          </a:p>
        </p:txBody>
      </p:sp>
      <p:sp>
        <p:nvSpPr>
          <p:cNvPr id="15" name="Rounded Rectangle 14"/>
          <p:cNvSpPr/>
          <p:nvPr/>
        </p:nvSpPr>
        <p:spPr>
          <a:xfrm>
            <a:off x="4992624" y="1335024"/>
            <a:ext cx="2203704" cy="950976"/>
          </a:xfrm>
          <a:prstGeom prst="roundRect">
            <a:avLst/>
          </a:prstGeom>
          <a:solidFill>
            <a:srgbClr val="2E2E38"/>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84064" y="1408176"/>
            <a:ext cx="2020824" cy="475488"/>
          </a:xfrm>
          <a:prstGeom prst="rect">
            <a:avLst/>
          </a:prstGeom>
          <a:noFill/>
        </p:spPr>
        <p:txBody>
          <a:bodyPr wrap="none" lIns="0" tIns="0">
            <a:spAutoFit/>
          </a:bodyPr>
          <a:lstStyle/>
          <a:p>
            <a:pPr algn="ctr"/>
            <a:r>
              <a:rPr sz="3000" b="1">
                <a:solidFill>
                  <a:srgbClr val="4CAF50"/>
                </a:solidFill>
                <a:latin typeface="Aptos"/>
              </a:rPr>
              <a:t>8</a:t>
            </a:r>
          </a:p>
        </p:txBody>
      </p:sp>
      <p:sp>
        <p:nvSpPr>
          <p:cNvPr id="17" name="TextBox 16"/>
          <p:cNvSpPr txBox="1"/>
          <p:nvPr/>
        </p:nvSpPr>
        <p:spPr>
          <a:xfrm>
            <a:off x="5084064" y="1901952"/>
            <a:ext cx="2020824" cy="310896"/>
          </a:xfrm>
          <a:prstGeom prst="rect">
            <a:avLst/>
          </a:prstGeom>
          <a:noFill/>
        </p:spPr>
        <p:txBody>
          <a:bodyPr wrap="square" lIns="0" tIns="0">
            <a:spAutoFit/>
          </a:bodyPr>
          <a:lstStyle/>
          <a:p>
            <a:pPr algn="ctr"/>
            <a:r>
              <a:rPr sz="900" b="0">
                <a:solidFill>
                  <a:srgbClr val="C4C4CD"/>
                </a:solidFill>
                <a:latin typeface="Aptos"/>
              </a:rPr>
              <a:t>architecture decisions on record</a:t>
            </a:r>
          </a:p>
        </p:txBody>
      </p:sp>
      <p:sp>
        <p:nvSpPr>
          <p:cNvPr id="18" name="Rounded Rectangle 17"/>
          <p:cNvSpPr/>
          <p:nvPr/>
        </p:nvSpPr>
        <p:spPr>
          <a:xfrm>
            <a:off x="7269480" y="1335024"/>
            <a:ext cx="2203704" cy="950976"/>
          </a:xfrm>
          <a:prstGeom prst="roundRect">
            <a:avLst/>
          </a:prstGeom>
          <a:solidFill>
            <a:srgbClr val="2E2E38"/>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0920" y="1408176"/>
            <a:ext cx="2020824" cy="475488"/>
          </a:xfrm>
          <a:prstGeom prst="rect">
            <a:avLst/>
          </a:prstGeom>
          <a:noFill/>
        </p:spPr>
        <p:txBody>
          <a:bodyPr wrap="none" lIns="0" tIns="0">
            <a:spAutoFit/>
          </a:bodyPr>
          <a:lstStyle/>
          <a:p>
            <a:pPr algn="ctr"/>
            <a:r>
              <a:rPr sz="3000" b="1">
                <a:solidFill>
                  <a:srgbClr val="4CAF50"/>
                </a:solidFill>
                <a:latin typeface="Aptos"/>
              </a:rPr>
              <a:t>26</a:t>
            </a:r>
          </a:p>
        </p:txBody>
      </p:sp>
      <p:sp>
        <p:nvSpPr>
          <p:cNvPr id="20" name="TextBox 19"/>
          <p:cNvSpPr txBox="1"/>
          <p:nvPr/>
        </p:nvSpPr>
        <p:spPr>
          <a:xfrm>
            <a:off x="7360920" y="1901952"/>
            <a:ext cx="2020824" cy="310896"/>
          </a:xfrm>
          <a:prstGeom prst="rect">
            <a:avLst/>
          </a:prstGeom>
          <a:noFill/>
        </p:spPr>
        <p:txBody>
          <a:bodyPr wrap="square" lIns="0" tIns="0">
            <a:spAutoFit/>
          </a:bodyPr>
          <a:lstStyle/>
          <a:p>
            <a:pPr algn="ctr"/>
            <a:r>
              <a:rPr sz="900" b="0">
                <a:solidFill>
                  <a:srgbClr val="C4C4CD"/>
                </a:solidFill>
                <a:latin typeface="Aptos"/>
              </a:rPr>
              <a:t>invariants defined and tested</a:t>
            </a:r>
          </a:p>
        </p:txBody>
      </p:sp>
      <p:sp>
        <p:nvSpPr>
          <p:cNvPr id="21" name="Rounded Rectangle 20"/>
          <p:cNvSpPr/>
          <p:nvPr/>
        </p:nvSpPr>
        <p:spPr>
          <a:xfrm>
            <a:off x="9546336" y="1335024"/>
            <a:ext cx="2203704" cy="950976"/>
          </a:xfrm>
          <a:prstGeom prst="roundRect">
            <a:avLst/>
          </a:prstGeom>
          <a:solidFill>
            <a:srgbClr val="2E2E38"/>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37776" y="1408176"/>
            <a:ext cx="2020824" cy="475488"/>
          </a:xfrm>
          <a:prstGeom prst="rect">
            <a:avLst/>
          </a:prstGeom>
          <a:noFill/>
        </p:spPr>
        <p:txBody>
          <a:bodyPr wrap="none" lIns="0" tIns="0">
            <a:spAutoFit/>
          </a:bodyPr>
          <a:lstStyle/>
          <a:p>
            <a:pPr algn="ctr"/>
            <a:r>
              <a:rPr sz="3000" b="1">
                <a:solidFill>
                  <a:srgbClr val="FFB300"/>
                </a:solidFill>
                <a:latin typeface="Aptos"/>
              </a:rPr>
              <a:t>10</a:t>
            </a:r>
          </a:p>
        </p:txBody>
      </p:sp>
      <p:sp>
        <p:nvSpPr>
          <p:cNvPr id="23" name="TextBox 22"/>
          <p:cNvSpPr txBox="1"/>
          <p:nvPr/>
        </p:nvSpPr>
        <p:spPr>
          <a:xfrm>
            <a:off x="9637776" y="1901952"/>
            <a:ext cx="2020824" cy="310896"/>
          </a:xfrm>
          <a:prstGeom prst="rect">
            <a:avLst/>
          </a:prstGeom>
          <a:noFill/>
        </p:spPr>
        <p:txBody>
          <a:bodyPr wrap="square" lIns="0" tIns="0">
            <a:spAutoFit/>
          </a:bodyPr>
          <a:lstStyle/>
          <a:p>
            <a:pPr algn="ctr"/>
            <a:r>
              <a:rPr sz="900" b="0">
                <a:solidFill>
                  <a:srgbClr val="C4C4CD"/>
                </a:solidFill>
                <a:latin typeface="Aptos"/>
              </a:rPr>
              <a:t>scripts to rebuild the evidence</a:t>
            </a:r>
          </a:p>
        </p:txBody>
      </p:sp>
      <p:sp>
        <p:nvSpPr>
          <p:cNvPr id="24" name="Rounded Rectangle 23"/>
          <p:cNvSpPr/>
          <p:nvPr/>
        </p:nvSpPr>
        <p:spPr>
          <a:xfrm>
            <a:off x="438912" y="2468880"/>
            <a:ext cx="1801368" cy="914400"/>
          </a:xfrm>
          <a:prstGeom prst="roundRect">
            <a:avLst/>
          </a:prstGeom>
          <a:solidFill>
            <a:srgbClr val="2E2E38"/>
          </a:solidFill>
          <a:ln>
            <a:solidFill>
              <a:srgbClr val="747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 y="2468880"/>
            <a:ext cx="54864" cy="9144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5216" y="2551176"/>
            <a:ext cx="1527048" cy="310896"/>
          </a:xfrm>
          <a:prstGeom prst="rect">
            <a:avLst/>
          </a:prstGeom>
          <a:noFill/>
        </p:spPr>
        <p:txBody>
          <a:bodyPr wrap="none" lIns="0" tIns="0">
            <a:spAutoFit/>
          </a:bodyPr>
          <a:lstStyle/>
          <a:p>
            <a:r>
              <a:rPr sz="1700" b="1">
                <a:solidFill>
                  <a:srgbClr val="FFE600"/>
                </a:solidFill>
                <a:latin typeface="Aptos"/>
              </a:rPr>
              <a:t>2</a:t>
            </a:r>
          </a:p>
        </p:txBody>
      </p:sp>
      <p:sp>
        <p:nvSpPr>
          <p:cNvPr id="27" name="TextBox 26"/>
          <p:cNvSpPr txBox="1"/>
          <p:nvPr/>
        </p:nvSpPr>
        <p:spPr>
          <a:xfrm>
            <a:off x="585216" y="2880360"/>
            <a:ext cx="1527048" cy="438912"/>
          </a:xfrm>
          <a:prstGeom prst="rect">
            <a:avLst/>
          </a:prstGeom>
          <a:noFill/>
        </p:spPr>
        <p:txBody>
          <a:bodyPr wrap="square" lIns="0" tIns="0">
            <a:spAutoFit/>
          </a:bodyPr>
          <a:lstStyle/>
          <a:p>
            <a:r>
              <a:rPr sz="900" b="0">
                <a:solidFill>
                  <a:srgbClr val="C4C4CD"/>
                </a:solidFill>
                <a:latin typeface="Aptos"/>
              </a:rPr>
              <a:t>Charters
engagement + 90-day</a:t>
            </a:r>
          </a:p>
        </p:txBody>
      </p:sp>
      <p:sp>
        <p:nvSpPr>
          <p:cNvPr id="28" name="Rounded Rectangle 27"/>
          <p:cNvSpPr/>
          <p:nvPr/>
        </p:nvSpPr>
        <p:spPr>
          <a:xfrm>
            <a:off x="2340864" y="2468880"/>
            <a:ext cx="1801368" cy="914400"/>
          </a:xfrm>
          <a:prstGeom prst="roundRect">
            <a:avLst/>
          </a:prstGeom>
          <a:solidFill>
            <a:srgbClr val="2E2E38"/>
          </a:solidFill>
          <a:ln>
            <a:solidFill>
              <a:srgbClr val="747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340864" y="2468880"/>
            <a:ext cx="54864" cy="9144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487168" y="2551176"/>
            <a:ext cx="1527048" cy="310896"/>
          </a:xfrm>
          <a:prstGeom prst="rect">
            <a:avLst/>
          </a:prstGeom>
          <a:noFill/>
        </p:spPr>
        <p:txBody>
          <a:bodyPr wrap="none" lIns="0" tIns="0">
            <a:spAutoFit/>
          </a:bodyPr>
          <a:lstStyle/>
          <a:p>
            <a:r>
              <a:rPr sz="1700" b="1">
                <a:solidFill>
                  <a:srgbClr val="FFE600"/>
                </a:solidFill>
                <a:latin typeface="Aptos"/>
              </a:rPr>
              <a:t>1</a:t>
            </a:r>
          </a:p>
        </p:txBody>
      </p:sp>
      <p:sp>
        <p:nvSpPr>
          <p:cNvPr id="31" name="TextBox 30"/>
          <p:cNvSpPr txBox="1"/>
          <p:nvPr/>
        </p:nvSpPr>
        <p:spPr>
          <a:xfrm>
            <a:off x="2487168" y="2880360"/>
            <a:ext cx="1527048" cy="438912"/>
          </a:xfrm>
          <a:prstGeom prst="rect">
            <a:avLst/>
          </a:prstGeom>
          <a:noFill/>
        </p:spPr>
        <p:txBody>
          <a:bodyPr wrap="square" lIns="0" tIns="0">
            <a:spAutoFit/>
          </a:bodyPr>
          <a:lstStyle/>
          <a:p>
            <a:r>
              <a:rPr sz="900" b="0">
                <a:solidFill>
                  <a:srgbClr val="C4C4CD"/>
                </a:solidFill>
                <a:latin typeface="Aptos"/>
              </a:rPr>
              <a:t>PRD
10 FR / 10 NFR</a:t>
            </a:r>
          </a:p>
        </p:txBody>
      </p:sp>
      <p:sp>
        <p:nvSpPr>
          <p:cNvPr id="32" name="Rounded Rectangle 31"/>
          <p:cNvSpPr/>
          <p:nvPr/>
        </p:nvSpPr>
        <p:spPr>
          <a:xfrm>
            <a:off x="4242816" y="2468880"/>
            <a:ext cx="1801368" cy="914400"/>
          </a:xfrm>
          <a:prstGeom prst="roundRect">
            <a:avLst/>
          </a:prstGeom>
          <a:solidFill>
            <a:srgbClr val="2E2E38"/>
          </a:solidFill>
          <a:ln>
            <a:solidFill>
              <a:srgbClr val="747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242816" y="2468880"/>
            <a:ext cx="54864" cy="9144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89120" y="2551176"/>
            <a:ext cx="1527048" cy="310896"/>
          </a:xfrm>
          <a:prstGeom prst="rect">
            <a:avLst/>
          </a:prstGeom>
          <a:noFill/>
        </p:spPr>
        <p:txBody>
          <a:bodyPr wrap="none" lIns="0" tIns="0">
            <a:spAutoFit/>
          </a:bodyPr>
          <a:lstStyle/>
          <a:p>
            <a:r>
              <a:rPr sz="1700" b="1">
                <a:solidFill>
                  <a:srgbClr val="4CAF50"/>
                </a:solidFill>
                <a:latin typeface="Aptos"/>
              </a:rPr>
              <a:t>8</a:t>
            </a:r>
          </a:p>
        </p:txBody>
      </p:sp>
      <p:sp>
        <p:nvSpPr>
          <p:cNvPr id="35" name="TextBox 34"/>
          <p:cNvSpPr txBox="1"/>
          <p:nvPr/>
        </p:nvSpPr>
        <p:spPr>
          <a:xfrm>
            <a:off x="4389120" y="2880360"/>
            <a:ext cx="1527048" cy="438912"/>
          </a:xfrm>
          <a:prstGeom prst="rect">
            <a:avLst/>
          </a:prstGeom>
          <a:noFill/>
        </p:spPr>
        <p:txBody>
          <a:bodyPr wrap="square" lIns="0" tIns="0">
            <a:spAutoFit/>
          </a:bodyPr>
          <a:lstStyle/>
          <a:p>
            <a:r>
              <a:rPr sz="900" b="0">
                <a:solidFill>
                  <a:srgbClr val="C4C4CD"/>
                </a:solidFill>
                <a:latin typeface="Aptos"/>
              </a:rPr>
              <a:t>ADRs
incl. LLM off write path</a:t>
            </a:r>
          </a:p>
        </p:txBody>
      </p:sp>
      <p:sp>
        <p:nvSpPr>
          <p:cNvPr id="36" name="Rounded Rectangle 35"/>
          <p:cNvSpPr/>
          <p:nvPr/>
        </p:nvSpPr>
        <p:spPr>
          <a:xfrm>
            <a:off x="6144768" y="2468880"/>
            <a:ext cx="1801368" cy="914400"/>
          </a:xfrm>
          <a:prstGeom prst="roundRect">
            <a:avLst/>
          </a:prstGeom>
          <a:solidFill>
            <a:srgbClr val="2E2E38"/>
          </a:solidFill>
          <a:ln>
            <a:solidFill>
              <a:srgbClr val="747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44768" y="2468880"/>
            <a:ext cx="54864" cy="9144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91072" y="2551176"/>
            <a:ext cx="1527048" cy="310896"/>
          </a:xfrm>
          <a:prstGeom prst="rect">
            <a:avLst/>
          </a:prstGeom>
          <a:noFill/>
        </p:spPr>
        <p:txBody>
          <a:bodyPr wrap="none" lIns="0" tIns="0">
            <a:spAutoFit/>
          </a:bodyPr>
          <a:lstStyle/>
          <a:p>
            <a:r>
              <a:rPr sz="1700" b="1">
                <a:solidFill>
                  <a:srgbClr val="4CAF50"/>
                </a:solidFill>
                <a:latin typeface="Aptos"/>
              </a:rPr>
              <a:t>2</a:t>
            </a:r>
          </a:p>
        </p:txBody>
      </p:sp>
      <p:sp>
        <p:nvSpPr>
          <p:cNvPr id="39" name="TextBox 38"/>
          <p:cNvSpPr txBox="1"/>
          <p:nvPr/>
        </p:nvSpPr>
        <p:spPr>
          <a:xfrm>
            <a:off x="6291072" y="2880360"/>
            <a:ext cx="1527048" cy="438912"/>
          </a:xfrm>
          <a:prstGeom prst="rect">
            <a:avLst/>
          </a:prstGeom>
          <a:noFill/>
        </p:spPr>
        <p:txBody>
          <a:bodyPr wrap="square" lIns="0" tIns="0">
            <a:spAutoFit/>
          </a:bodyPr>
          <a:lstStyle/>
          <a:p>
            <a:r>
              <a:rPr sz="900" b="0">
                <a:solidFill>
                  <a:srgbClr val="C4C4CD"/>
                </a:solidFill>
                <a:latin typeface="Aptos"/>
              </a:rPr>
              <a:t>Language packs
12 + 14 invariants</a:t>
            </a:r>
          </a:p>
        </p:txBody>
      </p:sp>
      <p:sp>
        <p:nvSpPr>
          <p:cNvPr id="40" name="Rounded Rectangle 39"/>
          <p:cNvSpPr/>
          <p:nvPr/>
        </p:nvSpPr>
        <p:spPr>
          <a:xfrm>
            <a:off x="8046720" y="2468880"/>
            <a:ext cx="1801368" cy="914400"/>
          </a:xfrm>
          <a:prstGeom prst="roundRect">
            <a:avLst/>
          </a:prstGeom>
          <a:solidFill>
            <a:srgbClr val="2E2E38"/>
          </a:solidFill>
          <a:ln>
            <a:solidFill>
              <a:srgbClr val="747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46720" y="2468880"/>
            <a:ext cx="54864" cy="9144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93024" y="2551176"/>
            <a:ext cx="1527048" cy="310896"/>
          </a:xfrm>
          <a:prstGeom prst="rect">
            <a:avLst/>
          </a:prstGeom>
          <a:noFill/>
        </p:spPr>
        <p:txBody>
          <a:bodyPr wrap="none" lIns="0" tIns="0">
            <a:spAutoFit/>
          </a:bodyPr>
          <a:lstStyle/>
          <a:p>
            <a:r>
              <a:rPr sz="1700" b="1">
                <a:solidFill>
                  <a:srgbClr val="FFB300"/>
                </a:solidFill>
                <a:latin typeface="Aptos"/>
              </a:rPr>
              <a:t>15</a:t>
            </a:r>
          </a:p>
        </p:txBody>
      </p:sp>
      <p:sp>
        <p:nvSpPr>
          <p:cNvPr id="43" name="TextBox 42"/>
          <p:cNvSpPr txBox="1"/>
          <p:nvPr/>
        </p:nvSpPr>
        <p:spPr>
          <a:xfrm>
            <a:off x="8193024" y="2880360"/>
            <a:ext cx="1527048" cy="438912"/>
          </a:xfrm>
          <a:prstGeom prst="rect">
            <a:avLst/>
          </a:prstGeom>
          <a:noFill/>
        </p:spPr>
        <p:txBody>
          <a:bodyPr wrap="square" lIns="0" tIns="0">
            <a:spAutoFit/>
          </a:bodyPr>
          <a:lstStyle/>
          <a:p>
            <a:r>
              <a:rPr sz="900" b="0">
                <a:solidFill>
                  <a:srgbClr val="C4C4CD"/>
                </a:solidFill>
                <a:latin typeface="Aptos"/>
              </a:rPr>
              <a:t>Test suites
gates and evals</a:t>
            </a:r>
          </a:p>
        </p:txBody>
      </p:sp>
      <p:sp>
        <p:nvSpPr>
          <p:cNvPr id="44" name="Rounded Rectangle 43"/>
          <p:cNvSpPr/>
          <p:nvPr/>
        </p:nvSpPr>
        <p:spPr>
          <a:xfrm>
            <a:off x="9948672" y="2468880"/>
            <a:ext cx="1801368" cy="914400"/>
          </a:xfrm>
          <a:prstGeom prst="roundRect">
            <a:avLst/>
          </a:prstGeom>
          <a:solidFill>
            <a:srgbClr val="2E2E38"/>
          </a:solidFill>
          <a:ln>
            <a:solidFill>
              <a:srgbClr val="7474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948672" y="2468880"/>
            <a:ext cx="54864" cy="9144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94976" y="2551176"/>
            <a:ext cx="1527048" cy="310896"/>
          </a:xfrm>
          <a:prstGeom prst="rect">
            <a:avLst/>
          </a:prstGeom>
          <a:noFill/>
        </p:spPr>
        <p:txBody>
          <a:bodyPr wrap="none" lIns="0" tIns="0">
            <a:spAutoFit/>
          </a:bodyPr>
          <a:lstStyle/>
          <a:p>
            <a:r>
              <a:rPr sz="1700" b="1">
                <a:solidFill>
                  <a:srgbClr val="FFB300"/>
                </a:solidFill>
                <a:latin typeface="Aptos"/>
              </a:rPr>
              <a:t>3</a:t>
            </a:r>
          </a:p>
        </p:txBody>
      </p:sp>
      <p:sp>
        <p:nvSpPr>
          <p:cNvPr id="47" name="TextBox 46"/>
          <p:cNvSpPr txBox="1"/>
          <p:nvPr/>
        </p:nvSpPr>
        <p:spPr>
          <a:xfrm>
            <a:off x="10094976" y="2880360"/>
            <a:ext cx="1527048" cy="438912"/>
          </a:xfrm>
          <a:prstGeom prst="rect">
            <a:avLst/>
          </a:prstGeom>
          <a:noFill/>
        </p:spPr>
        <p:txBody>
          <a:bodyPr wrap="square" lIns="0" tIns="0">
            <a:spAutoFit/>
          </a:bodyPr>
          <a:lstStyle/>
          <a:p>
            <a:r>
              <a:rPr sz="900" b="0">
                <a:solidFill>
                  <a:srgbClr val="C4C4CD"/>
                </a:solidFill>
                <a:latin typeface="Aptos"/>
              </a:rPr>
              <a:t>Release gates
GO / NO-GO / prohibited</a:t>
            </a:r>
          </a:p>
        </p:txBody>
      </p:sp>
      <p:sp>
        <p:nvSpPr>
          <p:cNvPr id="48" name="Rounded Rectangle 47"/>
          <p:cNvSpPr/>
          <p:nvPr/>
        </p:nvSpPr>
        <p:spPr>
          <a:xfrm>
            <a:off x="438912" y="3584448"/>
            <a:ext cx="3511296" cy="1152144"/>
          </a:xfrm>
          <a:prstGeom prst="roundRect">
            <a:avLst/>
          </a:prstGeom>
          <a:solidFill>
            <a:srgbClr val="2E2E38"/>
          </a:solidFill>
          <a:ln>
            <a:solidFill>
              <a:srgbClr val="FFE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03503" y="3675887"/>
            <a:ext cx="3182112" cy="256032"/>
          </a:xfrm>
          <a:prstGeom prst="rect">
            <a:avLst/>
          </a:prstGeom>
          <a:noFill/>
        </p:spPr>
        <p:txBody>
          <a:bodyPr wrap="none" lIns="0" tIns="0">
            <a:spAutoFit/>
          </a:bodyPr>
          <a:lstStyle/>
          <a:p>
            <a:r>
              <a:rPr sz="1200" b="1">
                <a:solidFill>
                  <a:srgbClr val="FFE600"/>
                </a:solidFill>
                <a:latin typeface="Aptos"/>
              </a:rPr>
              <a:t>V2 - FDE proof</a:t>
            </a:r>
          </a:p>
        </p:txBody>
      </p:sp>
      <p:sp>
        <p:nvSpPr>
          <p:cNvPr id="50" name="TextBox 49"/>
          <p:cNvSpPr txBox="1"/>
          <p:nvPr/>
        </p:nvSpPr>
        <p:spPr>
          <a:xfrm>
            <a:off x="603503" y="3950208"/>
            <a:ext cx="3182112" cy="310896"/>
          </a:xfrm>
          <a:prstGeom prst="rect">
            <a:avLst/>
          </a:prstGeom>
          <a:noFill/>
        </p:spPr>
        <p:txBody>
          <a:bodyPr wrap="none" lIns="0" tIns="0">
            <a:spAutoFit/>
          </a:bodyPr>
          <a:lstStyle/>
          <a:p>
            <a:r>
              <a:rPr sz="1900" b="1">
                <a:solidFill>
                  <a:srgbClr val="FFFFFF"/>
                </a:solidFill>
                <a:latin typeface="Aptos"/>
              </a:rPr>
              <a:t>53 artifacts</a:t>
            </a:r>
          </a:p>
        </p:txBody>
      </p:sp>
      <p:sp>
        <p:nvSpPr>
          <p:cNvPr id="51" name="TextBox 50"/>
          <p:cNvSpPr txBox="1"/>
          <p:nvPr/>
        </p:nvSpPr>
        <p:spPr>
          <a:xfrm>
            <a:off x="603503" y="4279392"/>
            <a:ext cx="3182112" cy="365760"/>
          </a:xfrm>
          <a:prstGeom prst="rect">
            <a:avLst/>
          </a:prstGeom>
          <a:noFill/>
        </p:spPr>
        <p:txBody>
          <a:bodyPr wrap="square" lIns="0" tIns="0">
            <a:spAutoFit/>
          </a:bodyPr>
          <a:lstStyle/>
          <a:p>
            <a:r>
              <a:rPr sz="900" b="0">
                <a:solidFill>
                  <a:srgbClr val="C4C4CD"/>
                </a:solidFill>
                <a:latin typeface="Aptos"/>
              </a:rPr>
              <a:t>Brownfield discovery, domain model, gates, evals. Observe and refuse.</a:t>
            </a:r>
          </a:p>
        </p:txBody>
      </p:sp>
      <p:sp>
        <p:nvSpPr>
          <p:cNvPr id="52" name="Right Arrow 51"/>
          <p:cNvSpPr/>
          <p:nvPr/>
        </p:nvSpPr>
        <p:spPr>
          <a:xfrm>
            <a:off x="4059936" y="4059936"/>
            <a:ext cx="384048" cy="219456"/>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4553712" y="3584448"/>
            <a:ext cx="3511296" cy="1152144"/>
          </a:xfrm>
          <a:prstGeom prst="roundRect">
            <a:avLst/>
          </a:prstGeom>
          <a:solidFill>
            <a:srgbClr val="2E2E38"/>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718304" y="3675887"/>
            <a:ext cx="3182112" cy="256032"/>
          </a:xfrm>
          <a:prstGeom prst="rect">
            <a:avLst/>
          </a:prstGeom>
          <a:noFill/>
        </p:spPr>
        <p:txBody>
          <a:bodyPr wrap="none" lIns="0" tIns="0">
            <a:spAutoFit/>
          </a:bodyPr>
          <a:lstStyle/>
          <a:p>
            <a:r>
              <a:rPr sz="1200" b="1">
                <a:solidFill>
                  <a:srgbClr val="4CAF50"/>
                </a:solidFill>
                <a:latin typeface="Aptos"/>
              </a:rPr>
              <a:t>Repo 3 - working product</a:t>
            </a:r>
          </a:p>
        </p:txBody>
      </p:sp>
      <p:sp>
        <p:nvSpPr>
          <p:cNvPr id="55" name="TextBox 54"/>
          <p:cNvSpPr txBox="1"/>
          <p:nvPr/>
        </p:nvSpPr>
        <p:spPr>
          <a:xfrm>
            <a:off x="4718304" y="3950208"/>
            <a:ext cx="3182112" cy="310896"/>
          </a:xfrm>
          <a:prstGeom prst="rect">
            <a:avLst/>
          </a:prstGeom>
          <a:noFill/>
        </p:spPr>
        <p:txBody>
          <a:bodyPr wrap="none" lIns="0" tIns="0">
            <a:spAutoFit/>
          </a:bodyPr>
          <a:lstStyle/>
          <a:p>
            <a:r>
              <a:rPr sz="1900" b="1">
                <a:solidFill>
                  <a:srgbClr val="FFFFFF"/>
                </a:solidFill>
                <a:latin typeface="Aptos"/>
              </a:rPr>
              <a:t>Local simulator</a:t>
            </a:r>
          </a:p>
        </p:txBody>
      </p:sp>
      <p:sp>
        <p:nvSpPr>
          <p:cNvPr id="56" name="TextBox 55"/>
          <p:cNvSpPr txBox="1"/>
          <p:nvPr/>
        </p:nvSpPr>
        <p:spPr>
          <a:xfrm>
            <a:off x="4718304" y="4279392"/>
            <a:ext cx="3182112" cy="365760"/>
          </a:xfrm>
          <a:prstGeom prst="rect">
            <a:avLst/>
          </a:prstGeom>
          <a:noFill/>
        </p:spPr>
        <p:txBody>
          <a:bodyPr wrap="square" lIns="0" tIns="0">
            <a:spAutoFit/>
          </a:bodyPr>
          <a:lstStyle/>
          <a:p>
            <a:r>
              <a:rPr sz="900" b="0">
                <a:solidFill>
                  <a:srgbClr val="C4C4CD"/>
                </a:solidFill>
                <a:latin typeface="Aptos"/>
              </a:rPr>
              <a:t>Order intake, reservations, task execution, personas, replay.</a:t>
            </a:r>
          </a:p>
        </p:txBody>
      </p:sp>
      <p:sp>
        <p:nvSpPr>
          <p:cNvPr id="57" name="Right Arrow 56"/>
          <p:cNvSpPr/>
          <p:nvPr/>
        </p:nvSpPr>
        <p:spPr>
          <a:xfrm>
            <a:off x="8174736" y="4059936"/>
            <a:ext cx="384048" cy="219456"/>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8668512" y="3584448"/>
            <a:ext cx="3081528" cy="1152144"/>
          </a:xfrm>
          <a:prstGeom prst="roundRect">
            <a:avLst/>
          </a:prstGeom>
          <a:solidFill>
            <a:srgbClr val="2E2E38"/>
          </a:solidFill>
          <a:ln>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33104" y="3675887"/>
            <a:ext cx="2752344" cy="256032"/>
          </a:xfrm>
          <a:prstGeom prst="rect">
            <a:avLst/>
          </a:prstGeom>
          <a:noFill/>
        </p:spPr>
        <p:txBody>
          <a:bodyPr wrap="none" lIns="0" tIns="0">
            <a:spAutoFit/>
          </a:bodyPr>
          <a:lstStyle/>
          <a:p>
            <a:r>
              <a:rPr sz="1200" b="1">
                <a:solidFill>
                  <a:srgbClr val="FFB300"/>
                </a:solidFill>
                <a:latin typeface="Aptos"/>
              </a:rPr>
              <a:t>V3 - evidence pack</a:t>
            </a:r>
          </a:p>
        </p:txBody>
      </p:sp>
      <p:sp>
        <p:nvSpPr>
          <p:cNvPr id="60" name="TextBox 59"/>
          <p:cNvSpPr txBox="1"/>
          <p:nvPr/>
        </p:nvSpPr>
        <p:spPr>
          <a:xfrm>
            <a:off x="8833104" y="3950208"/>
            <a:ext cx="2752344" cy="310896"/>
          </a:xfrm>
          <a:prstGeom prst="rect">
            <a:avLst/>
          </a:prstGeom>
          <a:noFill/>
        </p:spPr>
        <p:txBody>
          <a:bodyPr wrap="none" lIns="0" tIns="0">
            <a:spAutoFit/>
          </a:bodyPr>
          <a:lstStyle/>
          <a:p>
            <a:r>
              <a:rPr sz="1900" b="1">
                <a:solidFill>
                  <a:srgbClr val="FFFFFF"/>
                </a:solidFill>
                <a:latin typeface="Aptos"/>
              </a:rPr>
              <a:t>17 artifacts</a:t>
            </a:r>
          </a:p>
        </p:txBody>
      </p:sp>
      <p:sp>
        <p:nvSpPr>
          <p:cNvPr id="61" name="TextBox 60"/>
          <p:cNvSpPr txBox="1"/>
          <p:nvPr/>
        </p:nvSpPr>
        <p:spPr>
          <a:xfrm>
            <a:off x="8833104" y="4279392"/>
            <a:ext cx="2752344" cy="365760"/>
          </a:xfrm>
          <a:prstGeom prst="rect">
            <a:avLst/>
          </a:prstGeom>
          <a:noFill/>
        </p:spPr>
        <p:txBody>
          <a:bodyPr wrap="square" lIns="0" tIns="0">
            <a:spAutoFit/>
          </a:bodyPr>
          <a:lstStyle/>
          <a:p>
            <a:r>
              <a:rPr sz="900" b="0">
                <a:solidFill>
                  <a:srgbClr val="C4C4CD"/>
                </a:solidFill>
                <a:latin typeface="Aptos"/>
              </a:rPr>
              <a:t>PRD, architecture, traceability, readiness, ADRs.</a:t>
            </a:r>
          </a:p>
        </p:txBody>
      </p:sp>
      <p:sp>
        <p:nvSpPr>
          <p:cNvPr id="62" name="TextBox 61"/>
          <p:cNvSpPr txBox="1"/>
          <p:nvPr/>
        </p:nvSpPr>
        <p:spPr>
          <a:xfrm>
            <a:off x="438912" y="4882896"/>
            <a:ext cx="11311128" cy="219456"/>
          </a:xfrm>
          <a:prstGeom prst="rect">
            <a:avLst/>
          </a:prstGeom>
          <a:noFill/>
        </p:spPr>
        <p:txBody>
          <a:bodyPr wrap="none" lIns="0">
            <a:spAutoFit/>
          </a:bodyPr>
          <a:lstStyle/>
          <a:p>
            <a:r>
              <a:rPr sz="900" b="1">
                <a:solidFill>
                  <a:srgbClr val="747480"/>
                </a:solidFill>
                <a:latin typeface="Aptos"/>
              </a:rPr>
              <a:t>OPERATING-MODEL COVERAGE</a:t>
            </a:r>
          </a:p>
        </p:txBody>
      </p:sp>
      <p:sp>
        <p:nvSpPr>
          <p:cNvPr id="63" name="Rectangle 62"/>
          <p:cNvSpPr/>
          <p:nvPr/>
        </p:nvSpPr>
        <p:spPr>
          <a:xfrm>
            <a:off x="438912" y="5120640"/>
            <a:ext cx="8618002" cy="34747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pPr algn="ctr"/>
            <a:r>
              <a:rPr sz="1000" b="1">
                <a:solidFill>
                  <a:srgbClr val="1A1A24"/>
                </a:solidFill>
                <a:latin typeface="Aptos"/>
              </a:rPr>
              <a:t>OM 1-16 evidenced</a:t>
            </a:r>
          </a:p>
        </p:txBody>
      </p:sp>
      <p:sp>
        <p:nvSpPr>
          <p:cNvPr id="64" name="Rectangle 63"/>
          <p:cNvSpPr/>
          <p:nvPr/>
        </p:nvSpPr>
        <p:spPr>
          <a:xfrm>
            <a:off x="9056914" y="5120640"/>
            <a:ext cx="2693125" cy="347472"/>
          </a:xfrm>
          <a:prstGeom prst="rect">
            <a:avLst/>
          </a:prstGeom>
          <a:solidFill>
            <a:srgbClr val="747480"/>
          </a:solidFill>
          <a:ln>
            <a:noFill/>
          </a:ln>
        </p:spPr>
        <p:style>
          <a:lnRef idx="1">
            <a:schemeClr val="accent1"/>
          </a:lnRef>
          <a:fillRef idx="3">
            <a:schemeClr val="accent1"/>
          </a:fillRef>
          <a:effectRef idx="2">
            <a:schemeClr val="accent1"/>
          </a:effectRef>
          <a:fontRef idx="minor">
            <a:schemeClr val="lt1"/>
          </a:fontRef>
        </p:style>
        <p:txBody>
          <a:bodyPr rtlCol="0" anchor="ctr" lIns="73152"/>
          <a:lstStyle/>
          <a:p>
            <a:pPr algn="ctr"/>
            <a:r>
              <a:rPr sz="1000" b="1">
                <a:solidFill>
                  <a:srgbClr val="1A1A24"/>
                </a:solidFill>
                <a:latin typeface="Aptos"/>
              </a:rPr>
              <a:t>OM 17-21 deferred</a:t>
            </a:r>
          </a:p>
        </p:txBody>
      </p:sp>
      <p:sp>
        <p:nvSpPr>
          <p:cNvPr id="65" name="Rounded Rectangle 64"/>
          <p:cNvSpPr/>
          <p:nvPr/>
        </p:nvSpPr>
        <p:spPr>
          <a:xfrm>
            <a:off x="438912" y="5669280"/>
            <a:ext cx="11311128" cy="475488"/>
          </a:xfrm>
          <a:prstGeom prst="roundRect">
            <a:avLst/>
          </a:prstGeom>
          <a:solidFill>
            <a:srgbClr val="2E2E38"/>
          </a:solidFill>
          <a:ln>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5216" y="5751576"/>
            <a:ext cx="11018520" cy="329184"/>
          </a:xfrm>
          <a:prstGeom prst="rect">
            <a:avLst/>
          </a:prstGeom>
          <a:noFill/>
        </p:spPr>
        <p:txBody>
          <a:bodyPr wrap="square" anchor="ctr" lIns="0">
            <a:spAutoFit/>
          </a:bodyPr>
          <a:lstStyle/>
          <a:p>
            <a:pPr algn="ctr"/>
            <a:r>
              <a:rPr sz="1100" b="0">
                <a:solidFill>
                  <a:srgbClr val="C4C4CD"/>
                </a:solidFill>
                <a:latin typeface="Aptos"/>
              </a:rPr>
              <a:t>Demo-ready on loopback   ·   </a:t>
            </a:r>
            <a:r>
              <a:rPr sz="1100" b="1">
                <a:solidFill>
                  <a:srgbClr val="FFB300"/>
                </a:solidFill>
                <a:latin typeface="Aptos"/>
              </a:rPr>
              <a:t>Production NO-GO</a:t>
            </a:r>
            <a:r>
              <a:rPr sz="1100" b="0">
                <a:solidFill>
                  <a:srgbClr val="C4C4CD"/>
                </a:solidFill>
                <a:latin typeface="Aptos"/>
              </a:rPr>
              <a:t>   ·   </a:t>
            </a:r>
            <a:r>
              <a:rPr sz="1100" b="1">
                <a:solidFill>
                  <a:srgbClr val="FFB300"/>
                </a:solidFill>
                <a:latin typeface="Aptos"/>
              </a:rPr>
              <a:t>Physical control PROHIBITED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